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5"/>
  </p:notesMasterIdLst>
  <p:sldIdLst>
    <p:sldId id="1119" r:id="rId2"/>
    <p:sldId id="286" r:id="rId3"/>
    <p:sldId id="258" r:id="rId4"/>
    <p:sldId id="274" r:id="rId5"/>
    <p:sldId id="275" r:id="rId6"/>
    <p:sldId id="276" r:id="rId7"/>
    <p:sldId id="273" r:id="rId8"/>
    <p:sldId id="277" r:id="rId9"/>
    <p:sldId id="287" r:id="rId10"/>
    <p:sldId id="259" r:id="rId11"/>
    <p:sldId id="260" r:id="rId12"/>
    <p:sldId id="261" r:id="rId13"/>
    <p:sldId id="288" r:id="rId14"/>
    <p:sldId id="291" r:id="rId15"/>
    <p:sldId id="278" r:id="rId16"/>
    <p:sldId id="279" r:id="rId17"/>
    <p:sldId id="283" r:id="rId18"/>
    <p:sldId id="280" r:id="rId19"/>
    <p:sldId id="293" r:id="rId20"/>
    <p:sldId id="281" r:id="rId21"/>
    <p:sldId id="290" r:id="rId22"/>
    <p:sldId id="282" r:id="rId23"/>
    <p:sldId id="289" r:id="rId24"/>
    <p:sldId id="263" r:id="rId25"/>
    <p:sldId id="264" r:id="rId26"/>
    <p:sldId id="265" r:id="rId27"/>
    <p:sldId id="266" r:id="rId28"/>
    <p:sldId id="270" r:id="rId29"/>
    <p:sldId id="305" r:id="rId30"/>
    <p:sldId id="306" r:id="rId31"/>
    <p:sldId id="1520" r:id="rId32"/>
    <p:sldId id="1521" r:id="rId33"/>
    <p:sldId id="308" r:id="rId34"/>
    <p:sldId id="309" r:id="rId35"/>
    <p:sldId id="310" r:id="rId36"/>
    <p:sldId id="311" r:id="rId37"/>
    <p:sldId id="312" r:id="rId38"/>
    <p:sldId id="313" r:id="rId39"/>
    <p:sldId id="1522" r:id="rId40"/>
    <p:sldId id="1523" r:id="rId41"/>
    <p:sldId id="294" r:id="rId42"/>
    <p:sldId id="297" r:id="rId43"/>
    <p:sldId id="1524" r:id="rId44"/>
    <p:sldId id="295" r:id="rId45"/>
    <p:sldId id="298" r:id="rId46"/>
    <p:sldId id="299" r:id="rId47"/>
    <p:sldId id="300" r:id="rId48"/>
    <p:sldId id="296" r:id="rId49"/>
    <p:sldId id="1525" r:id="rId50"/>
    <p:sldId id="304" r:id="rId51"/>
    <p:sldId id="1527" r:id="rId52"/>
    <p:sldId id="1528" r:id="rId53"/>
    <p:sldId id="1529" r:id="rId54"/>
    <p:sldId id="1530" r:id="rId55"/>
    <p:sldId id="1531" r:id="rId56"/>
    <p:sldId id="1532" r:id="rId57"/>
    <p:sldId id="1533" r:id="rId58"/>
    <p:sldId id="1526" r:id="rId59"/>
    <p:sldId id="1534" r:id="rId60"/>
    <p:sldId id="1535" r:id="rId61"/>
    <p:sldId id="1536" r:id="rId62"/>
    <p:sldId id="1537" r:id="rId63"/>
    <p:sldId id="1539" r:id="rId64"/>
    <p:sldId id="1538" r:id="rId65"/>
    <p:sldId id="1542" r:id="rId66"/>
    <p:sldId id="1546" r:id="rId67"/>
    <p:sldId id="1547" r:id="rId68"/>
    <p:sldId id="1548" r:id="rId69"/>
    <p:sldId id="1549" r:id="rId70"/>
    <p:sldId id="1558" r:id="rId71"/>
    <p:sldId id="1550" r:id="rId72"/>
    <p:sldId id="1551" r:id="rId73"/>
    <p:sldId id="1552" r:id="rId74"/>
    <p:sldId id="1553" r:id="rId75"/>
    <p:sldId id="1554" r:id="rId76"/>
    <p:sldId id="1555" r:id="rId77"/>
    <p:sldId id="1556" r:id="rId78"/>
    <p:sldId id="1557" r:id="rId79"/>
    <p:sldId id="1559" r:id="rId80"/>
    <p:sldId id="1583" r:id="rId81"/>
    <p:sldId id="1560" r:id="rId82"/>
    <p:sldId id="1562" r:id="rId83"/>
    <p:sldId id="1563" r:id="rId84"/>
    <p:sldId id="1584" r:id="rId85"/>
    <p:sldId id="1564" r:id="rId86"/>
    <p:sldId id="1565" r:id="rId87"/>
    <p:sldId id="1566" r:id="rId88"/>
    <p:sldId id="1585" r:id="rId89"/>
    <p:sldId id="1587" r:id="rId90"/>
    <p:sldId id="1567" r:id="rId91"/>
    <p:sldId id="1568" r:id="rId92"/>
    <p:sldId id="1569" r:id="rId93"/>
    <p:sldId id="1570" r:id="rId94"/>
    <p:sldId id="1571" r:id="rId95"/>
    <p:sldId id="1572" r:id="rId96"/>
    <p:sldId id="1573" r:id="rId97"/>
    <p:sldId id="1574" r:id="rId98"/>
    <p:sldId id="1575" r:id="rId99"/>
    <p:sldId id="1576" r:id="rId100"/>
    <p:sldId id="1577" r:id="rId101"/>
    <p:sldId id="1578" r:id="rId102"/>
    <p:sldId id="1579" r:id="rId103"/>
    <p:sldId id="1581" r:id="rId104"/>
    <p:sldId id="1580" r:id="rId105"/>
    <p:sldId id="1588" r:id="rId106"/>
    <p:sldId id="1589" r:id="rId107"/>
    <p:sldId id="1590" r:id="rId108"/>
    <p:sldId id="1591" r:id="rId109"/>
    <p:sldId id="1592" r:id="rId110"/>
    <p:sldId id="1593" r:id="rId111"/>
    <p:sldId id="1594" r:id="rId112"/>
    <p:sldId id="1596" r:id="rId113"/>
    <p:sldId id="1595" r:id="rId114"/>
    <p:sldId id="1597" r:id="rId115"/>
    <p:sldId id="1599" r:id="rId116"/>
    <p:sldId id="1598" r:id="rId117"/>
    <p:sldId id="1600" r:id="rId118"/>
    <p:sldId id="1601" r:id="rId119"/>
    <p:sldId id="1602" r:id="rId120"/>
    <p:sldId id="1603" r:id="rId121"/>
    <p:sldId id="1604" r:id="rId122"/>
    <p:sldId id="1605" r:id="rId123"/>
    <p:sldId id="1606" r:id="rId124"/>
    <p:sldId id="1607" r:id="rId125"/>
    <p:sldId id="1608" r:id="rId126"/>
    <p:sldId id="1609" r:id="rId127"/>
    <p:sldId id="1610" r:id="rId128"/>
    <p:sldId id="1611" r:id="rId129"/>
    <p:sldId id="1612" r:id="rId130"/>
    <p:sldId id="1613" r:id="rId131"/>
    <p:sldId id="1614" r:id="rId132"/>
    <p:sldId id="1615" r:id="rId133"/>
    <p:sldId id="301" r:id="rId1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8E7761F-CDA6-4599-8F65-9A379303206D}">
          <p14:sldIdLst>
            <p14:sldId id="1119"/>
            <p14:sldId id="286"/>
            <p14:sldId id="258"/>
            <p14:sldId id="274"/>
            <p14:sldId id="275"/>
            <p14:sldId id="276"/>
            <p14:sldId id="273"/>
            <p14:sldId id="277"/>
            <p14:sldId id="287"/>
            <p14:sldId id="259"/>
            <p14:sldId id="260"/>
            <p14:sldId id="261"/>
            <p14:sldId id="288"/>
            <p14:sldId id="291"/>
            <p14:sldId id="278"/>
            <p14:sldId id="279"/>
            <p14:sldId id="283"/>
            <p14:sldId id="280"/>
            <p14:sldId id="293"/>
            <p14:sldId id="281"/>
            <p14:sldId id="290"/>
          </p14:sldIdLst>
        </p14:section>
        <p14:section name="Untitled Section" id="{2B4253B5-9EE9-48CE-BE75-B7C5B44C6513}">
          <p14:sldIdLst>
            <p14:sldId id="282"/>
            <p14:sldId id="289"/>
            <p14:sldId id="263"/>
            <p14:sldId id="264"/>
            <p14:sldId id="265"/>
            <p14:sldId id="266"/>
            <p14:sldId id="270"/>
            <p14:sldId id="305"/>
            <p14:sldId id="306"/>
            <p14:sldId id="1520"/>
            <p14:sldId id="1521"/>
            <p14:sldId id="308"/>
            <p14:sldId id="309"/>
            <p14:sldId id="310"/>
            <p14:sldId id="311"/>
            <p14:sldId id="312"/>
            <p14:sldId id="313"/>
            <p14:sldId id="1522"/>
            <p14:sldId id="1523"/>
            <p14:sldId id="294"/>
            <p14:sldId id="297"/>
            <p14:sldId id="1524"/>
            <p14:sldId id="295"/>
            <p14:sldId id="298"/>
            <p14:sldId id="299"/>
            <p14:sldId id="300"/>
            <p14:sldId id="296"/>
            <p14:sldId id="1525"/>
            <p14:sldId id="304"/>
            <p14:sldId id="1527"/>
            <p14:sldId id="1528"/>
            <p14:sldId id="1529"/>
            <p14:sldId id="1530"/>
            <p14:sldId id="1531"/>
            <p14:sldId id="1532"/>
            <p14:sldId id="1533"/>
            <p14:sldId id="1526"/>
            <p14:sldId id="1534"/>
            <p14:sldId id="1535"/>
            <p14:sldId id="1536"/>
            <p14:sldId id="1537"/>
            <p14:sldId id="1539"/>
            <p14:sldId id="1538"/>
            <p14:sldId id="1542"/>
            <p14:sldId id="1546"/>
            <p14:sldId id="1547"/>
            <p14:sldId id="1548"/>
            <p14:sldId id="1549"/>
            <p14:sldId id="1558"/>
            <p14:sldId id="1550"/>
            <p14:sldId id="1551"/>
            <p14:sldId id="1552"/>
            <p14:sldId id="1553"/>
            <p14:sldId id="1554"/>
            <p14:sldId id="1555"/>
            <p14:sldId id="1556"/>
            <p14:sldId id="1557"/>
            <p14:sldId id="1559"/>
            <p14:sldId id="1583"/>
            <p14:sldId id="1560"/>
            <p14:sldId id="1562"/>
            <p14:sldId id="1563"/>
            <p14:sldId id="1584"/>
            <p14:sldId id="1564"/>
            <p14:sldId id="1565"/>
            <p14:sldId id="1566"/>
            <p14:sldId id="1585"/>
            <p14:sldId id="1587"/>
            <p14:sldId id="1567"/>
            <p14:sldId id="1568"/>
            <p14:sldId id="1569"/>
            <p14:sldId id="1570"/>
            <p14:sldId id="1571"/>
            <p14:sldId id="1572"/>
            <p14:sldId id="1573"/>
            <p14:sldId id="1574"/>
            <p14:sldId id="1575"/>
            <p14:sldId id="1576"/>
            <p14:sldId id="1577"/>
            <p14:sldId id="1578"/>
            <p14:sldId id="1579"/>
            <p14:sldId id="1581"/>
            <p14:sldId id="1580"/>
            <p14:sldId id="1588"/>
            <p14:sldId id="1589"/>
            <p14:sldId id="1590"/>
            <p14:sldId id="1591"/>
            <p14:sldId id="1592"/>
            <p14:sldId id="1593"/>
            <p14:sldId id="1594"/>
            <p14:sldId id="1596"/>
            <p14:sldId id="1595"/>
            <p14:sldId id="1597"/>
            <p14:sldId id="1599"/>
            <p14:sldId id="1598"/>
            <p14:sldId id="1600"/>
            <p14:sldId id="1601"/>
            <p14:sldId id="1602"/>
            <p14:sldId id="1603"/>
            <p14:sldId id="1604"/>
            <p14:sldId id="1605"/>
            <p14:sldId id="1606"/>
            <p14:sldId id="1607"/>
            <p14:sldId id="1608"/>
            <p14:sldId id="1609"/>
            <p14:sldId id="1610"/>
            <p14:sldId id="1611"/>
            <p14:sldId id="1612"/>
            <p14:sldId id="1613"/>
            <p14:sldId id="1614"/>
            <p14:sldId id="1615"/>
            <p14:sldId id="3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F88"/>
    <a:srgbClr val="004E9A"/>
    <a:srgbClr val="FFD6FF"/>
    <a:srgbClr val="009EDE"/>
    <a:srgbClr val="348E90"/>
    <a:srgbClr val="252525"/>
    <a:srgbClr val="FF6600"/>
    <a:srgbClr val="2CB22F"/>
    <a:srgbClr val="AEFCFC"/>
    <a:srgbClr val="E0C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226" autoAdjust="0"/>
  </p:normalViewPr>
  <p:slideViewPr>
    <p:cSldViewPr snapToGrid="0">
      <p:cViewPr varScale="1">
        <p:scale>
          <a:sx n="102" d="100"/>
          <a:sy n="102" d="100"/>
        </p:scale>
        <p:origin x="12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theme" Target="theme/theme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notesMaster" Target="notesMasters/notesMaster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813B3-6425-4A6D-806E-021B84DD5758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93CE8-3B10-43B2-8860-AFD8154600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557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08434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6" name="Google Shape;1206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65542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caletrix 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2;p3">
            <a:extLst>
              <a:ext uri="{FF2B5EF4-FFF2-40B4-BE49-F238E27FC236}">
                <a16:creationId xmlns:a16="http://schemas.microsoft.com/office/drawing/2014/main" id="{2F306997-3B2B-2B65-053F-A3D89D2F2DA0}"/>
              </a:ext>
            </a:extLst>
          </p:cNvPr>
          <p:cNvSpPr/>
          <p:nvPr userDrawn="1"/>
        </p:nvSpPr>
        <p:spPr>
          <a:xfrm>
            <a:off x="-67" y="0"/>
            <a:ext cx="12192000" cy="63279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AD558F-750C-7F7A-EF36-7477B28E66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5636" b="4250"/>
          <a:stretch/>
        </p:blipFill>
        <p:spPr>
          <a:xfrm flipH="1">
            <a:off x="937527" y="1260005"/>
            <a:ext cx="5091797" cy="44863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1D13BBF-8BF9-58E8-2D48-8C25E8436E1D}"/>
              </a:ext>
            </a:extLst>
          </p:cNvPr>
          <p:cNvSpPr/>
          <p:nvPr userDrawn="1"/>
        </p:nvSpPr>
        <p:spPr>
          <a:xfrm>
            <a:off x="0" y="0"/>
            <a:ext cx="12195029" cy="524801"/>
          </a:xfrm>
          <a:prstGeom prst="rect">
            <a:avLst/>
          </a:prstGeom>
          <a:solidFill>
            <a:srgbClr val="348E9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12" name="Google Shape;37;p60">
            <a:extLst>
              <a:ext uri="{FF2B5EF4-FFF2-40B4-BE49-F238E27FC236}">
                <a16:creationId xmlns:a16="http://schemas.microsoft.com/office/drawing/2014/main" id="{E6481E89-02DE-7518-CF7A-DC982067B7A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279060" y="2107188"/>
            <a:ext cx="545574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18365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 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415600" y="4289085"/>
            <a:ext cx="11428400" cy="125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Raleway" pitchFamily="2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 dirty="0"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9DF37ADA-1D1E-F64E-723D-3F6E9A12009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bg1"/>
                </a:solidFill>
                <a:latin typeface="Raleway" pitchFamily="2" charset="0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313620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aption">
  <p:cSld name="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1081404" y="5270123"/>
            <a:ext cx="79984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3200">
                <a:latin typeface="Raleway" pitchFamily="2" charset="0"/>
                <a:ea typeface="Raleway" pitchFamily="2" charset="0"/>
                <a:cs typeface="Raleway" pitchFamily="2" charset="0"/>
                <a:sym typeface="PT Sans Narrow"/>
              </a:defRPr>
            </a:lvl1pPr>
          </a:lstStyle>
          <a:p>
            <a:endParaRPr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9176E-C771-72C8-F8E5-906AAEAB5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187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One column text" userDrawn="1">
  <p:cSld name="One column 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415600" y="1672836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 dirty="0"/>
          </a:p>
        </p:txBody>
      </p:sp>
      <p:sp>
        <p:nvSpPr>
          <p:cNvPr id="5" name="Google Shape;45;p7">
            <a:extLst>
              <a:ext uri="{FF2B5EF4-FFF2-40B4-BE49-F238E27FC236}">
                <a16:creationId xmlns:a16="http://schemas.microsoft.com/office/drawing/2014/main" id="{482C3779-B2BB-CEE4-3E2C-334B9C6C7D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53AC460-69CA-8F48-E3C8-414742235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013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9630DA-C8F6-4DCB-07B4-8474A714CA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2049463"/>
            <a:ext cx="6172200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23ABE9-772D-629A-0846-B8D8655E4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33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Google Shape;45;p7">
            <a:extLst>
              <a:ext uri="{FF2B5EF4-FFF2-40B4-BE49-F238E27FC236}">
                <a16:creationId xmlns:a16="http://schemas.microsoft.com/office/drawing/2014/main" id="{2DDA5E8B-7438-C891-2771-F57700CCD3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E10E01B-527E-6CF6-D575-6D430AD28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382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E896A-68C9-7523-8C07-666BD0EFBA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600" y="2602499"/>
            <a:ext cx="11360800" cy="3153216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latin typeface="Raleway" pitchFamily="2" charset="0"/>
              </a:defRPr>
            </a:lvl2pPr>
            <a:lvl3pPr>
              <a:defRPr>
                <a:latin typeface="Raleway" pitchFamily="2" charset="0"/>
              </a:defRPr>
            </a:lvl3pPr>
            <a:lvl4pPr>
              <a:defRPr>
                <a:latin typeface="Raleway" pitchFamily="2" charset="0"/>
              </a:defRPr>
            </a:lvl4pPr>
            <a:lvl5pPr>
              <a:defRPr>
                <a:latin typeface="Raleway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2" name="Google Shape;45;p7">
            <a:extLst>
              <a:ext uri="{FF2B5EF4-FFF2-40B4-BE49-F238E27FC236}">
                <a16:creationId xmlns:a16="http://schemas.microsoft.com/office/drawing/2014/main" id="{2B1567C0-4287-5016-773D-60FC694478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54CBDA10-C463-8A5E-0969-8CFE1D30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484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two columns 1" userDrawn="1">
  <p:cSld name="Title and two columns 1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subTitle" idx="1"/>
          </p:nvPr>
        </p:nvSpPr>
        <p:spPr>
          <a:xfrm>
            <a:off x="1802727" y="3860800"/>
            <a:ext cx="364628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b="1"/>
            </a:lvl9pPr>
          </a:lstStyle>
          <a:p>
            <a:endParaRPr dirty="0"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2"/>
          </p:nvPr>
        </p:nvSpPr>
        <p:spPr>
          <a:xfrm>
            <a:off x="1802727" y="4362700"/>
            <a:ext cx="3646280" cy="12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67"/>
            </a:lvl9pPr>
          </a:lstStyle>
          <a:p>
            <a:endParaRPr dirty="0"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3"/>
          </p:nvPr>
        </p:nvSpPr>
        <p:spPr>
          <a:xfrm>
            <a:off x="6743027" y="3860800"/>
            <a:ext cx="3646280" cy="49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b="1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b="1"/>
            </a:lvl9pPr>
          </a:lstStyle>
          <a:p>
            <a:endParaRPr dirty="0"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4"/>
          </p:nvPr>
        </p:nvSpPr>
        <p:spPr>
          <a:xfrm>
            <a:off x="6743027" y="4362700"/>
            <a:ext cx="3646280" cy="12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67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67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67"/>
            </a:lvl9pPr>
          </a:lstStyle>
          <a:p>
            <a:endParaRPr/>
          </a:p>
        </p:txBody>
      </p:sp>
      <p:sp>
        <p:nvSpPr>
          <p:cNvPr id="3" name="Google Shape;45;p7">
            <a:extLst>
              <a:ext uri="{FF2B5EF4-FFF2-40B4-BE49-F238E27FC236}">
                <a16:creationId xmlns:a16="http://schemas.microsoft.com/office/drawing/2014/main" id="{D0B48D13-027A-4AFE-4CD9-AAE135E2BA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9" y="115200"/>
            <a:ext cx="10550999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432BB4C-0FFD-F107-637F-62075DD56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085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ig number">
  <p:cSld name="Big number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>
            <a:spLocks noGrp="1"/>
          </p:cNvSpPr>
          <p:nvPr>
            <p:ph type="title" hasCustomPrompt="1"/>
          </p:nvPr>
        </p:nvSpPr>
        <p:spPr>
          <a:xfrm>
            <a:off x="415600" y="2236481"/>
            <a:ext cx="11360800" cy="205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7333">
                <a:solidFill>
                  <a:schemeClr val="accent3"/>
                </a:solidFill>
              </a:defRPr>
            </a:lvl9pPr>
          </a:lstStyle>
          <a:p>
            <a:r>
              <a:rPr dirty="0"/>
              <a:t>xx%</a:t>
            </a:r>
          </a:p>
        </p:txBody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415600" y="4490881"/>
            <a:ext cx="11360800" cy="14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FEF22A34-8630-7179-6BE7-3A5ED218F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081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5;p7">
            <a:extLst>
              <a:ext uri="{FF2B5EF4-FFF2-40B4-BE49-F238E27FC236}">
                <a16:creationId xmlns:a16="http://schemas.microsoft.com/office/drawing/2014/main" id="{564256A3-4B60-B37C-3C15-AB3FE9B6DA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197" y="0"/>
            <a:ext cx="10675200" cy="113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933">
                <a:solidFill>
                  <a:schemeClr val="tx1"/>
                </a:solidFill>
                <a:latin typeface="Raleway" pitchFamily="2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B24C27D-E9CF-52B2-895E-3ABEC7ADC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623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83060A7-945A-2E96-761C-7E7F8D3C4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</p:spPr>
        <p:txBody>
          <a:bodyPr/>
          <a:lstStyle>
            <a:lvl1pPr>
              <a:defRPr>
                <a:latin typeface="Raleway" pitchFamily="2" charset="0"/>
                <a:cs typeface="Calibri" panose="020F0502020204030204" pitchFamily="34" charset="0"/>
              </a:defRPr>
            </a:lvl1pPr>
          </a:lstStyle>
          <a:p>
            <a:fld id="{66B530E6-33B2-49CF-A736-7C25316E718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137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 slide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0"/>
          <p:cNvSpPr txBox="1">
            <a:spLocks noGrp="1"/>
          </p:cNvSpPr>
          <p:nvPr>
            <p:ph type="subTitle" idx="1"/>
          </p:nvPr>
        </p:nvSpPr>
        <p:spPr>
          <a:xfrm>
            <a:off x="2840535" y="4195828"/>
            <a:ext cx="64940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8" name="Google Shape;38;p60"/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0" i="0" u="none" strike="noStrike" cap="non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4468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E15BF-C4B1-DA4D-3B6C-81688A51B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D423B-72C3-21DC-BC78-BED6C0765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FF486B-36A7-C53D-6F1F-97448C83B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40B33-719F-4746-8402-DCDC3EF37EB8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A36AB-D5FD-A8F3-4CD9-189F5CCED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741C6-8ACD-715B-8124-8F3F8DB8B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661E2-A269-43CC-81A7-4D104EF903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1005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F0306-170F-7271-6074-E214441F03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B71368-22A9-4F33-0E6E-BB7026BADB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30B3D-1E09-48DD-0E22-88A28705F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40B33-719F-4746-8402-DCDC3EF37EB8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F2F43-7A9B-AE9E-66D3-DCC2438C0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849FD-A824-7230-BC94-7F69F814C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661E2-A269-43CC-81A7-4D104EF903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7974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03200" y="115200"/>
            <a:ext cx="11360800" cy="9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573FB6-F6A4-C682-F4CD-14CE8176A144}"/>
              </a:ext>
            </a:extLst>
          </p:cNvPr>
          <p:cNvSpPr/>
          <p:nvPr userDrawn="1"/>
        </p:nvSpPr>
        <p:spPr>
          <a:xfrm>
            <a:off x="0" y="6331389"/>
            <a:ext cx="12195029" cy="524801"/>
          </a:xfrm>
          <a:prstGeom prst="rect">
            <a:avLst/>
          </a:prstGeom>
          <a:solidFill>
            <a:srgbClr val="348E90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323907" y="6414447"/>
            <a:ext cx="731600" cy="355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333">
                <a:solidFill>
                  <a:schemeClr val="bg1"/>
                </a:solidFill>
                <a:latin typeface="Raleway" pitchFamily="2" charset="0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333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10945671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3" r:id="rId11"/>
    <p:sldLayoutId id="2147483674" r:id="rId12"/>
    <p:sldLayoutId id="2147483675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5333" b="0" i="0" u="none" strike="noStrike" cap="none">
          <a:solidFill>
            <a:schemeClr val="tx1"/>
          </a:solidFill>
          <a:latin typeface="Raleway" pitchFamily="2" charset="0"/>
          <a:ea typeface="Raleway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Raleway" pitchFamily="2" charset="0"/>
          <a:ea typeface="Raleway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png"/><Relationship Id="rId4" Type="http://schemas.openxmlformats.org/officeDocument/2006/relationships/image" Target="../media/image17.jp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7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1.png"/><Relationship Id="rId5" Type="http://schemas.openxmlformats.org/officeDocument/2006/relationships/image" Target="../media/image17.jpg"/><Relationship Id="rId4" Type="http://schemas.openxmlformats.org/officeDocument/2006/relationships/image" Target="../media/image16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3.png"/><Relationship Id="rId5" Type="http://schemas.openxmlformats.org/officeDocument/2006/relationships/image" Target="../media/image17.jpg"/><Relationship Id="rId4" Type="http://schemas.openxmlformats.org/officeDocument/2006/relationships/image" Target="../media/image16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0.png"/><Relationship Id="rId5" Type="http://schemas.openxmlformats.org/officeDocument/2006/relationships/image" Target="../media/image17.jpg"/><Relationship Id="rId4" Type="http://schemas.openxmlformats.org/officeDocument/2006/relationships/image" Target="../media/image16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4.png"/><Relationship Id="rId5" Type="http://schemas.openxmlformats.org/officeDocument/2006/relationships/image" Target="../media/image17.jpg"/><Relationship Id="rId4" Type="http://schemas.openxmlformats.org/officeDocument/2006/relationships/image" Target="../media/image16.png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5.png"/><Relationship Id="rId5" Type="http://schemas.openxmlformats.org/officeDocument/2006/relationships/image" Target="../media/image17.jpg"/><Relationship Id="rId4" Type="http://schemas.openxmlformats.org/officeDocument/2006/relationships/image" Target="../media/image16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TextBox 1">
            <a:extLst>
              <a:ext uri="{FF2B5EF4-FFF2-40B4-BE49-F238E27FC236}">
                <a16:creationId xmlns:a16="http://schemas.microsoft.com/office/drawing/2014/main" id="{566CF642-B155-3EAA-0E23-97793C0E3936}"/>
              </a:ext>
            </a:extLst>
          </p:cNvPr>
          <p:cNvSpPr txBox="1"/>
          <p:nvPr/>
        </p:nvSpPr>
        <p:spPr>
          <a:xfrm>
            <a:off x="6300218" y="1347837"/>
            <a:ext cx="4741333" cy="5510163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pPr algn="ctr" defTabSz="1219170">
              <a:buClr>
                <a:srgbClr val="000000"/>
              </a:buClr>
            </a:pPr>
            <a:r>
              <a:rPr lang="en-IN" sz="2667" b="1" kern="0" dirty="0">
                <a:solidFill>
                  <a:prstClr val="black">
                    <a:lumMod val="85000"/>
                    <a:lumOff val="15000"/>
                  </a:prstClr>
                </a:solidFill>
                <a:latin typeface="Arial"/>
                <a:cs typeface="Arial"/>
                <a:sym typeface="Arial"/>
              </a:rPr>
              <a:t>Project Title</a:t>
            </a:r>
          </a:p>
          <a:p>
            <a:pPr algn="ctr" defTabSz="1219170">
              <a:buClr>
                <a:srgbClr val="000000"/>
              </a:buClr>
            </a:pPr>
            <a:endParaRPr lang="en-IN" sz="2667" b="1" kern="0" dirty="0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r>
              <a:rPr lang="en-IN" sz="2667" b="1" kern="0" dirty="0">
                <a:solidFill>
                  <a:prstClr val="black">
                    <a:lumMod val="85000"/>
                    <a:lumOff val="15000"/>
                  </a:prstClr>
                </a:solidFill>
                <a:latin typeface="Arial"/>
                <a:cs typeface="Arial"/>
                <a:sym typeface="Arial"/>
              </a:rPr>
              <a:t>Retail data</a:t>
            </a:r>
          </a:p>
          <a:p>
            <a:pPr algn="ctr" defTabSz="1219170">
              <a:buClr>
                <a:srgbClr val="000000"/>
              </a:buClr>
            </a:pPr>
            <a:endParaRPr lang="en-IN" sz="2667" b="1" kern="0" dirty="0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2667" b="1" kern="0" dirty="0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r>
              <a:rPr lang="en-IN" sz="2667" b="1" kern="0" dirty="0">
                <a:solidFill>
                  <a:prstClr val="black">
                    <a:lumMod val="85000"/>
                    <a:lumOff val="15000"/>
                  </a:prstClr>
                </a:solidFill>
                <a:latin typeface="Arial"/>
                <a:cs typeface="Arial"/>
                <a:sym typeface="Arial"/>
              </a:rPr>
              <a:t>Name: Saurabh Bisht</a:t>
            </a:r>
          </a:p>
          <a:p>
            <a:pPr algn="ctr" defTabSz="1219170">
              <a:buClr>
                <a:srgbClr val="000000"/>
              </a:buClr>
            </a:pPr>
            <a:endParaRPr lang="en-IN" sz="2667" b="1" kern="0" dirty="0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2667" b="1" kern="0" dirty="0">
              <a:solidFill>
                <a:prstClr val="black">
                  <a:lumMod val="85000"/>
                  <a:lumOff val="1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r>
              <a:rPr lang="en-IN" sz="2667" b="1" kern="0" dirty="0">
                <a:solidFill>
                  <a:prstClr val="black">
                    <a:lumMod val="85000"/>
                    <a:lumOff val="15000"/>
                  </a:prstClr>
                </a:solidFill>
                <a:latin typeface="Arial"/>
                <a:cs typeface="Arial"/>
                <a:sym typeface="Arial"/>
              </a:rPr>
              <a:t>Date: 03-11-2025</a:t>
            </a: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  <a:p>
            <a:pPr algn="ctr" defTabSz="1219170">
              <a:buClr>
                <a:srgbClr val="000000"/>
              </a:buClr>
            </a:pPr>
            <a:endParaRPr lang="en-IN" sz="1867" kern="0" dirty="0">
              <a:solidFill>
                <a:prstClr val="black">
                  <a:lumMod val="65000"/>
                  <a:lumOff val="35000"/>
                </a:prstClr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71345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058D0-B69E-52F3-EB73-AC4871719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081164" cy="702303"/>
          </a:xfrm>
          <a:solidFill>
            <a:srgbClr val="004E9A"/>
          </a:solidFill>
        </p:spPr>
        <p:txBody>
          <a:bodyPr>
            <a:normAutofit fontScale="90000"/>
          </a:bodyPr>
          <a:lstStyle/>
          <a:p>
            <a:pPr algn="ctr"/>
            <a:r>
              <a:rPr lang="en-IN" dirty="0">
                <a:solidFill>
                  <a:schemeClr val="bg1"/>
                </a:solidFill>
                <a:latin typeface="+mn-lt"/>
              </a:rPr>
              <a:t>Retail Industry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7625F-AB9E-0122-9A50-2D3AB83D1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693889"/>
            <a:ext cx="10058400" cy="417520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>
                <a:latin typeface="+mn-lt"/>
              </a:rPr>
              <a:t>• Retail business depends heavily on data-driven decisions to stay competitive in a dynamic market.</a:t>
            </a:r>
            <a:br>
              <a:rPr lang="en-US" sz="2400" dirty="0">
                <a:latin typeface="+mn-lt"/>
              </a:rPr>
            </a:br>
            <a:r>
              <a:rPr lang="en-US" sz="2400" dirty="0">
                <a:latin typeface="+mn-lt"/>
              </a:rPr>
              <a:t>• Analytics helps identify customer behavior, emerging trends, and overall profitability.</a:t>
            </a:r>
            <a:br>
              <a:rPr lang="en-US" sz="2400" dirty="0">
                <a:latin typeface="+mn-lt"/>
              </a:rPr>
            </a:br>
            <a:r>
              <a:rPr lang="en-US" sz="2400" dirty="0">
                <a:latin typeface="+mn-lt"/>
              </a:rPr>
              <a:t>• Understanding purchase patterns enables businesses to offer personalized experiences and targeted promotions.</a:t>
            </a:r>
            <a:br>
              <a:rPr lang="en-US" sz="2400" dirty="0">
                <a:latin typeface="+mn-lt"/>
              </a:rPr>
            </a:br>
            <a:r>
              <a:rPr lang="en-US" sz="2400" dirty="0">
                <a:latin typeface="+mn-lt"/>
              </a:rPr>
              <a:t>• Data insights help optimize inventory, pricing strategies, and supply chain management.</a:t>
            </a:r>
            <a:br>
              <a:rPr lang="en-US" sz="2400" dirty="0">
                <a:latin typeface="+mn-lt"/>
              </a:rPr>
            </a:br>
            <a:r>
              <a:rPr lang="en-US" sz="2400" dirty="0">
                <a:latin typeface="+mn-lt"/>
              </a:rPr>
              <a:t>• Retailers use analytics to forecast demand, manage stock levels, and improve customer satisfaction.</a:t>
            </a:r>
            <a:br>
              <a:rPr lang="en-US" sz="2400" dirty="0">
                <a:latin typeface="+mn-lt"/>
              </a:rPr>
            </a:br>
            <a:r>
              <a:rPr lang="en-US" sz="2400" dirty="0">
                <a:latin typeface="+mn-lt"/>
              </a:rPr>
              <a:t>• The growing adoption of digital platforms and omnichannel strategies has made real-time data analysis essential for success.</a:t>
            </a:r>
            <a:endParaRPr lang="en-IN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68695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2B946-E3BA-B332-2D70-ECE7A6408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31"/>
            <a:ext cx="12192000" cy="991727"/>
          </a:xfrm>
          <a:solidFill>
            <a:srgbClr val="004E9A"/>
          </a:solidFill>
        </p:spPr>
        <p:txBody>
          <a:bodyPr>
            <a:normAutofit fontScale="90000"/>
          </a:bodyPr>
          <a:lstStyle/>
          <a:p>
            <a:pPr algn="ctr"/>
            <a:r>
              <a:rPr lang="en-IN" sz="6000" dirty="0">
                <a:solidFill>
                  <a:schemeClr val="bg1"/>
                </a:solidFill>
                <a:latin typeface="+mn-lt"/>
              </a:rPr>
              <a:t>Business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6B098-EB71-D461-6F4E-D0CA8920DC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968" y="1189705"/>
            <a:ext cx="11592232" cy="403123"/>
          </a:xfrm>
          <a:solidFill>
            <a:srgbClr val="FFD6FF"/>
          </a:solidFill>
        </p:spPr>
        <p:txBody>
          <a:bodyPr/>
          <a:lstStyle/>
          <a:p>
            <a:pPr marL="0" indent="0" algn="ctr">
              <a:buNone/>
            </a:pPr>
            <a:r>
              <a:rPr lang="en-IN" sz="2800" dirty="0">
                <a:solidFill>
                  <a:srgbClr val="0070C0"/>
                </a:solidFill>
                <a:latin typeface="+mn-lt"/>
              </a:rPr>
              <a:t>Problem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D78D86-F83D-FB2D-0695-164DA42C995B}"/>
              </a:ext>
            </a:extLst>
          </p:cNvPr>
          <p:cNvSpPr txBox="1"/>
          <p:nvPr/>
        </p:nvSpPr>
        <p:spPr>
          <a:xfrm>
            <a:off x="294968" y="1750144"/>
            <a:ext cx="1159223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retail client is encountering difficulties in gaining deeper insights and improving key areas of their business operations. The major challenges include:</a:t>
            </a:r>
          </a:p>
          <a:p>
            <a:endParaRPr lang="en-US" sz="2400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Tracking and predicting sales trends effectively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  Understanding customer purchase behavior and preferences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Evaluating product performance and store efficiency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Measuring the impact of marketing and promotional campaigns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Detecting and reducing customer churn 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Developing optimized pricing strategies to boost profitability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3020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66868-B11B-F0E7-A083-720DA178B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213310"/>
            <a:ext cx="12192001" cy="802302"/>
          </a:xfrm>
          <a:solidFill>
            <a:srgbClr val="004E9A"/>
          </a:solidFill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IN" sz="3600" dirty="0">
                <a:solidFill>
                  <a:schemeClr val="bg1"/>
                </a:solidFill>
                <a:latin typeface="+mn-lt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9547A-4141-A76C-4087-5D4C6F00E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17058"/>
            <a:ext cx="10515600" cy="3106994"/>
          </a:xfrm>
        </p:spPr>
        <p:txBody>
          <a:bodyPr>
            <a:normAutofit/>
          </a:bodyPr>
          <a:lstStyle/>
          <a:p>
            <a:pPr algn="ctr"/>
            <a:r>
              <a:rPr lang="en-IN" sz="3200" dirty="0">
                <a:latin typeface="+mn-lt"/>
              </a:rPr>
              <a:t>Total Amount Calculation Error</a:t>
            </a:r>
          </a:p>
          <a:p>
            <a:pPr algn="ctr"/>
            <a:r>
              <a:rPr lang="fr-FR" sz="3200" dirty="0">
                <a:latin typeface="+mn-lt"/>
              </a:rPr>
              <a:t>Impact on Profit &amp; </a:t>
            </a:r>
            <a:r>
              <a:rPr lang="fr-FR" sz="3200" dirty="0" err="1">
                <a:latin typeface="+mn-lt"/>
              </a:rPr>
              <a:t>Loss</a:t>
            </a:r>
            <a:endParaRPr lang="fr-FR" sz="3200" dirty="0">
              <a:latin typeface="+mn-lt"/>
            </a:endParaRPr>
          </a:p>
          <a:p>
            <a:pPr algn="ctr"/>
            <a:r>
              <a:rPr lang="en-IN" sz="3200" dirty="0">
                <a:latin typeface="+mn-lt"/>
              </a:rPr>
              <a:t>Impact on Customer &amp; Market</a:t>
            </a:r>
          </a:p>
          <a:p>
            <a:pPr algn="ctr"/>
            <a:r>
              <a:rPr lang="en-IN" sz="3200" dirty="0">
                <a:latin typeface="+mn-lt"/>
              </a:rPr>
              <a:t>Impact on Operations &amp; Strategy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721F75-3E2E-838A-9531-E8B91A44DA31}"/>
              </a:ext>
            </a:extLst>
          </p:cNvPr>
          <p:cNvSpPr txBox="1"/>
          <p:nvPr/>
        </p:nvSpPr>
        <p:spPr>
          <a:xfrm>
            <a:off x="838199" y="10833"/>
            <a:ext cx="10515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dirty="0"/>
              <a:t>Business Context</a:t>
            </a:r>
          </a:p>
        </p:txBody>
      </p:sp>
    </p:spTree>
    <p:extLst>
      <p:ext uri="{BB962C8B-B14F-4D97-AF65-F5344CB8AC3E}">
        <p14:creationId xmlns:p14="http://schemas.microsoft.com/office/powerpoint/2010/main" val="1004584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B56B7-33CC-038F-B1EA-44533FEB2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83699"/>
          </a:xfrm>
          <a:solidFill>
            <a:srgbClr val="004E9A"/>
          </a:solidFill>
        </p:spPr>
        <p:txBody>
          <a:bodyPr>
            <a:normAutofit/>
          </a:bodyPr>
          <a:lstStyle/>
          <a:p>
            <a:pPr algn="ctr"/>
            <a:r>
              <a:rPr lang="en-IN" sz="5400" dirty="0">
                <a:solidFill>
                  <a:schemeClr val="bg1"/>
                </a:solidFill>
                <a:latin typeface="+mn-lt"/>
              </a:rPr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EE269-A176-4812-A218-A8D7511EA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algn="ctr"/>
            <a:endParaRPr lang="en-IN" sz="3200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B927B4-F181-5B9B-9B19-2C41D24D47F0}"/>
              </a:ext>
            </a:extLst>
          </p:cNvPr>
          <p:cNvSpPr txBox="1"/>
          <p:nvPr/>
        </p:nvSpPr>
        <p:spPr>
          <a:xfrm>
            <a:off x="1602350" y="1767006"/>
            <a:ext cx="8987299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IN" sz="3500" dirty="0">
                <a:latin typeface="+mn-lt"/>
              </a:rPr>
              <a:t>Data Quality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IN" sz="3500" dirty="0">
                <a:latin typeface="+mn-lt"/>
              </a:rPr>
              <a:t>Trustworthy Data Source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3500" dirty="0">
                <a:latin typeface="+mn-lt"/>
              </a:rPr>
              <a:t>Financial</a:t>
            </a:r>
            <a:r>
              <a:rPr lang="en-US" sz="3500" b="1" dirty="0">
                <a:latin typeface="+mn-lt"/>
              </a:rPr>
              <a:t> </a:t>
            </a:r>
            <a:r>
              <a:rPr lang="en-US" sz="3500" dirty="0">
                <a:latin typeface="+mn-lt"/>
              </a:rPr>
              <a:t>Integrity and Reduce Audit Risk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IN" sz="3500" dirty="0">
                <a:latin typeface="+mn-lt"/>
              </a:rPr>
              <a:t>Customer-Centric Analysis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IN" sz="3500" dirty="0">
                <a:latin typeface="+mn-lt"/>
              </a:rPr>
              <a:t>Operational Efficiency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IN" sz="3500" dirty="0">
                <a:latin typeface="+mn-lt"/>
              </a:rPr>
              <a:t>Future Analysis</a:t>
            </a:r>
          </a:p>
        </p:txBody>
      </p:sp>
    </p:spTree>
    <p:extLst>
      <p:ext uri="{BB962C8B-B14F-4D97-AF65-F5344CB8AC3E}">
        <p14:creationId xmlns:p14="http://schemas.microsoft.com/office/powerpoint/2010/main" val="2557719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68F81-694E-62B2-BBC9-BEBC7A0A8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76047"/>
          </a:xfrm>
          <a:solidFill>
            <a:srgbClr val="0070C0"/>
          </a:solidFill>
          <a:ln>
            <a:solidFill>
              <a:schemeClr val="accent1"/>
            </a:solidFill>
          </a:ln>
        </p:spPr>
        <p:txBody>
          <a:bodyPr/>
          <a:lstStyle/>
          <a:p>
            <a:pPr algn="ctr"/>
            <a:r>
              <a:rPr lang="en-IN" dirty="0">
                <a:solidFill>
                  <a:schemeClr val="bg1"/>
                </a:solidFill>
                <a:latin typeface="+mn-lt"/>
              </a:rPr>
              <a:t>System and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E7D09-202C-3C48-EAFC-19F5C7C5A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9784CD-E678-5A58-8C53-A69F8A898BF8}"/>
              </a:ext>
            </a:extLst>
          </p:cNvPr>
          <p:cNvSpPr txBox="1"/>
          <p:nvPr/>
        </p:nvSpPr>
        <p:spPr>
          <a:xfrm>
            <a:off x="1691527" y="1874728"/>
            <a:ext cx="8808946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dirty="0"/>
              <a:t>Tools: Excel, SQL, Power BI, PPT</a:t>
            </a:r>
          </a:p>
          <a:p>
            <a:pPr algn="ctr"/>
            <a:endParaRPr lang="en-IN" sz="2800" dirty="0"/>
          </a:p>
          <a:p>
            <a:pPr algn="ctr"/>
            <a:r>
              <a:rPr lang="en-IN" sz="2800" dirty="0"/>
              <a:t>Coverage: Data validation → Cleaning → Analysis → Visualization</a:t>
            </a:r>
          </a:p>
          <a:p>
            <a:pPr algn="ctr"/>
            <a:endParaRPr lang="en-IN" sz="2800" dirty="0"/>
          </a:p>
          <a:p>
            <a:pPr algn="ctr"/>
            <a:r>
              <a:rPr lang="en-IN" sz="2800" dirty="0"/>
              <a:t>Deliverables: ER diagram, SQL checks, cleaned data, dashboards, report</a:t>
            </a:r>
          </a:p>
        </p:txBody>
      </p:sp>
    </p:spTree>
    <p:extLst>
      <p:ext uri="{BB962C8B-B14F-4D97-AF65-F5344CB8AC3E}">
        <p14:creationId xmlns:p14="http://schemas.microsoft.com/office/powerpoint/2010/main" val="1780026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4B911-C61A-C376-37CD-2527FE3EE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58492"/>
          </a:xfrm>
          <a:solidFill>
            <a:srgbClr val="0070C0"/>
          </a:solidFill>
          <a:ln>
            <a:solidFill>
              <a:schemeClr val="accent1"/>
            </a:solidFill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  <a:latin typeface="+mn-lt"/>
              </a:rPr>
              <a:t>Technology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46AAE-647D-5011-C0DE-8E4A26E7D2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7CBB43-18FE-A431-32CB-99ED44378AAC}"/>
              </a:ext>
            </a:extLst>
          </p:cNvPr>
          <p:cNvSpPr txBox="1"/>
          <p:nvPr/>
        </p:nvSpPr>
        <p:spPr>
          <a:xfrm>
            <a:off x="1890765" y="2151727"/>
            <a:ext cx="841047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dirty="0"/>
              <a:t>Tool Purpose</a:t>
            </a:r>
          </a:p>
          <a:p>
            <a:pPr algn="ctr"/>
            <a:r>
              <a:rPr lang="en-IN" sz="3200" dirty="0"/>
              <a:t>Excel Data cleaning, basic analysis</a:t>
            </a:r>
          </a:p>
          <a:p>
            <a:pPr algn="ctr"/>
            <a:r>
              <a:rPr lang="en-IN" sz="3200" dirty="0"/>
              <a:t>SQL Server Data checks, transformations</a:t>
            </a:r>
          </a:p>
          <a:p>
            <a:pPr algn="ctr"/>
            <a:r>
              <a:rPr lang="en-IN" sz="3200" dirty="0"/>
              <a:t>Power BI Dashboard &amp; visualization</a:t>
            </a:r>
          </a:p>
          <a:p>
            <a:pPr algn="ctr"/>
            <a:r>
              <a:rPr lang="en-IN" sz="3200" dirty="0"/>
              <a:t>PPT Final presentation</a:t>
            </a:r>
          </a:p>
        </p:txBody>
      </p:sp>
    </p:spTree>
    <p:extLst>
      <p:ext uri="{BB962C8B-B14F-4D97-AF65-F5344CB8AC3E}">
        <p14:creationId xmlns:p14="http://schemas.microsoft.com/office/powerpoint/2010/main" val="4208383250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0CED9-10C0-AF3D-5B17-25F1B796F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846984"/>
          </a:xfrm>
          <a:solidFill>
            <a:srgbClr val="0070C0"/>
          </a:solidFill>
          <a:ln>
            <a:solidFill>
              <a:schemeClr val="accent1"/>
            </a:solidFill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  <a:latin typeface="+mn-lt"/>
              </a:rPr>
              <a:t>Available Data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930F6-6B9D-8326-4F70-227E65729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48180D-FD19-276F-7A72-EB3FEA5EFD3C}"/>
              </a:ext>
            </a:extLst>
          </p:cNvPr>
          <p:cNvSpPr txBox="1"/>
          <p:nvPr/>
        </p:nvSpPr>
        <p:spPr>
          <a:xfrm>
            <a:off x="838200" y="1905506"/>
            <a:ext cx="488417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Customer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Products info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Stores-info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Orders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Order Payments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/>
              <a:t>Order Review Rating</a:t>
            </a:r>
          </a:p>
        </p:txBody>
      </p:sp>
    </p:spTree>
    <p:extLst>
      <p:ext uri="{BB962C8B-B14F-4D97-AF65-F5344CB8AC3E}">
        <p14:creationId xmlns:p14="http://schemas.microsoft.com/office/powerpoint/2010/main" val="236320530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E092E07-59F7-3566-0C96-688A7889BD04}"/>
              </a:ext>
            </a:extLst>
          </p:cNvPr>
          <p:cNvSpPr txBox="1"/>
          <p:nvPr/>
        </p:nvSpPr>
        <p:spPr>
          <a:xfrm>
            <a:off x="587830" y="83575"/>
            <a:ext cx="2745306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sz="2800" dirty="0"/>
              <a:t>Data Overview:-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2C9CFC-F3CC-BC3A-7F7A-0E359EBA3443}"/>
              </a:ext>
            </a:extLst>
          </p:cNvPr>
          <p:cNvSpPr txBox="1"/>
          <p:nvPr/>
        </p:nvSpPr>
        <p:spPr>
          <a:xfrm>
            <a:off x="444138" y="845173"/>
            <a:ext cx="323958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/>
              <a:t>26M</a:t>
            </a:r>
          </a:p>
          <a:p>
            <a:pPr algn="ctr"/>
            <a:r>
              <a:rPr lang="en-IN" dirty="0"/>
              <a:t>Months of Data</a:t>
            </a:r>
          </a:p>
          <a:p>
            <a:pPr algn="ctr"/>
            <a:r>
              <a:rPr lang="en-IN" dirty="0"/>
              <a:t>Sep 2021-oct 2023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B43C34-F4C8-2BF3-5014-F00E491B6E10}"/>
              </a:ext>
            </a:extLst>
          </p:cNvPr>
          <p:cNvSpPr txBox="1"/>
          <p:nvPr/>
        </p:nvSpPr>
        <p:spPr>
          <a:xfrm>
            <a:off x="6982027" y="845173"/>
            <a:ext cx="374904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/>
              <a:t>39</a:t>
            </a:r>
          </a:p>
          <a:p>
            <a:pPr algn="ctr"/>
            <a:r>
              <a:rPr lang="en-IN" dirty="0"/>
              <a:t>Sample Stores</a:t>
            </a:r>
          </a:p>
          <a:p>
            <a:pPr algn="ctr"/>
            <a:r>
              <a:rPr lang="en-IN" dirty="0"/>
              <a:t>From total of 535 location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64129B-45EF-6548-C95E-293D36CBE722}"/>
              </a:ext>
            </a:extLst>
          </p:cNvPr>
          <p:cNvSpPr txBox="1"/>
          <p:nvPr/>
        </p:nvSpPr>
        <p:spPr>
          <a:xfrm>
            <a:off x="237308" y="2259404"/>
            <a:ext cx="117173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* Our analysis covers randomly selected customers across specific product categories, providing a representative sample of retail operations. 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3DBD46-C3FE-9E06-82A8-8B102861F36B}"/>
              </a:ext>
            </a:extLst>
          </p:cNvPr>
          <p:cNvSpPr txBox="1"/>
          <p:nvPr/>
        </p:nvSpPr>
        <p:spPr>
          <a:xfrm>
            <a:off x="237308" y="3235061"/>
            <a:ext cx="1161288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1. </a:t>
            </a:r>
            <a:r>
              <a:rPr lang="en-IN" dirty="0"/>
              <a:t>Customers                                                                             </a:t>
            </a:r>
            <a:r>
              <a:rPr lang="en-IN" b="1" dirty="0">
                <a:solidFill>
                  <a:srgbClr val="FF0000"/>
                </a:solidFill>
              </a:rPr>
              <a:t>2.</a:t>
            </a:r>
            <a:r>
              <a:rPr lang="en-IN" dirty="0"/>
              <a:t> Orders</a:t>
            </a:r>
          </a:p>
          <a:p>
            <a:r>
              <a:rPr lang="en-IN" dirty="0"/>
              <a:t>Customers information and demographic                        Customer’s order , Transaction information and purchase history</a:t>
            </a:r>
          </a:p>
          <a:p>
            <a:endParaRPr lang="en-IN" dirty="0"/>
          </a:p>
          <a:p>
            <a:r>
              <a:rPr lang="en-IN" b="1" dirty="0">
                <a:solidFill>
                  <a:srgbClr val="FF0000"/>
                </a:solidFill>
              </a:rPr>
              <a:t>3. </a:t>
            </a:r>
            <a:r>
              <a:rPr lang="en-IN" dirty="0"/>
              <a:t>Order Payments                                                                   </a:t>
            </a:r>
            <a:r>
              <a:rPr lang="en-IN" b="1" dirty="0">
                <a:solidFill>
                  <a:srgbClr val="FF0000"/>
                </a:solidFill>
              </a:rPr>
              <a:t>4.</a:t>
            </a:r>
            <a:r>
              <a:rPr lang="en-IN" dirty="0"/>
              <a:t> Order Review Ratings</a:t>
            </a:r>
          </a:p>
          <a:p>
            <a:r>
              <a:rPr lang="en-IN" dirty="0"/>
              <a:t>Payment method and transactions details                      Customer feedback and satisfaction metrics</a:t>
            </a:r>
          </a:p>
          <a:p>
            <a:endParaRPr lang="en-IN" dirty="0"/>
          </a:p>
          <a:p>
            <a:r>
              <a:rPr lang="en-IN" b="1" dirty="0">
                <a:solidFill>
                  <a:srgbClr val="FF0000"/>
                </a:solidFill>
              </a:rPr>
              <a:t>5. </a:t>
            </a:r>
            <a:r>
              <a:rPr lang="en-IN" dirty="0"/>
              <a:t>Products info                                                                          </a:t>
            </a:r>
            <a:r>
              <a:rPr lang="en-IN" b="1" dirty="0">
                <a:solidFill>
                  <a:srgbClr val="FF0000"/>
                </a:solidFill>
              </a:rPr>
              <a:t>6.</a:t>
            </a:r>
            <a:r>
              <a:rPr lang="en-IN" dirty="0"/>
              <a:t> Stores Info</a:t>
            </a:r>
          </a:p>
          <a:p>
            <a:r>
              <a:rPr lang="en-IN" dirty="0"/>
              <a:t>Product details like category , dimension ,                        Stores location and operational  data</a:t>
            </a:r>
          </a:p>
          <a:p>
            <a:r>
              <a:rPr lang="en-IN" dirty="0"/>
              <a:t>weight , and Description.</a:t>
            </a:r>
          </a:p>
        </p:txBody>
      </p:sp>
    </p:spTree>
    <p:extLst>
      <p:ext uri="{BB962C8B-B14F-4D97-AF65-F5344CB8AC3E}">
        <p14:creationId xmlns:p14="http://schemas.microsoft.com/office/powerpoint/2010/main" val="25486276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18A3E-7825-88D7-24AC-8DB588638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47252"/>
          </a:xfrm>
          <a:solidFill>
            <a:srgbClr val="0070C0"/>
          </a:solidFill>
          <a:ln>
            <a:solidFill>
              <a:schemeClr val="accent1"/>
            </a:solidFill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  <a:latin typeface="+mn-lt"/>
              </a:rPr>
              <a:t>Tables Detail  (Part-01)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3CFA883-14B9-43CF-0159-C3A3482DA4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32804"/>
              </p:ext>
            </p:extLst>
          </p:nvPr>
        </p:nvGraphicFramePr>
        <p:xfrm>
          <a:off x="167153" y="1454715"/>
          <a:ext cx="11867531" cy="47940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38555">
                  <a:extLst>
                    <a:ext uri="{9D8B030D-6E8A-4147-A177-3AD203B41FA5}">
                      <a16:colId xmlns:a16="http://schemas.microsoft.com/office/drawing/2014/main" val="2870339364"/>
                    </a:ext>
                  </a:extLst>
                </a:gridCol>
                <a:gridCol w="1139260">
                  <a:extLst>
                    <a:ext uri="{9D8B030D-6E8A-4147-A177-3AD203B41FA5}">
                      <a16:colId xmlns:a16="http://schemas.microsoft.com/office/drawing/2014/main" val="134310967"/>
                    </a:ext>
                  </a:extLst>
                </a:gridCol>
                <a:gridCol w="1428900">
                  <a:extLst>
                    <a:ext uri="{9D8B030D-6E8A-4147-A177-3AD203B41FA5}">
                      <a16:colId xmlns:a16="http://schemas.microsoft.com/office/drawing/2014/main" val="348539919"/>
                    </a:ext>
                  </a:extLst>
                </a:gridCol>
                <a:gridCol w="1361317">
                  <a:extLst>
                    <a:ext uri="{9D8B030D-6E8A-4147-A177-3AD203B41FA5}">
                      <a16:colId xmlns:a16="http://schemas.microsoft.com/office/drawing/2014/main" val="3272184052"/>
                    </a:ext>
                  </a:extLst>
                </a:gridCol>
                <a:gridCol w="1229409">
                  <a:extLst>
                    <a:ext uri="{9D8B030D-6E8A-4147-A177-3AD203B41FA5}">
                      <a16:colId xmlns:a16="http://schemas.microsoft.com/office/drawing/2014/main" val="2181557588"/>
                    </a:ext>
                  </a:extLst>
                </a:gridCol>
                <a:gridCol w="3529780">
                  <a:extLst>
                    <a:ext uri="{9D8B030D-6E8A-4147-A177-3AD203B41FA5}">
                      <a16:colId xmlns:a16="http://schemas.microsoft.com/office/drawing/2014/main" val="538479309"/>
                    </a:ext>
                  </a:extLst>
                </a:gridCol>
                <a:gridCol w="1740310">
                  <a:extLst>
                    <a:ext uri="{9D8B030D-6E8A-4147-A177-3AD203B41FA5}">
                      <a16:colId xmlns:a16="http://schemas.microsoft.com/office/drawing/2014/main" val="2820397243"/>
                    </a:ext>
                  </a:extLst>
                </a:gridCol>
              </a:tblGrid>
              <a:tr h="71093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b="1" dirty="0"/>
                        <a:t>Table</a:t>
                      </a:r>
                      <a:r>
                        <a:rPr lang="en-IN" dirty="0"/>
                        <a:t> </a:t>
                      </a:r>
                      <a:r>
                        <a:rPr lang="en-IN" b="1" dirty="0"/>
                        <a:t>Name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b="1" dirty="0"/>
                        <a:t>No. of Rows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b="1" dirty="0"/>
                        <a:t>No. of Columns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b="1" dirty="0"/>
                        <a:t>Primary Key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b="1" dirty="0"/>
                        <a:t>Foreign Key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 b="1" dirty="0"/>
                        <a:t>About Columns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b="1" dirty="0"/>
                        <a:t>Detail About Sheets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33777"/>
                  </a:ext>
                </a:extLst>
              </a:tr>
              <a:tr h="877814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b="1" i="1" dirty="0"/>
                        <a:t>Customer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dirty="0"/>
                        <a:t>99441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dirty="0"/>
                        <a:t>Customer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dirty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250000"/>
                        </a:lnSpc>
                      </a:pPr>
                      <a:r>
                        <a:rPr lang="en-IN" dirty="0"/>
                        <a:t>Cust-id, City, State And Gender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dirty="0" err="1"/>
                        <a:t>Costomer</a:t>
                      </a:r>
                      <a:r>
                        <a:rPr lang="en-IN" dirty="0"/>
                        <a:t>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733756"/>
                  </a:ext>
                </a:extLst>
              </a:tr>
              <a:tr h="196104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b="1" i="1" dirty="0"/>
                        <a:t>Products info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dirty="0"/>
                        <a:t>32951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dirty="0"/>
                        <a:t>Product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N/A</a:t>
                      </a:r>
                    </a:p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b="1" i="1" dirty="0"/>
                        <a:t>1.</a:t>
                      </a:r>
                      <a:r>
                        <a:rPr lang="en-IN" sz="1600" dirty="0"/>
                        <a:t>Product-id, Category, product-name-length, product-description-length, product-photos-qty, product-weight-g, product-length-cm, product-height-cm, product-width-cm</a:t>
                      </a:r>
                    </a:p>
                    <a:p>
                      <a:endParaRPr lang="en-IN" sz="900" dirty="0"/>
                    </a:p>
                    <a:p>
                      <a:r>
                        <a:rPr lang="en-IN" sz="1600" b="1" i="1" dirty="0"/>
                        <a:t>2.</a:t>
                      </a:r>
                      <a:r>
                        <a:rPr lang="en-IN" sz="1600" dirty="0"/>
                        <a:t>13 Categories while Category of some products-id is not given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dirty="0"/>
                        <a:t>Products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077533"/>
                  </a:ext>
                </a:extLst>
              </a:tr>
              <a:tr h="1209477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b="1" i="1" dirty="0"/>
                        <a:t>Store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dirty="0"/>
                        <a:t>535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dirty="0"/>
                        <a:t>Store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N/A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1. </a:t>
                      </a:r>
                      <a:r>
                        <a:rPr lang="en-IN" dirty="0" err="1"/>
                        <a:t>StoreID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seller_city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seller_state</a:t>
                      </a:r>
                      <a:r>
                        <a:rPr lang="en-IN" dirty="0"/>
                        <a:t>, Region</a:t>
                      </a:r>
                    </a:p>
                    <a:p>
                      <a:r>
                        <a:rPr lang="en-IN" b="1" dirty="0"/>
                        <a:t>2. </a:t>
                      </a:r>
                      <a:r>
                        <a:rPr lang="en-IN" b="0" dirty="0"/>
                        <a:t>535 Unique Store along with 19 State and 4 Region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Store Data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747289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8764C01-AB53-31C5-583A-BC43C7FC9035}"/>
              </a:ext>
            </a:extLst>
          </p:cNvPr>
          <p:cNvSpPr txBox="1"/>
          <p:nvPr/>
        </p:nvSpPr>
        <p:spPr>
          <a:xfrm>
            <a:off x="838196" y="776756"/>
            <a:ext cx="1051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Have Total 6 tables, providing comprehensive information on orders, customers, products, stores, payments, and reviews.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6102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3F056E6-F0E5-5947-8320-C317465FB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86585"/>
          </a:xfrm>
          <a:solidFill>
            <a:srgbClr val="0070C0"/>
          </a:solidFill>
          <a:ln>
            <a:solidFill>
              <a:schemeClr val="accent1"/>
            </a:solidFill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  <a:latin typeface="+mn-lt"/>
              </a:rPr>
              <a:t>Tables Detail  (Part-02)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377FC79-EB0B-73E6-5FB9-52C8DE54D9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1907087"/>
              </p:ext>
            </p:extLst>
          </p:nvPr>
        </p:nvGraphicFramePr>
        <p:xfrm>
          <a:off x="167148" y="825914"/>
          <a:ext cx="11877367" cy="546512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6852">
                  <a:extLst>
                    <a:ext uri="{9D8B030D-6E8A-4147-A177-3AD203B41FA5}">
                      <a16:colId xmlns:a16="http://schemas.microsoft.com/office/drawing/2014/main" val="806097776"/>
                    </a:ext>
                  </a:extLst>
                </a:gridCol>
                <a:gridCol w="983226">
                  <a:extLst>
                    <a:ext uri="{9D8B030D-6E8A-4147-A177-3AD203B41FA5}">
                      <a16:colId xmlns:a16="http://schemas.microsoft.com/office/drawing/2014/main" val="4154328401"/>
                    </a:ext>
                  </a:extLst>
                </a:gridCol>
                <a:gridCol w="1199535">
                  <a:extLst>
                    <a:ext uri="{9D8B030D-6E8A-4147-A177-3AD203B41FA5}">
                      <a16:colId xmlns:a16="http://schemas.microsoft.com/office/drawing/2014/main" val="2083799085"/>
                    </a:ext>
                  </a:extLst>
                </a:gridCol>
                <a:gridCol w="1101213">
                  <a:extLst>
                    <a:ext uri="{9D8B030D-6E8A-4147-A177-3AD203B41FA5}">
                      <a16:colId xmlns:a16="http://schemas.microsoft.com/office/drawing/2014/main" val="4232092587"/>
                    </a:ext>
                  </a:extLst>
                </a:gridCol>
                <a:gridCol w="1573161">
                  <a:extLst>
                    <a:ext uri="{9D8B030D-6E8A-4147-A177-3AD203B41FA5}">
                      <a16:colId xmlns:a16="http://schemas.microsoft.com/office/drawing/2014/main" val="3289706381"/>
                    </a:ext>
                  </a:extLst>
                </a:gridCol>
                <a:gridCol w="4080388">
                  <a:extLst>
                    <a:ext uri="{9D8B030D-6E8A-4147-A177-3AD203B41FA5}">
                      <a16:colId xmlns:a16="http://schemas.microsoft.com/office/drawing/2014/main" val="2919969174"/>
                    </a:ext>
                  </a:extLst>
                </a:gridCol>
                <a:gridCol w="1582992">
                  <a:extLst>
                    <a:ext uri="{9D8B030D-6E8A-4147-A177-3AD203B41FA5}">
                      <a16:colId xmlns:a16="http://schemas.microsoft.com/office/drawing/2014/main" val="2721593606"/>
                    </a:ext>
                  </a:extLst>
                </a:gridCol>
              </a:tblGrid>
              <a:tr h="64011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b="1" dirty="0"/>
                        <a:t>Table</a:t>
                      </a:r>
                      <a:r>
                        <a:rPr lang="en-IN" dirty="0"/>
                        <a:t> </a:t>
                      </a:r>
                      <a:r>
                        <a:rPr lang="en-IN" b="1" dirty="0"/>
                        <a:t>Name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b="1" dirty="0"/>
                        <a:t>No. of Rows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b="1" dirty="0"/>
                        <a:t>No. of Columns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b="1" dirty="0"/>
                        <a:t>Primary Key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b="1" dirty="0"/>
                        <a:t>Foreign Key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</a:pPr>
                      <a:r>
                        <a:rPr lang="en-IN" b="1" dirty="0"/>
                        <a:t>About Columns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b="1" dirty="0"/>
                        <a:t>Detail About Sheets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9066187"/>
                  </a:ext>
                </a:extLst>
              </a:tr>
              <a:tr h="1963922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b="1" i="1" dirty="0"/>
                        <a:t>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dirty="0"/>
                        <a:t>112650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dirty="0"/>
                        <a:t>Customer-Id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Product-Id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Store-Id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1" i="1" dirty="0"/>
                        <a:t>1. </a:t>
                      </a:r>
                      <a:r>
                        <a:rPr lang="en-US" dirty="0"/>
                        <a:t>Customer-id, order-id, product-id, Channel, Delivered-Store-ID, Bill-date-timestamp, Quantity, Cost Per Unit, MRP, Discount, Total Amount</a:t>
                      </a: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b="1" i="1" dirty="0"/>
                        <a:t>2. </a:t>
                      </a:r>
                      <a:r>
                        <a:rPr lang="en-US" b="0" i="0" dirty="0"/>
                        <a:t>98666 unique Orders For All 32951 Products Across 37 Stores From 7 States </a:t>
                      </a:r>
                      <a:endParaRPr lang="en-IN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dirty="0"/>
                        <a:t>Orders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208618"/>
                  </a:ext>
                </a:extLst>
              </a:tr>
              <a:tr h="11206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b="1" i="1" dirty="0"/>
                        <a:t>Order Payment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dirty="0"/>
                        <a:t>103886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i="1" dirty="0"/>
                        <a:t>1.   </a:t>
                      </a:r>
                      <a:r>
                        <a:rPr lang="en-US" sz="1800" b="0" dirty="0"/>
                        <a:t>Order-id, payment-type, payment-value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800" b="1" i="1" dirty="0"/>
                        <a:t>2.   </a:t>
                      </a:r>
                      <a:r>
                        <a:rPr lang="en-US" sz="1800" b="0" dirty="0"/>
                        <a:t>99440 Unique Orders According To Payment Details</a:t>
                      </a:r>
                      <a:endParaRPr lang="en-IN" sz="1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dirty="0"/>
                        <a:t>Orders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4398631"/>
                  </a:ext>
                </a:extLst>
              </a:tr>
              <a:tr h="142743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IN" b="1" i="1" dirty="0"/>
                        <a:t>Order Review 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dirty="0"/>
                        <a:t>100000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Order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 b="0" dirty="0"/>
                        <a:t>Order-id,                </a:t>
                      </a:r>
                    </a:p>
                    <a:p>
                      <a:pPr marL="0" indent="0">
                        <a:buNone/>
                      </a:pPr>
                      <a:r>
                        <a:rPr lang="en-US" b="0" dirty="0"/>
                        <a:t>        Customer-Satisfaction-Score</a:t>
                      </a:r>
                    </a:p>
                    <a:p>
                      <a:pPr marL="0" indent="0">
                        <a:buNone/>
                      </a:pPr>
                      <a:r>
                        <a:rPr lang="en-US" b="1" i="1" dirty="0"/>
                        <a:t>2</a:t>
                      </a:r>
                      <a:r>
                        <a:rPr lang="en-US" b="0" i="1" dirty="0"/>
                        <a:t>.    </a:t>
                      </a:r>
                      <a:r>
                        <a:rPr lang="en-US" b="0" dirty="0"/>
                        <a:t>99441 Unique Order id Including All 98666 </a:t>
                      </a:r>
                      <a:r>
                        <a:rPr lang="en-US" b="0" dirty="0" err="1"/>
                        <a:t>Ordes</a:t>
                      </a:r>
                      <a:r>
                        <a:rPr lang="en-US" b="0" dirty="0"/>
                        <a:t> id Given in </a:t>
                      </a:r>
                      <a:r>
                        <a:rPr lang="en-US" b="0" dirty="0" err="1"/>
                        <a:t>Ordes</a:t>
                      </a:r>
                      <a:r>
                        <a:rPr lang="en-US" b="0" dirty="0"/>
                        <a:t> Table.</a:t>
                      </a:r>
                      <a:endParaRPr lang="en-IN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dirty="0"/>
                        <a:t>Orders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8726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6821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8A395-413D-7FA2-3F2C-2DF41699E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25"/>
            <a:ext cx="10515600" cy="739536"/>
          </a:xfrm>
          <a:solidFill>
            <a:srgbClr val="0070C0"/>
          </a:solidFill>
          <a:ln>
            <a:solidFill>
              <a:schemeClr val="accent1"/>
            </a:solidFill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  <a:latin typeface="+mn-lt"/>
              </a:rPr>
              <a:t>Relationship Diagram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1F0013B-6F1F-77B2-1ACF-E94FC7A0DF6E}"/>
              </a:ext>
            </a:extLst>
          </p:cNvPr>
          <p:cNvSpPr/>
          <p:nvPr/>
        </p:nvSpPr>
        <p:spPr>
          <a:xfrm>
            <a:off x="4552334" y="1455177"/>
            <a:ext cx="3087329" cy="3908324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900F50-C27B-6AA1-BE3D-44C165AB5F9C}"/>
              </a:ext>
            </a:extLst>
          </p:cNvPr>
          <p:cNvSpPr txBox="1"/>
          <p:nvPr/>
        </p:nvSpPr>
        <p:spPr>
          <a:xfrm>
            <a:off x="4630990" y="2035276"/>
            <a:ext cx="3008673" cy="3139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Customer  ID (FK)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Order ID (FK)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Product ID (FK)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Channel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Delivered Store (FK)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Bill Date Time Stamp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Quantity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Cost/Unit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MRP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Discount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Total Amount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9711981-AAD4-F22F-ABEA-DDD81686B8EF}"/>
              </a:ext>
            </a:extLst>
          </p:cNvPr>
          <p:cNvCxnSpPr>
            <a:cxnSpLocks/>
          </p:cNvCxnSpPr>
          <p:nvPr/>
        </p:nvCxnSpPr>
        <p:spPr>
          <a:xfrm>
            <a:off x="4552334" y="1986114"/>
            <a:ext cx="308732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143288F-19EA-5DC4-7DBE-16F0EB09DD3C}"/>
              </a:ext>
            </a:extLst>
          </p:cNvPr>
          <p:cNvSpPr txBox="1"/>
          <p:nvPr/>
        </p:nvSpPr>
        <p:spPr>
          <a:xfrm>
            <a:off x="4719482" y="1508664"/>
            <a:ext cx="2753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i="1" dirty="0"/>
              <a:t>Order Table</a:t>
            </a:r>
          </a:p>
        </p:txBody>
      </p:sp>
      <p:sp>
        <p:nvSpPr>
          <p:cNvPr id="15" name="Rectangle: Top Corners Rounded 14">
            <a:extLst>
              <a:ext uri="{FF2B5EF4-FFF2-40B4-BE49-F238E27FC236}">
                <a16:creationId xmlns:a16="http://schemas.microsoft.com/office/drawing/2014/main" id="{1EB84BB0-8B78-05BA-D519-54C15D909680}"/>
              </a:ext>
            </a:extLst>
          </p:cNvPr>
          <p:cNvSpPr/>
          <p:nvPr/>
        </p:nvSpPr>
        <p:spPr>
          <a:xfrm>
            <a:off x="9016180" y="875073"/>
            <a:ext cx="2635045" cy="1385440"/>
          </a:xfrm>
          <a:prstGeom prst="round2Same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3D562A-E79B-DC93-B940-9C5B83A26F35}"/>
              </a:ext>
            </a:extLst>
          </p:cNvPr>
          <p:cNvSpPr txBox="1"/>
          <p:nvPr/>
        </p:nvSpPr>
        <p:spPr>
          <a:xfrm>
            <a:off x="9124337" y="1307688"/>
            <a:ext cx="26350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Order ID (FK)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Payment 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Payment Value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25195C8-FDF0-1485-ECCD-48C990E7D7FA}"/>
              </a:ext>
            </a:extLst>
          </p:cNvPr>
          <p:cNvCxnSpPr/>
          <p:nvPr/>
        </p:nvCxnSpPr>
        <p:spPr>
          <a:xfrm>
            <a:off x="8996520" y="1307690"/>
            <a:ext cx="263504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2C1B727-804C-8DD4-3150-EC02784B194D}"/>
              </a:ext>
            </a:extLst>
          </p:cNvPr>
          <p:cNvSpPr txBox="1"/>
          <p:nvPr/>
        </p:nvSpPr>
        <p:spPr>
          <a:xfrm>
            <a:off x="8937523" y="865237"/>
            <a:ext cx="2635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i="1" dirty="0"/>
              <a:t>Order Payment</a:t>
            </a:r>
          </a:p>
        </p:txBody>
      </p: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657E5F64-C4E9-ECFD-014F-000EE59E6226}"/>
              </a:ext>
            </a:extLst>
          </p:cNvPr>
          <p:cNvSpPr/>
          <p:nvPr/>
        </p:nvSpPr>
        <p:spPr>
          <a:xfrm>
            <a:off x="9134169" y="2408902"/>
            <a:ext cx="2635045" cy="1598649"/>
          </a:xfrm>
          <a:prstGeom prst="round2Same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52874F-D20D-AB00-7ACA-C78ABB08382A}"/>
              </a:ext>
            </a:extLst>
          </p:cNvPr>
          <p:cNvSpPr txBox="1"/>
          <p:nvPr/>
        </p:nvSpPr>
        <p:spPr>
          <a:xfrm>
            <a:off x="9153833" y="2841526"/>
            <a:ext cx="26350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Customer Id (PK)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Gender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F809253-3930-BDCD-8791-B65F18010235}"/>
              </a:ext>
            </a:extLst>
          </p:cNvPr>
          <p:cNvCxnSpPr/>
          <p:nvPr/>
        </p:nvCxnSpPr>
        <p:spPr>
          <a:xfrm>
            <a:off x="9134169" y="2841521"/>
            <a:ext cx="263504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11124FE-6258-CD01-BF49-B095F413A40D}"/>
              </a:ext>
            </a:extLst>
          </p:cNvPr>
          <p:cNvSpPr txBox="1"/>
          <p:nvPr/>
        </p:nvSpPr>
        <p:spPr>
          <a:xfrm>
            <a:off x="9271821" y="2418743"/>
            <a:ext cx="2369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i="1" dirty="0"/>
              <a:t>Customer</a:t>
            </a:r>
          </a:p>
        </p:txBody>
      </p:sp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id="{BD30F308-02C5-1EE6-E3FC-94BB809E96E9}"/>
              </a:ext>
            </a:extLst>
          </p:cNvPr>
          <p:cNvSpPr/>
          <p:nvPr/>
        </p:nvSpPr>
        <p:spPr>
          <a:xfrm>
            <a:off x="8642556" y="4119719"/>
            <a:ext cx="3224982" cy="1147774"/>
          </a:xfrm>
          <a:prstGeom prst="round2Same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4402B9-37BE-ED00-9AEA-793A189DB171}"/>
              </a:ext>
            </a:extLst>
          </p:cNvPr>
          <p:cNvSpPr txBox="1"/>
          <p:nvPr/>
        </p:nvSpPr>
        <p:spPr>
          <a:xfrm>
            <a:off x="8583562" y="4572002"/>
            <a:ext cx="3569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Order ID (PK)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Customer Satisfaction Score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0261742-B6CD-3AE3-E4D1-BF3033A0603A}"/>
              </a:ext>
            </a:extLst>
          </p:cNvPr>
          <p:cNvCxnSpPr/>
          <p:nvPr/>
        </p:nvCxnSpPr>
        <p:spPr>
          <a:xfrm>
            <a:off x="8642556" y="4542502"/>
            <a:ext cx="322498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D5B496D-1A64-CD10-3311-F9F0EF7B106A}"/>
              </a:ext>
            </a:extLst>
          </p:cNvPr>
          <p:cNvSpPr txBox="1"/>
          <p:nvPr/>
        </p:nvSpPr>
        <p:spPr>
          <a:xfrm>
            <a:off x="8691716" y="4139379"/>
            <a:ext cx="3146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i="1" dirty="0"/>
              <a:t>Order Review Rating</a:t>
            </a:r>
          </a:p>
        </p:txBody>
      </p:sp>
      <p:sp>
        <p:nvSpPr>
          <p:cNvPr id="30" name="Rectangle: Top Corners Rounded 29">
            <a:extLst>
              <a:ext uri="{FF2B5EF4-FFF2-40B4-BE49-F238E27FC236}">
                <a16:creationId xmlns:a16="http://schemas.microsoft.com/office/drawing/2014/main" id="{2B6EF92B-B72C-AA1A-56B8-928EF2ACED72}"/>
              </a:ext>
            </a:extLst>
          </p:cNvPr>
          <p:cNvSpPr/>
          <p:nvPr/>
        </p:nvSpPr>
        <p:spPr>
          <a:xfrm>
            <a:off x="879985" y="803787"/>
            <a:ext cx="2767777" cy="3315932"/>
          </a:xfrm>
          <a:prstGeom prst="round2Same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5A4761C-FF4A-755B-300B-772A2855D7AF}"/>
              </a:ext>
            </a:extLst>
          </p:cNvPr>
          <p:cNvSpPr txBox="1"/>
          <p:nvPr/>
        </p:nvSpPr>
        <p:spPr>
          <a:xfrm>
            <a:off x="840656" y="1288023"/>
            <a:ext cx="279727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Product ID (PK)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Category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Product Name Length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Product Description Length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Product Photo Quantity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Product Length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Product Height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Product width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B6C0372-B575-A0FF-20A0-7BCB7650D37F}"/>
              </a:ext>
            </a:extLst>
          </p:cNvPr>
          <p:cNvCxnSpPr/>
          <p:nvPr/>
        </p:nvCxnSpPr>
        <p:spPr>
          <a:xfrm>
            <a:off x="879985" y="1288023"/>
            <a:ext cx="276777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39E5D50-DF9E-16A7-F9E0-70B6E3F22A91}"/>
              </a:ext>
            </a:extLst>
          </p:cNvPr>
          <p:cNvSpPr txBox="1"/>
          <p:nvPr/>
        </p:nvSpPr>
        <p:spPr>
          <a:xfrm>
            <a:off x="879985" y="845574"/>
            <a:ext cx="26891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i="1" dirty="0"/>
              <a:t>Product Info</a:t>
            </a:r>
          </a:p>
        </p:txBody>
      </p:sp>
      <p:sp>
        <p:nvSpPr>
          <p:cNvPr id="36" name="Rectangle: Top Corners Rounded 35">
            <a:extLst>
              <a:ext uri="{FF2B5EF4-FFF2-40B4-BE49-F238E27FC236}">
                <a16:creationId xmlns:a16="http://schemas.microsoft.com/office/drawing/2014/main" id="{A49F8537-6938-CBDF-9474-56A3A3E8A53A}"/>
              </a:ext>
            </a:extLst>
          </p:cNvPr>
          <p:cNvSpPr/>
          <p:nvPr/>
        </p:nvSpPr>
        <p:spPr>
          <a:xfrm>
            <a:off x="1720645" y="4372345"/>
            <a:ext cx="1730474" cy="1681868"/>
          </a:xfrm>
          <a:prstGeom prst="round2Same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9430DFB-0B48-B33A-EE18-3BB99F3C4282}"/>
              </a:ext>
            </a:extLst>
          </p:cNvPr>
          <p:cNvSpPr txBox="1"/>
          <p:nvPr/>
        </p:nvSpPr>
        <p:spPr>
          <a:xfrm>
            <a:off x="1691144" y="4826536"/>
            <a:ext cx="21680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Store ID (PK)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Region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CF876B8-E5BC-2453-44AB-1FCF9F72F46E}"/>
              </a:ext>
            </a:extLst>
          </p:cNvPr>
          <p:cNvCxnSpPr/>
          <p:nvPr/>
        </p:nvCxnSpPr>
        <p:spPr>
          <a:xfrm>
            <a:off x="1700981" y="4768646"/>
            <a:ext cx="17698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28F1533F-B4CD-A856-DFB0-6A3E64836FF9}"/>
              </a:ext>
            </a:extLst>
          </p:cNvPr>
          <p:cNvSpPr txBox="1"/>
          <p:nvPr/>
        </p:nvSpPr>
        <p:spPr>
          <a:xfrm>
            <a:off x="1730479" y="4392011"/>
            <a:ext cx="17304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i="1" dirty="0"/>
              <a:t>Store Info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E516100A-247A-D06B-4004-C5279DD44E4A}"/>
              </a:ext>
            </a:extLst>
          </p:cNvPr>
          <p:cNvCxnSpPr/>
          <p:nvPr/>
        </p:nvCxnSpPr>
        <p:spPr>
          <a:xfrm flipV="1">
            <a:off x="7639663" y="1730477"/>
            <a:ext cx="1514170" cy="36379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464AF4A7-A6EA-76C5-E5B8-C8953A26698A}"/>
              </a:ext>
            </a:extLst>
          </p:cNvPr>
          <p:cNvCxnSpPr/>
          <p:nvPr/>
        </p:nvCxnSpPr>
        <p:spPr>
          <a:xfrm rot="10800000">
            <a:off x="7639663" y="2871019"/>
            <a:ext cx="1514170" cy="44245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3DCB199E-61F3-C1E3-94D2-85AAAFF5C095}"/>
              </a:ext>
            </a:extLst>
          </p:cNvPr>
          <p:cNvCxnSpPr/>
          <p:nvPr/>
        </p:nvCxnSpPr>
        <p:spPr>
          <a:xfrm rot="10800000">
            <a:off x="7718324" y="4336027"/>
            <a:ext cx="943897" cy="81607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0EF19387-84B0-1689-B596-37034565D947}"/>
              </a:ext>
            </a:extLst>
          </p:cNvPr>
          <p:cNvCxnSpPr/>
          <p:nvPr/>
        </p:nvCxnSpPr>
        <p:spPr>
          <a:xfrm flipV="1">
            <a:off x="3569106" y="4258164"/>
            <a:ext cx="884907" cy="86333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F18585C7-7C26-3AFC-8939-B28E4D08FA14}"/>
              </a:ext>
            </a:extLst>
          </p:cNvPr>
          <p:cNvCxnSpPr/>
          <p:nvPr/>
        </p:nvCxnSpPr>
        <p:spPr>
          <a:xfrm flipV="1">
            <a:off x="3647762" y="2307567"/>
            <a:ext cx="865243" cy="78467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67504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32D878AC-EAC2-8FC2-3C47-6219FCEC7510}"/>
              </a:ext>
            </a:extLst>
          </p:cNvPr>
          <p:cNvSpPr txBox="1"/>
          <p:nvPr/>
        </p:nvSpPr>
        <p:spPr>
          <a:xfrm>
            <a:off x="234462" y="638728"/>
            <a:ext cx="1165273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Total Records:</a:t>
            </a:r>
            <a:r>
              <a:rPr lang="en-US" sz="2000" dirty="0"/>
              <a:t> The table contains 99,441 rows, representing unique customers.</a:t>
            </a:r>
          </a:p>
          <a:p>
            <a:endParaRPr lang="en-US" sz="2000" dirty="0"/>
          </a:p>
          <a:p>
            <a:r>
              <a:rPr lang="en-US" sz="2000" b="1" dirty="0"/>
              <a:t>Number of Columns:</a:t>
            </a:r>
            <a:r>
              <a:rPr lang="en-US" sz="2000" dirty="0"/>
              <a:t> The table has 4 columns: </a:t>
            </a:r>
            <a:r>
              <a:rPr lang="en-US" b="1" dirty="0"/>
              <a:t>Cust ID, Customer-City, Customer-State, Gender</a:t>
            </a:r>
            <a:r>
              <a:rPr lang="en-US" sz="2000" b="1" dirty="0"/>
              <a:t>.</a:t>
            </a:r>
          </a:p>
          <a:p>
            <a:endParaRPr lang="en-US" sz="2000" dirty="0"/>
          </a:p>
          <a:p>
            <a:r>
              <a:rPr lang="en-US" sz="2000" b="1" dirty="0"/>
              <a:t>Primary Key:</a:t>
            </a:r>
            <a:r>
              <a:rPr lang="en-US" sz="2000" dirty="0"/>
              <a:t> The </a:t>
            </a:r>
            <a:r>
              <a:rPr lang="en-US" sz="2000" b="1" dirty="0"/>
              <a:t>Cust ID</a:t>
            </a:r>
            <a:r>
              <a:rPr lang="en-US" sz="2000" dirty="0"/>
              <a:t> column is the primary key, ensuring each customer is uniquely identified.</a:t>
            </a:r>
          </a:p>
          <a:p>
            <a:endParaRPr lang="en-US" sz="2000" dirty="0"/>
          </a:p>
          <a:p>
            <a:r>
              <a:rPr lang="en-US" sz="2000" b="1" dirty="0"/>
              <a:t>Duplicate Records:</a:t>
            </a:r>
            <a:r>
              <a:rPr lang="en-US" sz="2000" dirty="0"/>
              <a:t> There are no duplicate records in the table, indicating data integrity for unique customers.</a:t>
            </a:r>
          </a:p>
          <a:p>
            <a:endParaRPr lang="en-US" sz="2000" dirty="0"/>
          </a:p>
          <a:p>
            <a:r>
              <a:rPr lang="en-US" sz="2000" b="1" dirty="0"/>
              <a:t>Missing Values:</a:t>
            </a:r>
            <a:r>
              <a:rPr lang="en-US" sz="2000" dirty="0"/>
              <a:t> There is no missing value in Customers table.</a:t>
            </a:r>
          </a:p>
          <a:p>
            <a:endParaRPr lang="en-US" sz="2000" dirty="0"/>
          </a:p>
          <a:p>
            <a:r>
              <a:rPr lang="en-US" sz="2000" b="1" dirty="0"/>
              <a:t>Relationships:</a:t>
            </a:r>
            <a:r>
              <a:rPr lang="en-US" sz="2000" dirty="0"/>
              <a:t> The table connects to the </a:t>
            </a:r>
            <a:r>
              <a:rPr lang="en-US" sz="2000" b="1" dirty="0"/>
              <a:t>Orders</a:t>
            </a:r>
            <a:r>
              <a:rPr lang="en-US" sz="2000" dirty="0"/>
              <a:t> table using the </a:t>
            </a:r>
            <a:r>
              <a:rPr lang="en-US" sz="2000" b="1" dirty="0"/>
              <a:t>Cust ID</a:t>
            </a:r>
            <a:r>
              <a:rPr lang="en-US" sz="2000" dirty="0"/>
              <a:t> column, allowing analysis of customer orders.</a:t>
            </a:r>
          </a:p>
          <a:p>
            <a:endParaRPr lang="en-US" sz="2000" dirty="0"/>
          </a:p>
          <a:p>
            <a:r>
              <a:rPr lang="en-US" sz="2000" b="1" dirty="0"/>
              <a:t>Granularity:</a:t>
            </a:r>
            <a:r>
              <a:rPr lang="en-US" sz="2000" dirty="0"/>
              <a:t> The table stores information at the individual customer level.</a:t>
            </a:r>
          </a:p>
          <a:p>
            <a:endParaRPr lang="en-US" sz="2000" dirty="0"/>
          </a:p>
          <a:p>
            <a:r>
              <a:rPr lang="en-US" sz="2000" b="1" dirty="0"/>
              <a:t>Customer Segmentation:</a:t>
            </a:r>
            <a:r>
              <a:rPr lang="en-US" sz="2000" dirty="0"/>
              <a:t> Fields such as </a:t>
            </a:r>
            <a:r>
              <a:rPr lang="en-US" sz="2000" b="1" dirty="0"/>
              <a:t>Gender</a:t>
            </a:r>
            <a:r>
              <a:rPr lang="en-US" sz="2000" dirty="0"/>
              <a:t> or </a:t>
            </a:r>
            <a:r>
              <a:rPr lang="en-US" sz="2000" b="1" dirty="0"/>
              <a:t>Region</a:t>
            </a:r>
            <a:r>
              <a:rPr lang="en-US" sz="2000" dirty="0"/>
              <a:t> could allow for segmentation and targeted analysis.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398022A-320B-4178-58B9-70C156D3E3FD}"/>
              </a:ext>
            </a:extLst>
          </p:cNvPr>
          <p:cNvSpPr txBox="1"/>
          <p:nvPr/>
        </p:nvSpPr>
        <p:spPr>
          <a:xfrm>
            <a:off x="448887" y="0"/>
            <a:ext cx="11438313" cy="584775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  <a:sym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IN" dirty="0"/>
              <a:t>Observations for the Customer Table:</a:t>
            </a:r>
          </a:p>
        </p:txBody>
      </p:sp>
    </p:spTree>
    <p:extLst>
      <p:ext uri="{BB962C8B-B14F-4D97-AF65-F5344CB8AC3E}">
        <p14:creationId xmlns:p14="http://schemas.microsoft.com/office/powerpoint/2010/main" val="29229861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0A375D8-477B-6BDE-0A16-A453178523EA}"/>
              </a:ext>
            </a:extLst>
          </p:cNvPr>
          <p:cNvSpPr txBox="1"/>
          <p:nvPr/>
        </p:nvSpPr>
        <p:spPr>
          <a:xfrm>
            <a:off x="1124989" y="0"/>
            <a:ext cx="9942022" cy="584775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9pPr>
          </a:lstStyle>
          <a:p>
            <a:r>
              <a:rPr lang="en-US" dirty="0"/>
              <a:t>Observations for Products Info Table: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B3E9E6-A05D-5DAB-74BF-38BAEC23974E}"/>
              </a:ext>
            </a:extLst>
          </p:cNvPr>
          <p:cNvSpPr txBox="1"/>
          <p:nvPr/>
        </p:nvSpPr>
        <p:spPr>
          <a:xfrm>
            <a:off x="310342" y="778179"/>
            <a:ext cx="11571316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Total Records: </a:t>
            </a:r>
            <a:r>
              <a:rPr lang="en-US" sz="2400" dirty="0"/>
              <a:t>The table contains </a:t>
            </a:r>
            <a:r>
              <a:rPr lang="en-US" sz="2400" b="1" dirty="0"/>
              <a:t>32,951 records</a:t>
            </a:r>
            <a:r>
              <a:rPr lang="en-US" sz="2400" dirty="0"/>
              <a:t>, representing products.</a:t>
            </a:r>
          </a:p>
          <a:p>
            <a:endParaRPr lang="en-US" sz="1100" dirty="0"/>
          </a:p>
          <a:p>
            <a:r>
              <a:rPr lang="en-US" sz="2400" b="1" dirty="0"/>
              <a:t>Number of Columns: </a:t>
            </a:r>
            <a:r>
              <a:rPr lang="en-US" sz="2400" dirty="0"/>
              <a:t>The table has </a:t>
            </a:r>
            <a:r>
              <a:rPr lang="en-US" sz="2400" b="1" dirty="0"/>
              <a:t>9 columns</a:t>
            </a:r>
            <a:r>
              <a:rPr lang="en-US" sz="2400" dirty="0"/>
              <a:t>, </a:t>
            </a:r>
            <a:r>
              <a:rPr lang="en-US" sz="2400" b="1" dirty="0"/>
              <a:t>product id,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category</a:t>
            </a:r>
            <a:r>
              <a:rPr lang="en-US" sz="2400" b="1" dirty="0"/>
              <a:t>, product name length, </a:t>
            </a: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product description length</a:t>
            </a:r>
            <a:r>
              <a:rPr lang="en-US" sz="2400" b="1" dirty="0"/>
              <a:t>, product photos qty, </a:t>
            </a: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product weight g</a:t>
            </a:r>
            <a:r>
              <a:rPr lang="en-US" sz="2400" b="1" dirty="0"/>
              <a:t>, product length cm, </a:t>
            </a:r>
            <a:r>
              <a:rPr lang="en-US" sz="2400" b="1" dirty="0">
                <a:solidFill>
                  <a:schemeClr val="bg2">
                    <a:lumMod val="25000"/>
                  </a:schemeClr>
                </a:solidFill>
              </a:rPr>
              <a:t>product height cm</a:t>
            </a:r>
            <a:r>
              <a:rPr lang="en-US" sz="2400" b="1" dirty="0"/>
              <a:t>, </a:t>
            </a:r>
            <a:r>
              <a:rPr lang="en-US" sz="2400" dirty="0"/>
              <a:t>and </a:t>
            </a:r>
            <a:r>
              <a:rPr lang="en-US" sz="2400" b="1" dirty="0"/>
              <a:t>product width cm</a:t>
            </a:r>
            <a:r>
              <a:rPr lang="en-US" sz="2400" dirty="0"/>
              <a:t>.</a:t>
            </a:r>
          </a:p>
          <a:p>
            <a:endParaRPr lang="en-US" sz="2000" dirty="0"/>
          </a:p>
          <a:p>
            <a:r>
              <a:rPr lang="en-US" sz="2400" b="1" dirty="0"/>
              <a:t>Primary Key: </a:t>
            </a:r>
            <a:r>
              <a:rPr lang="en-US" sz="2400" dirty="0"/>
              <a:t>product id is the </a:t>
            </a:r>
            <a:r>
              <a:rPr lang="en-US" sz="2400" b="1" dirty="0"/>
              <a:t>primary key</a:t>
            </a:r>
            <a:r>
              <a:rPr lang="en-US" sz="2400" dirty="0"/>
              <a:t>, ensuring unique identification of products.</a:t>
            </a:r>
          </a:p>
          <a:p>
            <a:endParaRPr lang="en-US" sz="1100" dirty="0"/>
          </a:p>
          <a:p>
            <a:r>
              <a:rPr lang="en-US" sz="2400" b="1" dirty="0"/>
              <a:t>Missing Values: </a:t>
            </a:r>
            <a:r>
              <a:rPr lang="en-US" sz="2400" dirty="0"/>
              <a:t>category column has </a:t>
            </a:r>
            <a:r>
              <a:rPr lang="en-US" sz="2400" b="1" dirty="0"/>
              <a:t>#N/A</a:t>
            </a:r>
            <a:r>
              <a:rPr lang="en-US" sz="2400" dirty="0"/>
              <a:t> values and other missing values are present in different columns.</a:t>
            </a:r>
          </a:p>
          <a:p>
            <a:endParaRPr lang="en-US" sz="1100" dirty="0"/>
          </a:p>
          <a:p>
            <a:r>
              <a:rPr lang="en-US" sz="2400" b="1" dirty="0"/>
              <a:t>Relationships: </a:t>
            </a:r>
            <a:r>
              <a:rPr lang="en-US" sz="2400" dirty="0"/>
              <a:t>The table is related to the </a:t>
            </a:r>
            <a:r>
              <a:rPr lang="en-US" sz="2400" b="1" dirty="0"/>
              <a:t>Orders</a:t>
            </a:r>
            <a:r>
              <a:rPr lang="en-US" sz="2400" dirty="0"/>
              <a:t> table via product id.</a:t>
            </a:r>
          </a:p>
          <a:p>
            <a:endParaRPr lang="en-US" sz="1100" dirty="0"/>
          </a:p>
          <a:p>
            <a:r>
              <a:rPr lang="en-US" sz="2400" b="1" dirty="0"/>
              <a:t>Granularity: </a:t>
            </a:r>
            <a:r>
              <a:rPr lang="en-US" sz="2400" dirty="0"/>
              <a:t>The table records data at the </a:t>
            </a:r>
            <a:r>
              <a:rPr lang="en-US" sz="2400" b="1" dirty="0"/>
              <a:t>product level</a:t>
            </a:r>
            <a:r>
              <a:rPr lang="en-US" sz="2400" dirty="0"/>
              <a:t>, storing information about each product offered for sale.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09081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3BE8E-85CF-E061-BDC7-43E01FCFB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817487"/>
          </a:xfrm>
          <a:solidFill>
            <a:srgbClr val="0070C0"/>
          </a:solidFill>
          <a:ln>
            <a:solidFill>
              <a:schemeClr val="accent1"/>
            </a:solidFill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algn="ctr"/>
            <a:r>
              <a:rPr lang="en-IN" kern="1200" dirty="0">
                <a:solidFill>
                  <a:schemeClr val="bg1"/>
                </a:solidFill>
                <a:latin typeface="+mn-lt"/>
              </a:rPr>
              <a:t>Data Quality Issues (Part 01)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8E064-E2A0-026E-58E5-55A44AAC0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8374"/>
            <a:ext cx="10515600" cy="494788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+mn-lt"/>
              </a:rPr>
              <a:t>D1.</a:t>
            </a:r>
            <a:r>
              <a:rPr lang="en-US" sz="2800" dirty="0">
                <a:latin typeface="+mn-lt"/>
              </a:rPr>
              <a:t> In This Products-Info Table Have Multiple Null Values.</a:t>
            </a:r>
            <a:endParaRPr lang="en-IN" sz="2800" dirty="0">
              <a:latin typeface="+mn-lt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9F2B539-BC3C-160F-618E-8B17376B67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913" y="1710813"/>
            <a:ext cx="11460174" cy="22392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43B1912-19DB-2A06-5830-F81AFC1D6FAF}"/>
              </a:ext>
            </a:extLst>
          </p:cNvPr>
          <p:cNvSpPr txBox="1"/>
          <p:nvPr/>
        </p:nvSpPr>
        <p:spPr>
          <a:xfrm>
            <a:off x="838200" y="4043204"/>
            <a:ext cx="10515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D2.</a:t>
            </a:r>
            <a:r>
              <a:rPr lang="en-US" sz="2800" dirty="0"/>
              <a:t> In This Products-Info Table Have Zero Value In One Column.</a:t>
            </a:r>
            <a:endParaRPr lang="en-IN" sz="2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CFDEED1-BB06-08F7-CFB2-950CD673DE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913" y="4790108"/>
            <a:ext cx="11479227" cy="131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147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99EC2-C531-C5B1-B85B-9346AF135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797822"/>
          </a:xfrm>
          <a:solidFill>
            <a:srgbClr val="0070C0"/>
          </a:solidFill>
          <a:ln>
            <a:solidFill>
              <a:schemeClr val="accent1"/>
            </a:solidFill>
          </a:ln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algn="ctr"/>
            <a:r>
              <a:rPr lang="en-IN" kern="1200" dirty="0">
                <a:solidFill>
                  <a:schemeClr val="bg1"/>
                </a:solidFill>
                <a:latin typeface="+mn-lt"/>
              </a:rPr>
              <a:t>Data Quality Issues (Part 02)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C22B0-6AEA-2545-3F9F-F8BD5D3FF5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912" y="978644"/>
            <a:ext cx="11700386" cy="6043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+mn-lt"/>
              </a:rPr>
              <a:t>D3.</a:t>
            </a:r>
            <a:r>
              <a:rPr lang="en-US" sz="2400" dirty="0">
                <a:latin typeface="+mn-lt"/>
              </a:rPr>
              <a:t> In This Products-Info Table Have </a:t>
            </a:r>
            <a:r>
              <a:rPr lang="en-US" sz="2400" dirty="0">
                <a:latin typeface="+mn-lt"/>
                <a:cs typeface="Arial" panose="020B0604020202020204" pitchFamily="34" charset="0"/>
              </a:rPr>
              <a:t>#N/A </a:t>
            </a:r>
            <a:r>
              <a:rPr lang="en-US" sz="2400" dirty="0">
                <a:latin typeface="+mn-lt"/>
              </a:rPr>
              <a:t>Values In Category Columns.</a:t>
            </a:r>
            <a:endParaRPr lang="en-IN" sz="2400" dirty="0">
              <a:latin typeface="+mn-lt"/>
            </a:endParaRPr>
          </a:p>
          <a:p>
            <a:endParaRPr lang="en-IN"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CAFF19B-C17E-4E45-6C02-7526C48216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912" y="1582994"/>
            <a:ext cx="11460174" cy="209579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C5703DE-E55E-C51D-3C02-6A2C0124E8F7}"/>
              </a:ext>
            </a:extLst>
          </p:cNvPr>
          <p:cNvSpPr txBox="1"/>
          <p:nvPr/>
        </p:nvSpPr>
        <p:spPr>
          <a:xfrm>
            <a:off x="365912" y="3821471"/>
            <a:ext cx="117003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cs typeface="Arial" panose="020B0604020202020204" pitchFamily="34" charset="0"/>
              </a:rPr>
              <a:t>D4.</a:t>
            </a:r>
            <a:r>
              <a:rPr lang="en-US" sz="2400" dirty="0">
                <a:cs typeface="Arial" panose="020B0604020202020204" pitchFamily="34" charset="0"/>
              </a:rPr>
              <a:t>In Some Places </a:t>
            </a:r>
            <a:r>
              <a:rPr lang="en-IN" sz="2400" dirty="0">
                <a:cs typeface="Arial" panose="020B0604020202020204" pitchFamily="34" charset="0"/>
              </a:rPr>
              <a:t>product-name-length Is Longer Then product-description-length.</a:t>
            </a:r>
            <a:endParaRPr lang="en-US" sz="2400" dirty="0">
              <a:cs typeface="Arial" panose="020B0604020202020204" pitchFamily="34" charset="0"/>
            </a:endParaRP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1201E60-F4B3-EA38-C54F-6351C0E0F7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913" y="4426625"/>
            <a:ext cx="11460174" cy="171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9715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579A4F-88D8-18C2-AADC-B36331D607CB}"/>
              </a:ext>
            </a:extLst>
          </p:cNvPr>
          <p:cNvSpPr txBox="1"/>
          <p:nvPr/>
        </p:nvSpPr>
        <p:spPr>
          <a:xfrm>
            <a:off x="277089" y="672881"/>
            <a:ext cx="11637819" cy="55245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b="1" dirty="0"/>
              <a:t>Total Records:</a:t>
            </a:r>
            <a:r>
              <a:rPr lang="en-US" sz="2300" dirty="0"/>
              <a:t> The table contains 535 rows, representing store-level information.</a:t>
            </a:r>
          </a:p>
          <a:p>
            <a:endParaRPr lang="en-US" sz="2000" dirty="0"/>
          </a:p>
          <a:p>
            <a:r>
              <a:rPr lang="en-US" sz="2300" b="1" dirty="0"/>
              <a:t>Number of Columns:</a:t>
            </a:r>
            <a:r>
              <a:rPr lang="en-US" sz="2300" dirty="0"/>
              <a:t> The table has 4 columns, including </a:t>
            </a:r>
            <a:r>
              <a:rPr lang="en-US" sz="2300" b="1" dirty="0"/>
              <a:t>Store ID, Seller city, </a:t>
            </a:r>
          </a:p>
          <a:p>
            <a:r>
              <a:rPr lang="en-US" sz="2300" b="1" dirty="0"/>
              <a:t>Seller State, and Region</a:t>
            </a:r>
            <a:r>
              <a:rPr lang="en-US" sz="2300" dirty="0"/>
              <a:t>.</a:t>
            </a:r>
          </a:p>
          <a:p>
            <a:endParaRPr lang="en-US" sz="2000" dirty="0"/>
          </a:p>
          <a:p>
            <a:r>
              <a:rPr lang="en-US" sz="2300" b="1" dirty="0"/>
              <a:t>Primary Key:</a:t>
            </a:r>
            <a:r>
              <a:rPr lang="en-US" sz="2300" dirty="0"/>
              <a:t> Store ID serves as the primary key for identifying each store.</a:t>
            </a:r>
          </a:p>
          <a:p>
            <a:endParaRPr lang="en-US" sz="2000" dirty="0"/>
          </a:p>
          <a:p>
            <a:r>
              <a:rPr lang="en-US" sz="2300" b="1" dirty="0"/>
              <a:t>Duplicate Records:</a:t>
            </a:r>
            <a:r>
              <a:rPr lang="en-US" sz="2300" dirty="0"/>
              <a:t> The table contain one duplicates row for store id ST410.</a:t>
            </a:r>
            <a:br>
              <a:rPr lang="en-US" sz="2300" dirty="0"/>
            </a:br>
            <a:endParaRPr lang="en-US" sz="2000" b="1" dirty="0"/>
          </a:p>
          <a:p>
            <a:r>
              <a:rPr lang="en-US" sz="2300" b="1" dirty="0"/>
              <a:t>Relationships:</a:t>
            </a:r>
            <a:r>
              <a:rPr lang="en-US" sz="2300" dirty="0"/>
              <a:t> This table is related to the Orders table via Store ID.</a:t>
            </a:r>
          </a:p>
          <a:p>
            <a:br>
              <a:rPr lang="en-US" sz="2000" dirty="0"/>
            </a:br>
            <a:r>
              <a:rPr lang="en-US" sz="2300" b="1" dirty="0"/>
              <a:t>Granularity:</a:t>
            </a:r>
            <a:r>
              <a:rPr lang="en-US" sz="2300" dirty="0"/>
              <a:t> Data is stored at the store level, providing information about the locations where orders are fulfilled.</a:t>
            </a:r>
          </a:p>
          <a:p>
            <a:endParaRPr lang="en-US" sz="2000" dirty="0"/>
          </a:p>
          <a:p>
            <a:r>
              <a:rPr lang="en-US" sz="2300" b="1" dirty="0"/>
              <a:t>Behavioral Insights:</a:t>
            </a:r>
            <a:r>
              <a:rPr lang="en-US" sz="2300" dirty="0"/>
              <a:t> The table can be used to analyze sales performance by store, region, and store category.</a:t>
            </a:r>
            <a:endParaRPr lang="en-IN" sz="23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7B12F3-629F-7561-2233-A47C1EB91C55}"/>
              </a:ext>
            </a:extLst>
          </p:cNvPr>
          <p:cNvSpPr txBox="1"/>
          <p:nvPr/>
        </p:nvSpPr>
        <p:spPr>
          <a:xfrm>
            <a:off x="1598814" y="0"/>
            <a:ext cx="8994371" cy="584775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bg1"/>
                </a:solidFill>
              </a:rPr>
              <a:t>Observation for the store info table:</a:t>
            </a:r>
          </a:p>
        </p:txBody>
      </p:sp>
    </p:spTree>
    <p:extLst>
      <p:ext uri="{BB962C8B-B14F-4D97-AF65-F5344CB8AC3E}">
        <p14:creationId xmlns:p14="http://schemas.microsoft.com/office/powerpoint/2010/main" val="8171658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0E75C-5580-2F3B-94D8-4F1886C92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259939"/>
          </a:xfrm>
          <a:solidFill>
            <a:srgbClr val="0070C0"/>
          </a:solidFill>
        </p:spPr>
        <p:txBody>
          <a:bodyPr>
            <a:normAutofit/>
          </a:bodyPr>
          <a:lstStyle/>
          <a:p>
            <a:pPr algn="ctr"/>
            <a:r>
              <a:rPr lang="en-IN" sz="4800" dirty="0">
                <a:solidFill>
                  <a:schemeClr val="bg1"/>
                </a:solidFill>
                <a:latin typeface="+mn-lt"/>
              </a:rPr>
              <a:t>Data Quality Issues In Store-Info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0FACC-7342-8935-BB6F-467C617C2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56800"/>
            <a:ext cx="10515600" cy="63244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+mn-lt"/>
              </a:rPr>
              <a:t> In Store-Id Columns Only One Value Is Duplicate.</a:t>
            </a:r>
            <a:endParaRPr lang="en-IN" sz="2800" dirty="0">
              <a:latin typeface="+mn-lt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9676380-06A2-4205-D9B7-7ADDD7728E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6945" y="2733982"/>
            <a:ext cx="6998110" cy="1390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3151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AA6F25F-A5FB-BD1B-1F5A-8327FF526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5117753-2099-A560-41EE-9C9AB53EFBCA}"/>
              </a:ext>
            </a:extLst>
          </p:cNvPr>
          <p:cNvSpPr txBox="1"/>
          <p:nvPr/>
        </p:nvSpPr>
        <p:spPr>
          <a:xfrm>
            <a:off x="245806" y="800702"/>
            <a:ext cx="11759382" cy="51475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b="1" dirty="0"/>
              <a:t>Total Records:</a:t>
            </a:r>
            <a:r>
              <a:rPr lang="en-US" sz="2300" dirty="0"/>
              <a:t> The table contains 103886 rows, representing Order </a:t>
            </a:r>
            <a:r>
              <a:rPr lang="en-US" sz="2200" dirty="0"/>
              <a:t>Payment-level</a:t>
            </a:r>
            <a:r>
              <a:rPr lang="en-US" sz="2300" dirty="0"/>
              <a:t> information.</a:t>
            </a:r>
          </a:p>
          <a:p>
            <a:endParaRPr lang="en-US" sz="1050" dirty="0"/>
          </a:p>
          <a:p>
            <a:r>
              <a:rPr lang="en-US" sz="2300" b="1" dirty="0"/>
              <a:t>Number of Columns:</a:t>
            </a:r>
            <a:r>
              <a:rPr lang="en-US" sz="2300" dirty="0"/>
              <a:t> The table has 3 columns, including </a:t>
            </a:r>
            <a:r>
              <a:rPr lang="en-US" sz="2300" b="1" dirty="0"/>
              <a:t>order-id, payment-type(Credit-card, Debit-card, UPI/Case, Voucher) payment-value</a:t>
            </a:r>
            <a:r>
              <a:rPr lang="en-US" sz="2300" dirty="0"/>
              <a:t>.</a:t>
            </a:r>
          </a:p>
          <a:p>
            <a:endParaRPr lang="en-US" dirty="0"/>
          </a:p>
          <a:p>
            <a:r>
              <a:rPr lang="en-US" sz="2300" b="1" dirty="0"/>
              <a:t>Primary Key:</a:t>
            </a:r>
            <a:r>
              <a:rPr lang="en-US" sz="2300" dirty="0"/>
              <a:t> order-id serves as the primary key for identifying each store.</a:t>
            </a:r>
          </a:p>
          <a:p>
            <a:endParaRPr lang="en-US" sz="1050" dirty="0"/>
          </a:p>
          <a:p>
            <a:r>
              <a:rPr lang="en-US" sz="2300" b="1" dirty="0"/>
              <a:t>Duplicate Records:</a:t>
            </a:r>
            <a:r>
              <a:rPr lang="en-US" sz="2300" dirty="0"/>
              <a:t> The order-id contain 7407 duplicates row.</a:t>
            </a:r>
            <a:br>
              <a:rPr lang="en-US" sz="2300" dirty="0"/>
            </a:br>
            <a:endParaRPr lang="en-US" sz="1050" b="1" dirty="0"/>
          </a:p>
          <a:p>
            <a:r>
              <a:rPr lang="en-US" sz="2300" b="1" dirty="0"/>
              <a:t>Relationships:</a:t>
            </a:r>
            <a:r>
              <a:rPr lang="en-US" sz="2300" dirty="0"/>
              <a:t> This table is related to the Orders table via order-id.</a:t>
            </a:r>
          </a:p>
          <a:p>
            <a:br>
              <a:rPr lang="en-US" sz="1050" dirty="0"/>
            </a:br>
            <a:r>
              <a:rPr lang="en-US" sz="2300" b="1" dirty="0"/>
              <a:t>Granularity:</a:t>
            </a:r>
            <a:r>
              <a:rPr lang="en-US" sz="2300" dirty="0"/>
              <a:t> Data is stored at the Order-payment level, providing information about the payment type and payment value.</a:t>
            </a:r>
          </a:p>
          <a:p>
            <a:endParaRPr lang="en-US" sz="1050" dirty="0"/>
          </a:p>
          <a:p>
            <a:r>
              <a:rPr lang="en-US" sz="2300" b="1" dirty="0"/>
              <a:t>Behavioral Insights:</a:t>
            </a:r>
            <a:r>
              <a:rPr lang="en-US" sz="2300" dirty="0"/>
              <a:t> The table can be used to analyze sales performance by payment type and payment value.</a:t>
            </a:r>
            <a:endParaRPr lang="en-IN" sz="23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990312-AEA9-759E-AE72-72E390D86484}"/>
              </a:ext>
            </a:extLst>
          </p:cNvPr>
          <p:cNvSpPr txBox="1"/>
          <p:nvPr/>
        </p:nvSpPr>
        <p:spPr>
          <a:xfrm>
            <a:off x="1598814" y="0"/>
            <a:ext cx="8994371" cy="584775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bg1"/>
                </a:solidFill>
              </a:rPr>
              <a:t>Observation for Order Payment table:</a:t>
            </a:r>
          </a:p>
        </p:txBody>
      </p:sp>
    </p:spTree>
    <p:extLst>
      <p:ext uri="{BB962C8B-B14F-4D97-AF65-F5344CB8AC3E}">
        <p14:creationId xmlns:p14="http://schemas.microsoft.com/office/powerpoint/2010/main" val="21140102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098F5-038C-916B-6417-0F828B000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24"/>
            <a:ext cx="10515600" cy="611009"/>
          </a:xfrm>
          <a:solidFill>
            <a:srgbClr val="0070C0"/>
          </a:solidFill>
        </p:spPr>
        <p:txBody>
          <a:bodyPr>
            <a:noAutofit/>
          </a:bodyPr>
          <a:lstStyle/>
          <a:p>
            <a:pPr algn="ctr"/>
            <a:r>
              <a:rPr lang="en-IN" sz="3600" dirty="0">
                <a:solidFill>
                  <a:schemeClr val="bg1"/>
                </a:solidFill>
                <a:latin typeface="+mn-lt"/>
              </a:rPr>
              <a:t>Data Quality Issues In Order-payments</a:t>
            </a:r>
            <a:endParaRPr lang="en-IN" sz="36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81FD5-F012-9973-E12D-D290262B37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55583"/>
            <a:ext cx="10515600" cy="534117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+mn-lt"/>
                <a:cs typeface="Arial" panose="020B0604020202020204" pitchFamily="34" charset="0"/>
              </a:rPr>
              <a:t>In This Table Payment Value Column Have Zero Values.</a:t>
            </a:r>
          </a:p>
          <a:p>
            <a:endParaRPr lang="en-IN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E95541F-5A55-E94B-E9F6-467D405DC6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2448" y="1127534"/>
            <a:ext cx="5627103" cy="18862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0EE958-8DBA-988B-4F61-912DF4406196}"/>
              </a:ext>
            </a:extLst>
          </p:cNvPr>
          <p:cNvSpPr txBox="1"/>
          <p:nvPr/>
        </p:nvSpPr>
        <p:spPr>
          <a:xfrm>
            <a:off x="838200" y="3018510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FF0000"/>
                </a:solidFill>
                <a:cs typeface="Arial" panose="020B0604020202020204" pitchFamily="34" charset="0"/>
              </a:rPr>
              <a:t> </a:t>
            </a:r>
            <a:r>
              <a:rPr lang="en-US" sz="2400" dirty="0">
                <a:cs typeface="Arial" panose="020B0604020202020204" pitchFamily="34" charset="0"/>
              </a:rPr>
              <a:t>In This Table Order-id Column Have Multiple Duplicate Values.</a:t>
            </a: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DFF51C8-BA28-F3B1-C08D-2A9A5CDF25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2448" y="3503387"/>
            <a:ext cx="5627103" cy="2769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8819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>
            <a:alpha val="1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73C9031-B3ED-DE01-0FA1-AD5CB70E5518}"/>
              </a:ext>
            </a:extLst>
          </p:cNvPr>
          <p:cNvSpPr txBox="1"/>
          <p:nvPr/>
        </p:nvSpPr>
        <p:spPr>
          <a:xfrm>
            <a:off x="240889" y="785969"/>
            <a:ext cx="11710219" cy="5278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Total Records:</a:t>
            </a:r>
            <a:r>
              <a:rPr lang="en-US" sz="2200" dirty="0"/>
              <a:t> The table contains 100,000 records, representing reviews and ratings provided for orders.</a:t>
            </a:r>
          </a:p>
          <a:p>
            <a:endParaRPr lang="en-US" sz="1050" dirty="0"/>
          </a:p>
          <a:p>
            <a:r>
              <a:rPr lang="en-US" sz="2200" b="1" dirty="0"/>
              <a:t>Number of Columns:</a:t>
            </a:r>
            <a:r>
              <a:rPr lang="en-US" sz="2200" dirty="0"/>
              <a:t> The table has 2 columns: </a:t>
            </a:r>
            <a:r>
              <a:rPr lang="en-US" sz="2200" b="1" dirty="0"/>
              <a:t>Order ID, Customer Satisfaction Score</a:t>
            </a:r>
            <a:r>
              <a:rPr lang="en-US" sz="2100" b="1" dirty="0"/>
              <a:t>.</a:t>
            </a:r>
          </a:p>
          <a:p>
            <a:endParaRPr lang="en-US" sz="1050" b="1" dirty="0"/>
          </a:p>
          <a:p>
            <a:r>
              <a:rPr lang="en-US" sz="2200" b="1" dirty="0"/>
              <a:t>Primary Key:</a:t>
            </a:r>
            <a:r>
              <a:rPr lang="en-US" sz="2200" dirty="0"/>
              <a:t> </a:t>
            </a:r>
            <a:r>
              <a:rPr lang="en-US" sz="2200" b="1" dirty="0"/>
              <a:t>Store Id</a:t>
            </a:r>
            <a:r>
              <a:rPr lang="en-US" sz="2200" dirty="0"/>
              <a:t> serves as a primary key in this table.</a:t>
            </a:r>
          </a:p>
          <a:p>
            <a:endParaRPr lang="en-US" sz="1050" dirty="0"/>
          </a:p>
          <a:p>
            <a:r>
              <a:rPr lang="en-US" sz="2200" b="1" dirty="0"/>
              <a:t>Duplicate Records:</a:t>
            </a:r>
            <a:r>
              <a:rPr lang="en-US" sz="2200" dirty="0"/>
              <a:t> The table contains duplicates for orders that are reviewed multiple times and have multiple ratings for the same order id.</a:t>
            </a:r>
          </a:p>
          <a:p>
            <a:endParaRPr lang="en-US" sz="1050" dirty="0"/>
          </a:p>
          <a:p>
            <a:r>
              <a:rPr lang="en-US" sz="2200" b="1" dirty="0"/>
              <a:t>Missing Values:</a:t>
            </a:r>
            <a:r>
              <a:rPr lang="en-US" sz="2200" dirty="0"/>
              <a:t> Reviews and ratings may be missing, especially for customers who haven’t left feedback.</a:t>
            </a:r>
          </a:p>
          <a:p>
            <a:endParaRPr lang="en-US" sz="1050" dirty="0"/>
          </a:p>
          <a:p>
            <a:r>
              <a:rPr lang="en-US" sz="2200" b="1" dirty="0"/>
              <a:t>Relationships:</a:t>
            </a:r>
            <a:r>
              <a:rPr lang="en-US" sz="2200" dirty="0"/>
              <a:t> This table is linked to the </a:t>
            </a:r>
            <a:r>
              <a:rPr lang="en-US" sz="2200" b="1" dirty="0"/>
              <a:t>Orders</a:t>
            </a:r>
            <a:r>
              <a:rPr lang="en-US" sz="2200" dirty="0"/>
              <a:t> table via </a:t>
            </a:r>
            <a:r>
              <a:rPr lang="en-US" sz="2200" b="1" dirty="0"/>
              <a:t>Order ID.</a:t>
            </a:r>
          </a:p>
          <a:p>
            <a:endParaRPr lang="en-US" sz="1050" b="1" dirty="0"/>
          </a:p>
          <a:p>
            <a:r>
              <a:rPr lang="en-US" sz="2200" b="1" dirty="0"/>
              <a:t>Behavioral Insights:</a:t>
            </a:r>
            <a:r>
              <a:rPr lang="en-US" sz="2200" dirty="0"/>
              <a:t> Provides insights into customer satisfaction, product performance, and product review ratings.</a:t>
            </a:r>
          </a:p>
          <a:p>
            <a:endParaRPr lang="en-US" sz="1050" dirty="0"/>
          </a:p>
          <a:p>
            <a:r>
              <a:rPr lang="en-US" sz="2150" b="1" dirty="0"/>
              <a:t>Review Trends:</a:t>
            </a:r>
            <a:r>
              <a:rPr lang="en-US" sz="2150" dirty="0"/>
              <a:t> Allows tracking trends in customer feedback and product popularity over time.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0BF0E2-1E80-3931-CBF6-69B58B221E99}"/>
              </a:ext>
            </a:extLst>
          </p:cNvPr>
          <p:cNvSpPr txBox="1"/>
          <p:nvPr/>
        </p:nvSpPr>
        <p:spPr>
          <a:xfrm>
            <a:off x="1165122" y="0"/>
            <a:ext cx="9861755" cy="523220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chemeClr val="bg1"/>
                </a:solidFill>
              </a:rPr>
              <a:t>Observations for Order Review Ratings Table</a:t>
            </a:r>
            <a:r>
              <a:rPr lang="en-IN" sz="2000" b="1" dirty="0">
                <a:solidFill>
                  <a:schemeClr val="bg1"/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5261686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7F4FE-045E-3240-C27A-1F6920825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09600"/>
          </a:xfrm>
          <a:solidFill>
            <a:srgbClr val="0070C0"/>
          </a:solidFill>
        </p:spPr>
        <p:txBody>
          <a:bodyPr>
            <a:normAutofit fontScale="90000"/>
          </a:bodyPr>
          <a:lstStyle/>
          <a:p>
            <a:pPr algn="ctr"/>
            <a:r>
              <a:rPr lang="en-IN" sz="3200" dirty="0">
                <a:solidFill>
                  <a:schemeClr val="bg1"/>
                </a:solidFill>
                <a:latin typeface="+mn-lt"/>
              </a:rPr>
              <a:t>Data Quality Issues In Order-Review-Rating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5B959-1EDA-579E-AD7C-9EFC82331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5228"/>
            <a:ext cx="10515600" cy="726256"/>
          </a:xfrm>
        </p:spPr>
        <p:txBody>
          <a:bodyPr>
            <a:normAutofit fontScale="5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450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 </a:t>
            </a:r>
            <a:r>
              <a:rPr lang="en-US" sz="4500" dirty="0">
                <a:latin typeface="+mn-lt"/>
                <a:cs typeface="Arial" panose="020B0604020202020204" pitchFamily="34" charset="0"/>
              </a:rPr>
              <a:t>In This Table Order-id Column Have Multiple Duplicate Values And Different Customer-Satisfaction-score.</a:t>
            </a:r>
          </a:p>
          <a:p>
            <a:endParaRPr lang="en-IN" dirty="0"/>
          </a:p>
        </p:txBody>
      </p:sp>
      <p:pic>
        <p:nvPicPr>
          <p:cNvPr id="7" name="Picture 6" descr="A screenshot of a table&#10;&#10;AI-generated content may be incorrect.">
            <a:extLst>
              <a:ext uri="{FF2B5EF4-FFF2-40B4-BE49-F238E27FC236}">
                <a16:creationId xmlns:a16="http://schemas.microsoft.com/office/drawing/2014/main" id="{59769E78-BAA1-24CA-FE5D-92D9DD9CE6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5757" y="1910868"/>
            <a:ext cx="5000485" cy="4045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9083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4C67D94-2CC6-5950-D859-196729FCBFCF}"/>
              </a:ext>
            </a:extLst>
          </p:cNvPr>
          <p:cNvSpPr txBox="1"/>
          <p:nvPr/>
        </p:nvSpPr>
        <p:spPr>
          <a:xfrm>
            <a:off x="145868" y="861024"/>
            <a:ext cx="11900263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Total Records:</a:t>
            </a:r>
            <a:r>
              <a:rPr lang="en-US" sz="2000" dirty="0"/>
              <a:t> The table contains 112,650 rows.</a:t>
            </a:r>
          </a:p>
          <a:p>
            <a:endParaRPr lang="en-US" sz="2000" dirty="0"/>
          </a:p>
          <a:p>
            <a:r>
              <a:rPr lang="en-US" sz="2000" b="1" dirty="0"/>
              <a:t>Number of Columns:</a:t>
            </a:r>
            <a:r>
              <a:rPr lang="en-US" sz="2000" dirty="0"/>
              <a:t> The table has 11 columns, including </a:t>
            </a:r>
            <a:r>
              <a:rPr lang="en-US" sz="2000" b="1" dirty="0"/>
              <a:t>Customer id, Order ID, Product id, Channel (online, Phone Delivery, Instore), Delivered Store ID, Bill date timestamp, Quantity, Cost Per Unit, MRP, Discount, Total Amount.</a:t>
            </a:r>
          </a:p>
          <a:p>
            <a:endParaRPr lang="en-US" sz="2000" b="1" dirty="0"/>
          </a:p>
          <a:p>
            <a:r>
              <a:rPr lang="en-US" sz="2000" b="1" dirty="0"/>
              <a:t>Date Alignment Issue:</a:t>
            </a:r>
            <a:r>
              <a:rPr lang="en-US" sz="2000" dirty="0"/>
              <a:t> The </a:t>
            </a:r>
            <a:r>
              <a:rPr lang="en-US" sz="2000" b="1" dirty="0"/>
              <a:t>Bill date timestamp</a:t>
            </a:r>
            <a:r>
              <a:rPr lang="en-US" sz="2000" dirty="0"/>
              <a:t> values are inconsistently formatted, with some dates left-side and others right-side, indicating potential issues with date consistency or formatting that may require standardization for accurate analysis.</a:t>
            </a:r>
          </a:p>
          <a:p>
            <a:endParaRPr lang="en-US" sz="2000" dirty="0"/>
          </a:p>
          <a:p>
            <a:r>
              <a:rPr lang="en-US" sz="2000" b="1" dirty="0"/>
              <a:t>Duplicate Records:</a:t>
            </a:r>
            <a:r>
              <a:rPr lang="en-US" sz="2000" dirty="0"/>
              <a:t> The table contains duplicate records, such as multiple instances of the same order.</a:t>
            </a:r>
          </a:p>
          <a:p>
            <a:endParaRPr lang="en-US" sz="2000" dirty="0"/>
          </a:p>
          <a:p>
            <a:r>
              <a:rPr lang="en-US" sz="2000" b="1" dirty="0"/>
              <a:t>Missing Values:</a:t>
            </a:r>
            <a:r>
              <a:rPr lang="en-US" sz="2000" dirty="0"/>
              <a:t> Check for missing or incomplete data, especially for columns like </a:t>
            </a:r>
            <a:r>
              <a:rPr lang="en-US" sz="2000" b="1" dirty="0"/>
              <a:t>Order Date</a:t>
            </a:r>
            <a:r>
              <a:rPr lang="en-US" sz="2000" dirty="0"/>
              <a:t> or </a:t>
            </a:r>
            <a:r>
              <a:rPr lang="en-US" sz="2000" b="1" dirty="0"/>
              <a:t>Total Amount.</a:t>
            </a:r>
          </a:p>
          <a:p>
            <a:endParaRPr lang="en-US" sz="2000" b="1" dirty="0"/>
          </a:p>
          <a:p>
            <a:r>
              <a:rPr lang="en-US" sz="2000" b="1" dirty="0"/>
              <a:t>Relationships:</a:t>
            </a:r>
            <a:r>
              <a:rPr lang="en-US" sz="2000" dirty="0"/>
              <a:t> The Orders table is related to the </a:t>
            </a:r>
            <a:r>
              <a:rPr lang="en-US" sz="2000" b="1" dirty="0"/>
              <a:t>Customer</a:t>
            </a:r>
            <a:r>
              <a:rPr lang="en-US" sz="2000" dirty="0"/>
              <a:t> table through </a:t>
            </a:r>
            <a:r>
              <a:rPr lang="en-US" sz="2000" b="1" dirty="0"/>
              <a:t>Cust ID</a:t>
            </a:r>
            <a:r>
              <a:rPr lang="en-US" sz="2000" dirty="0"/>
              <a:t> and the </a:t>
            </a:r>
            <a:r>
              <a:rPr lang="en-US" sz="2000" b="1" dirty="0"/>
              <a:t>Products Info</a:t>
            </a:r>
            <a:r>
              <a:rPr lang="en-US" sz="2000" dirty="0"/>
              <a:t> table through </a:t>
            </a:r>
            <a:r>
              <a:rPr lang="en-US" sz="2000" b="1" dirty="0"/>
              <a:t>product id.</a:t>
            </a:r>
            <a:endParaRPr lang="en-US" sz="2000" dirty="0"/>
          </a:p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5401A3-DEDF-CC1C-AE50-A1245091B1CE}"/>
              </a:ext>
            </a:extLst>
          </p:cNvPr>
          <p:cNvSpPr txBox="1"/>
          <p:nvPr/>
        </p:nvSpPr>
        <p:spPr>
          <a:xfrm>
            <a:off x="417519" y="0"/>
            <a:ext cx="11248103" cy="584775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bg1"/>
                </a:solidFill>
              </a:rPr>
              <a:t>Observation for the Order Table:</a:t>
            </a:r>
          </a:p>
        </p:txBody>
      </p:sp>
    </p:spTree>
    <p:extLst>
      <p:ext uri="{BB962C8B-B14F-4D97-AF65-F5344CB8AC3E}">
        <p14:creationId xmlns:p14="http://schemas.microsoft.com/office/powerpoint/2010/main" val="11118846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31A10-B177-1105-B6E0-15950F028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488561" cy="635276"/>
          </a:xfrm>
          <a:solidFill>
            <a:srgbClr val="0070C0"/>
          </a:solidFill>
        </p:spPr>
        <p:txBody>
          <a:bodyPr>
            <a:no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  <a:latin typeface="+mn-lt"/>
              </a:rPr>
              <a:t>Orders Data Quality Issues (Part 01)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F70B9-FDAF-4B17-2AEE-38BBE183F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87" y="714586"/>
            <a:ext cx="12013815" cy="492444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FF0000"/>
                </a:solidFill>
                <a:latin typeface="+mn-lt"/>
              </a:rPr>
              <a:t>D1. </a:t>
            </a:r>
            <a:r>
              <a:rPr lang="en-US" sz="2400" dirty="0">
                <a:latin typeface="+mn-lt"/>
              </a:rPr>
              <a:t>Some Customer-id ,order-id, product-id Are Same But Quantity Is Increasing.</a:t>
            </a:r>
            <a:endParaRPr lang="en-IN" sz="2400" dirty="0"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6F759B-2851-F80C-A001-721B235E6F45}"/>
              </a:ext>
            </a:extLst>
          </p:cNvPr>
          <p:cNvSpPr txBox="1"/>
          <p:nvPr/>
        </p:nvSpPr>
        <p:spPr>
          <a:xfrm>
            <a:off x="88486" y="3529425"/>
            <a:ext cx="120138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D2. </a:t>
            </a:r>
            <a:r>
              <a:rPr lang="en-US" sz="2400" dirty="0"/>
              <a:t>The same order ID is linked to multiple customer IDs.</a:t>
            </a:r>
            <a:endParaRPr lang="en-IN" sz="2400" dirty="0"/>
          </a:p>
        </p:txBody>
      </p:sp>
      <p:pic>
        <p:nvPicPr>
          <p:cNvPr id="20" name="Picture 19" descr="A white background with text&#10;&#10;AI-generated content may be incorrect.">
            <a:extLst>
              <a:ext uri="{FF2B5EF4-FFF2-40B4-BE49-F238E27FC236}">
                <a16:creationId xmlns:a16="http://schemas.microsoft.com/office/drawing/2014/main" id="{DD36D7CB-8409-9E77-F4C9-CD9A7AE2D0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86" y="1275498"/>
            <a:ext cx="12013815" cy="2185459"/>
          </a:xfrm>
          <a:prstGeom prst="rect">
            <a:avLst/>
          </a:prstGeom>
        </p:spPr>
      </p:pic>
      <p:pic>
        <p:nvPicPr>
          <p:cNvPr id="22" name="Picture 2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D02B821-B3BD-D50C-26A6-3A649F93F8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86" y="4059558"/>
            <a:ext cx="12013815" cy="2174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8487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7159AEC-7D2C-85F7-E628-068DE05A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662781"/>
          </a:xfr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  <a:latin typeface="+mn-lt"/>
              </a:rPr>
              <a:t>Orders Data Quality Issues (Part 02)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747FB1-D6C0-CD8E-B812-5B23AB97DD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58" y="694758"/>
            <a:ext cx="12034684" cy="42596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+mn-lt"/>
              </a:rPr>
              <a:t>D3. </a:t>
            </a:r>
            <a:r>
              <a:rPr lang="en-US" sz="2800" dirty="0">
                <a:latin typeface="+mn-lt"/>
              </a:rPr>
              <a:t>The same order ID appears under different store IDs.</a:t>
            </a:r>
            <a:endParaRPr lang="en-IN" sz="2800" dirty="0"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B32544-77B5-7DE7-AAB6-A390B5458D9F}"/>
              </a:ext>
            </a:extLst>
          </p:cNvPr>
          <p:cNvSpPr txBox="1"/>
          <p:nvPr/>
        </p:nvSpPr>
        <p:spPr>
          <a:xfrm>
            <a:off x="147484" y="3675487"/>
            <a:ext cx="119658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D4. </a:t>
            </a:r>
            <a:r>
              <a:rPr lang="en-US" sz="2800" dirty="0"/>
              <a:t>Some orders have more than one bill date timestamp recorded.</a:t>
            </a:r>
            <a:endParaRPr lang="en-IN" sz="2800" dirty="0"/>
          </a:p>
        </p:txBody>
      </p:sp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42C1C1B-CA2E-7AB1-C718-010FEDD3DE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84" y="1267336"/>
            <a:ext cx="11877368" cy="2379522"/>
          </a:xfrm>
          <a:prstGeom prst="rect">
            <a:avLst/>
          </a:prstGeom>
        </p:spPr>
      </p:pic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0183F0F-8FC0-09E7-1A4A-55EA3C8383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483" y="4260263"/>
            <a:ext cx="11877367" cy="194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4346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60F5A77-15A4-7814-DD39-1E79BFBCC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673190"/>
          </a:xfr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  <a:latin typeface="+mn-lt"/>
              </a:rPr>
              <a:t>Orders Data Quality Issues (Part 03)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4B4E2-96D7-41F0-A737-CA21E0BB5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737" y="928984"/>
            <a:ext cx="11995354" cy="9765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+mn-lt"/>
              </a:rPr>
              <a:t>D5.</a:t>
            </a:r>
            <a:r>
              <a:rPr lang="en-US" sz="2800" dirty="0">
                <a:latin typeface="+mn-lt"/>
              </a:rPr>
              <a:t> Same Order ID and Product ID appear with different MRPs, but Cost and Total Amount remain the same due to discounts.</a:t>
            </a:r>
            <a:endParaRPr lang="en-IN" sz="2800" dirty="0">
              <a:latin typeface="+mn-lt"/>
            </a:endParaRP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31BC1A9-2B9D-C371-A12D-56628B9CF8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737" y="2133600"/>
            <a:ext cx="11926526" cy="3106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9282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E54A1AE-31ED-31B5-FA41-2C61CFF2C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24"/>
            <a:ext cx="10515600" cy="915808"/>
          </a:xfr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  <a:latin typeface="+mn-lt"/>
              </a:rPr>
              <a:t>Data Quality Issues (Part 04)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7B304-4EC0-2798-C695-F5F7F67A5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73451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600" dirty="0">
                <a:latin typeface="+mn-lt"/>
              </a:rPr>
              <a:t>During data mapping, inconsistencies were identified across tables.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>
                <a:latin typeface="+mn-lt"/>
              </a:rPr>
              <a:t>The Orders table records 98,666 unique order IDs, the </a:t>
            </a:r>
            <a:r>
              <a:rPr lang="en-US" sz="1600" dirty="0" err="1">
                <a:latin typeface="+mn-lt"/>
              </a:rPr>
              <a:t>OrderPayments</a:t>
            </a:r>
            <a:r>
              <a:rPr lang="en-US" sz="1600" dirty="0">
                <a:latin typeface="+mn-lt"/>
              </a:rPr>
              <a:t> table has 99,440, and the </a:t>
            </a:r>
            <a:r>
              <a:rPr lang="en-US" sz="1600" dirty="0" err="1">
                <a:latin typeface="+mn-lt"/>
              </a:rPr>
              <a:t>OrderReview_Ratings</a:t>
            </a:r>
            <a:r>
              <a:rPr lang="en-US" sz="1600" dirty="0">
                <a:latin typeface="+mn-lt"/>
              </a:rPr>
              <a:t> table contains 99,441 unique order IDs.</a:t>
            </a:r>
          </a:p>
          <a:p>
            <a:endParaRPr lang="en-US" sz="1600" dirty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>
                <a:latin typeface="+mn-lt"/>
              </a:rPr>
              <a:t>Further analysis revealed:</a:t>
            </a:r>
          </a:p>
          <a:p>
            <a:endParaRPr lang="en-US" sz="1600" dirty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>
                <a:latin typeface="+mn-lt"/>
              </a:rPr>
              <a:t>The </a:t>
            </a:r>
            <a:r>
              <a:rPr lang="en-US" sz="1600" b="1" i="1" dirty="0">
                <a:latin typeface="+mn-lt"/>
              </a:rPr>
              <a:t>Order ID</a:t>
            </a:r>
            <a:r>
              <a:rPr lang="en-US" sz="1600" dirty="0">
                <a:latin typeface="+mn-lt"/>
              </a:rPr>
              <a:t> (</a:t>
            </a:r>
            <a:r>
              <a:rPr lang="en-US" sz="1600" b="1" dirty="0">
                <a:latin typeface="+mn-lt"/>
              </a:rPr>
              <a:t>bfbd0f9bde84302105ad72db648a66c)</a:t>
            </a:r>
            <a:r>
              <a:rPr lang="en-US" sz="1600" dirty="0">
                <a:latin typeface="+mn-lt"/>
              </a:rPr>
              <a:t> exists in Orders but lacks a payment record in </a:t>
            </a:r>
            <a:r>
              <a:rPr lang="en-US" sz="1600" dirty="0" err="1">
                <a:latin typeface="+mn-lt"/>
              </a:rPr>
              <a:t>OrderPayments</a:t>
            </a:r>
            <a:r>
              <a:rPr lang="en-US" sz="1600" dirty="0">
                <a:latin typeface="+mn-lt"/>
              </a:rPr>
              <a:t>.</a:t>
            </a:r>
          </a:p>
          <a:p>
            <a:endParaRPr lang="en-US" sz="1600" dirty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>
                <a:latin typeface="+mn-lt"/>
              </a:rPr>
              <a:t>775 payments exist in </a:t>
            </a:r>
            <a:r>
              <a:rPr lang="en-US" sz="1600" dirty="0" err="1">
                <a:latin typeface="+mn-lt"/>
              </a:rPr>
              <a:t>OrderPayments</a:t>
            </a:r>
            <a:r>
              <a:rPr lang="en-US" sz="1600" dirty="0">
                <a:latin typeface="+mn-lt"/>
              </a:rPr>
              <a:t> without corresponding entries in Orders.</a:t>
            </a:r>
          </a:p>
          <a:p>
            <a:endParaRPr lang="en-US" sz="1600" dirty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>
                <a:latin typeface="+mn-lt"/>
              </a:rPr>
              <a:t>775 reviews exist in </a:t>
            </a:r>
            <a:r>
              <a:rPr lang="en-US" sz="1600" dirty="0" err="1">
                <a:latin typeface="+mn-lt"/>
              </a:rPr>
              <a:t>OrderReview_Ratings</a:t>
            </a:r>
            <a:r>
              <a:rPr lang="en-US" sz="1600" dirty="0">
                <a:latin typeface="+mn-lt"/>
              </a:rPr>
              <a:t> without matching orders in Orders.</a:t>
            </a:r>
          </a:p>
          <a:p>
            <a:endParaRPr lang="en-US" sz="1600" dirty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>
                <a:latin typeface="+mn-lt"/>
              </a:rPr>
              <a:t>Moreover, while customers are spread across 20 states, stores operate in only 19 states — Goa has no store presence.</a:t>
            </a:r>
            <a:endParaRPr lang="en-IN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263910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F90A0-D1EB-E7B7-45A9-004AB044C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12901"/>
          </a:xfr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  <a:latin typeface="+mn-lt"/>
              </a:rPr>
              <a:t>Data Cleaning Guidelines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F26468-8DEE-8F87-8FF4-121ED8A49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755" y="1019377"/>
            <a:ext cx="10636045" cy="5056958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Exclude orders where the Net Amount and Payment Value do not match.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For orders linked with multiple customers, keep the most relevant customer ID or remove such entries.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Combine records where the same order ID appears with different products; calculate using total quantity and amount.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Standardize multiple bill date timestamps by keeping a single, consistent date.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Handle multiple store IDs in the same way — retain only one valid store per order.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Average out multiple customer ratings for a single order.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Remove duplicate store IDs from the Stores Info table.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Unify all bill date timestamps in a consistent datetime format.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Treat discount values as numeric (not percentage) since some exceed 100.</a:t>
            </a: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Assume all monetary values are in INR where currency is not specified.</a:t>
            </a:r>
            <a:endParaRPr lang="en-IN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43217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338DF-F3C6-D303-9268-030E692B9E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878" y="2506662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000" dirty="0">
                <a:solidFill>
                  <a:srgbClr val="FF0000"/>
                </a:solidFill>
                <a:latin typeface="+mn-lt"/>
              </a:rPr>
              <a:t>Store 360 Table</a:t>
            </a:r>
            <a:endParaRPr lang="en-IN" sz="6000" dirty="0">
              <a:solidFill>
                <a:srgbClr val="FF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596086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C1B0D-A5F3-9251-3CD4-D709EFAE5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81037"/>
          </a:xfr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  <a:latin typeface="+mn-lt"/>
              </a:rPr>
              <a:t>Observations for the 360 Store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4429F-80E1-D676-B55B-2F16686C7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94735"/>
            <a:ext cx="10515600" cy="5201266"/>
          </a:xfrm>
        </p:spPr>
        <p:txBody>
          <a:bodyPr>
            <a:normAutofit/>
          </a:bodyPr>
          <a:lstStyle/>
          <a:p>
            <a:r>
              <a:rPr lang="en-US" sz="2200" dirty="0">
                <a:latin typeface="+mn-lt"/>
              </a:rPr>
              <a:t>Store 360 provides a </a:t>
            </a:r>
            <a:r>
              <a:rPr lang="en-US" sz="2200" b="1" dirty="0">
                <a:latin typeface="+mn-lt"/>
              </a:rPr>
              <a:t>comprehensive analytical view</a:t>
            </a:r>
            <a:r>
              <a:rPr lang="en-US" sz="2200" dirty="0">
                <a:latin typeface="+mn-lt"/>
              </a:rPr>
              <a:t> of each store’s operational, financial, and experiential performance — integrating sales, payment, profitability, customer reach, and channel effectiveness.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b="1" u="sng" dirty="0">
                <a:solidFill>
                  <a:srgbClr val="FF0000"/>
                </a:solidFill>
                <a:latin typeface="+mn-lt"/>
              </a:rPr>
              <a:t>Purpose:</a:t>
            </a:r>
          </a:p>
          <a:p>
            <a:pPr marL="285750" indent="-285750"/>
            <a:r>
              <a:rPr lang="en-US" sz="2200" dirty="0">
                <a:latin typeface="+mn-lt"/>
              </a:rPr>
              <a:t>To evaluate store-level </a:t>
            </a:r>
            <a:r>
              <a:rPr lang="en-US" sz="2200" b="1" dirty="0">
                <a:latin typeface="+mn-lt"/>
              </a:rPr>
              <a:t>sales performance</a:t>
            </a:r>
            <a:r>
              <a:rPr lang="en-US" sz="2200" dirty="0">
                <a:latin typeface="+mn-lt"/>
              </a:rPr>
              <a:t>, </a:t>
            </a:r>
            <a:r>
              <a:rPr lang="en-US" sz="2200" b="1" dirty="0">
                <a:latin typeface="+mn-lt"/>
              </a:rPr>
              <a:t>profitability</a:t>
            </a:r>
            <a:r>
              <a:rPr lang="en-US" sz="2200" dirty="0">
                <a:latin typeface="+mn-lt"/>
              </a:rPr>
              <a:t>, and </a:t>
            </a:r>
            <a:r>
              <a:rPr lang="en-US" sz="2200" b="1" dirty="0">
                <a:latin typeface="+mn-lt"/>
              </a:rPr>
              <a:t>customer engagement</a:t>
            </a:r>
          </a:p>
          <a:p>
            <a:pPr marL="285750" indent="-285750"/>
            <a:r>
              <a:rPr lang="en-US" sz="2200" dirty="0">
                <a:latin typeface="+mn-lt"/>
              </a:rPr>
              <a:t>To identify </a:t>
            </a:r>
            <a:r>
              <a:rPr lang="en-US" sz="2200" b="1" dirty="0">
                <a:latin typeface="+mn-lt"/>
              </a:rPr>
              <a:t>best-performing</a:t>
            </a:r>
            <a:r>
              <a:rPr lang="en-US" sz="2200" dirty="0">
                <a:latin typeface="+mn-lt"/>
              </a:rPr>
              <a:t> stores and </a:t>
            </a:r>
            <a:r>
              <a:rPr lang="en-US" sz="2200" b="1" dirty="0">
                <a:latin typeface="+mn-lt"/>
              </a:rPr>
              <a:t>improvement opportunities</a:t>
            </a:r>
            <a:r>
              <a:rPr lang="en-US" sz="2200" dirty="0">
                <a:latin typeface="+mn-lt"/>
              </a:rPr>
              <a:t>.</a:t>
            </a:r>
          </a:p>
          <a:p>
            <a:pPr marL="285750" indent="-285750"/>
            <a:r>
              <a:rPr lang="en-US" sz="2200" dirty="0">
                <a:latin typeface="+mn-lt"/>
              </a:rPr>
              <a:t>To provide data for </a:t>
            </a:r>
            <a:r>
              <a:rPr lang="en-US" sz="2200" b="1" dirty="0">
                <a:latin typeface="+mn-lt"/>
              </a:rPr>
              <a:t>regional benchmarking</a:t>
            </a:r>
            <a:r>
              <a:rPr lang="en-US" sz="2200" dirty="0">
                <a:latin typeface="+mn-lt"/>
              </a:rPr>
              <a:t> and </a:t>
            </a:r>
            <a:r>
              <a:rPr lang="en-US" sz="2200" b="1" dirty="0">
                <a:latin typeface="+mn-lt"/>
              </a:rPr>
              <a:t>strategic decision-making</a:t>
            </a:r>
            <a:r>
              <a:rPr lang="en-US" sz="2200" dirty="0">
                <a:latin typeface="+mn-lt"/>
              </a:rPr>
              <a:t>.</a:t>
            </a:r>
            <a:endParaRPr lang="en-IN" sz="2200" dirty="0">
              <a:latin typeface="+mn-lt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b="1" u="sng" dirty="0">
                <a:solidFill>
                  <a:srgbClr val="FF0000"/>
                </a:solidFill>
                <a:latin typeface="+mn-lt"/>
              </a:rPr>
              <a:t>Business Impact:</a:t>
            </a:r>
          </a:p>
          <a:p>
            <a:pPr marL="285750" indent="-285750"/>
            <a:r>
              <a:rPr lang="en-US" sz="2200" dirty="0">
                <a:latin typeface="+mn-lt"/>
              </a:rPr>
              <a:t>Enables </a:t>
            </a:r>
            <a:r>
              <a:rPr lang="en-US" sz="2200" b="1" dirty="0">
                <a:latin typeface="+mn-lt"/>
              </a:rPr>
              <a:t>store performance ranking</a:t>
            </a:r>
            <a:r>
              <a:rPr lang="en-US" sz="2200" dirty="0">
                <a:latin typeface="+mn-lt"/>
              </a:rPr>
              <a:t> by revenue, margin, and satisfaction. To identify </a:t>
            </a:r>
            <a:r>
              <a:rPr lang="en-US" sz="2200" b="1" dirty="0">
                <a:latin typeface="+mn-lt"/>
              </a:rPr>
              <a:t>best-performing</a:t>
            </a:r>
            <a:r>
              <a:rPr lang="en-US" sz="2200" dirty="0">
                <a:latin typeface="+mn-lt"/>
              </a:rPr>
              <a:t> stores and </a:t>
            </a:r>
            <a:r>
              <a:rPr lang="en-US" sz="2200" b="1" dirty="0">
                <a:latin typeface="+mn-lt"/>
              </a:rPr>
              <a:t>improvement opportunities</a:t>
            </a:r>
            <a:r>
              <a:rPr lang="en-US" sz="2200" dirty="0">
                <a:latin typeface="+mn-lt"/>
              </a:rPr>
              <a:t>.</a:t>
            </a:r>
          </a:p>
          <a:p>
            <a:pPr marL="285750" indent="-285750"/>
            <a:r>
              <a:rPr lang="en-US" sz="2200" dirty="0">
                <a:latin typeface="+mn-lt"/>
              </a:rPr>
              <a:t>Improves </a:t>
            </a:r>
            <a:r>
              <a:rPr lang="en-US" sz="2200" b="1" dirty="0">
                <a:latin typeface="+mn-lt"/>
              </a:rPr>
              <a:t>inventory allocation</a:t>
            </a:r>
            <a:r>
              <a:rPr lang="en-US" sz="2200" dirty="0">
                <a:latin typeface="+mn-lt"/>
              </a:rPr>
              <a:t>, </a:t>
            </a:r>
            <a:r>
              <a:rPr lang="en-US" sz="2200" b="1" dirty="0">
                <a:latin typeface="+mn-lt"/>
              </a:rPr>
              <a:t>channel mix</a:t>
            </a:r>
            <a:r>
              <a:rPr lang="en-US" sz="2200" dirty="0">
                <a:latin typeface="+mn-lt"/>
              </a:rPr>
              <a:t>, and </a:t>
            </a:r>
            <a:r>
              <a:rPr lang="en-US" sz="2200" b="1" dirty="0">
                <a:latin typeface="+mn-lt"/>
              </a:rPr>
              <a:t>store operations</a:t>
            </a:r>
            <a:r>
              <a:rPr lang="en-US" sz="2200" dirty="0">
                <a:latin typeface="+mn-lt"/>
              </a:rPr>
              <a:t>.</a:t>
            </a:r>
          </a:p>
          <a:p>
            <a:pPr marL="285750" indent="-285750"/>
            <a:r>
              <a:rPr lang="en-US" sz="2200" dirty="0">
                <a:latin typeface="+mn-lt"/>
              </a:rPr>
              <a:t>Identifies </a:t>
            </a:r>
            <a:r>
              <a:rPr lang="en-US" sz="2200" b="1" dirty="0">
                <a:latin typeface="+mn-lt"/>
              </a:rPr>
              <a:t>payment and product trends</a:t>
            </a:r>
            <a:r>
              <a:rPr lang="en-US" sz="2200" dirty="0">
                <a:latin typeface="+mn-lt"/>
              </a:rPr>
              <a:t> at a regional level.</a:t>
            </a:r>
          </a:p>
          <a:p>
            <a:pPr marL="285750" indent="-285750"/>
            <a:r>
              <a:rPr lang="en-US" sz="2200" dirty="0">
                <a:latin typeface="+mn-lt"/>
              </a:rPr>
              <a:t>Strengthens </a:t>
            </a:r>
            <a:r>
              <a:rPr lang="en-US" sz="2200" b="1" dirty="0">
                <a:latin typeface="+mn-lt"/>
              </a:rPr>
              <a:t>profit and efficiency management</a:t>
            </a:r>
            <a:r>
              <a:rPr lang="en-US" sz="2200" dirty="0">
                <a:latin typeface="+mn-lt"/>
              </a:rPr>
              <a:t> across locations.</a:t>
            </a:r>
            <a:endParaRPr lang="en-IN" sz="2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839820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6E2D6-76C6-7F78-901C-B2A58F305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24"/>
            <a:ext cx="10515600" cy="672613"/>
          </a:xfr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+mn-lt"/>
              </a:rPr>
              <a:t>Detail About Store 360</a:t>
            </a:r>
            <a:endParaRPr lang="en-IN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EE4AD-5C2E-507B-487A-F908C061A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368" y="852232"/>
            <a:ext cx="10515600" cy="5312594"/>
          </a:xfrm>
        </p:spPr>
        <p:txBody>
          <a:bodyPr>
            <a:normAutofit/>
          </a:bodyPr>
          <a:lstStyle/>
          <a:p>
            <a:r>
              <a:rPr lang="en-IN" sz="2500" b="1" u="sng" dirty="0">
                <a:solidFill>
                  <a:srgbClr val="FF0000"/>
                </a:solidFill>
                <a:latin typeface="+mn-lt"/>
              </a:rPr>
              <a:t>Store Identification &amp; Region</a:t>
            </a:r>
            <a:r>
              <a:rPr lang="en-IN" sz="2500" b="1" dirty="0">
                <a:solidFill>
                  <a:srgbClr val="FF0000"/>
                </a:solidFill>
                <a:latin typeface="+mn-lt"/>
              </a:rPr>
              <a:t> :- </a:t>
            </a:r>
            <a:r>
              <a:rPr lang="en-US" sz="2200" dirty="0">
                <a:latin typeface="+mn-lt"/>
              </a:rPr>
              <a:t>Store ID, Seller City, State, and Region.</a:t>
            </a:r>
          </a:p>
          <a:p>
            <a:endParaRPr lang="en-US" sz="400" dirty="0">
              <a:latin typeface="+mn-lt"/>
            </a:endParaRPr>
          </a:p>
          <a:p>
            <a:r>
              <a:rPr lang="en-IN" sz="2500" b="1" u="sng" dirty="0">
                <a:solidFill>
                  <a:srgbClr val="FF0000"/>
                </a:solidFill>
                <a:latin typeface="+mn-lt"/>
              </a:rPr>
              <a:t>Customer Overview</a:t>
            </a:r>
            <a:r>
              <a:rPr lang="en-IN" sz="2500" b="1" dirty="0">
                <a:solidFill>
                  <a:srgbClr val="FF0000"/>
                </a:solidFill>
                <a:latin typeface="+mn-lt"/>
              </a:rPr>
              <a:t> :- </a:t>
            </a:r>
            <a:r>
              <a:rPr lang="en-US" sz="2200" dirty="0">
                <a:latin typeface="+mn-lt"/>
              </a:rPr>
              <a:t>Distinct Customer Count and Average Revenue per Customer measure store reach and loyalty</a:t>
            </a:r>
            <a:r>
              <a:rPr lang="en-US" sz="2400" dirty="0">
                <a:latin typeface="+mn-lt"/>
              </a:rPr>
              <a:t>.</a:t>
            </a:r>
          </a:p>
          <a:p>
            <a:endParaRPr lang="en-IN" sz="500" dirty="0">
              <a:latin typeface="+mn-lt"/>
            </a:endParaRPr>
          </a:p>
          <a:p>
            <a:r>
              <a:rPr lang="en-IN" sz="2500" b="1" u="sng" dirty="0">
                <a:solidFill>
                  <a:srgbClr val="FF0000"/>
                </a:solidFill>
                <a:latin typeface="+mn-lt"/>
              </a:rPr>
              <a:t>Order &amp; Revenue Metrics</a:t>
            </a:r>
            <a:r>
              <a:rPr lang="en-IN" sz="2500" b="1" dirty="0">
                <a:solidFill>
                  <a:srgbClr val="FF0000"/>
                </a:solidFill>
                <a:latin typeface="+mn-lt"/>
              </a:rPr>
              <a:t> :- </a:t>
            </a:r>
            <a:r>
              <a:rPr lang="en-US" sz="2200" dirty="0">
                <a:latin typeface="+mn-lt"/>
              </a:rPr>
              <a:t>Total Orders, Quantity Sold, Total Revenue, and Average Order Value, Reflects overall store activity and sales strength.</a:t>
            </a:r>
          </a:p>
          <a:p>
            <a:endParaRPr lang="en-IN" sz="500" dirty="0">
              <a:latin typeface="+mn-lt"/>
            </a:endParaRPr>
          </a:p>
          <a:p>
            <a:pPr marL="285750" indent="-285750"/>
            <a:r>
              <a:rPr lang="en-IN" sz="2500" b="1" u="sng" dirty="0">
                <a:solidFill>
                  <a:srgbClr val="FF0000"/>
                </a:solidFill>
                <a:latin typeface="+mn-lt"/>
              </a:rPr>
              <a:t>Payment Mix &amp; Preferred Mode</a:t>
            </a:r>
            <a:r>
              <a:rPr lang="en-IN" sz="2500" b="1" dirty="0">
                <a:solidFill>
                  <a:srgbClr val="FF0000"/>
                </a:solidFill>
                <a:latin typeface="+mn-lt"/>
              </a:rPr>
              <a:t> :- </a:t>
            </a:r>
            <a:r>
              <a:rPr lang="en-US" sz="2200" dirty="0">
                <a:latin typeface="+mn-lt"/>
              </a:rPr>
              <a:t>Aggregates all payment types: UPI, Voucher, Credit Card, Debit Card And Shows customer payment trends by region/store type.</a:t>
            </a:r>
          </a:p>
          <a:p>
            <a:pPr marL="285750" indent="-285750"/>
            <a:endParaRPr lang="en-US" sz="500" dirty="0">
              <a:latin typeface="+mn-lt"/>
            </a:endParaRPr>
          </a:p>
          <a:p>
            <a:pPr marL="285750" indent="-285750"/>
            <a:r>
              <a:rPr lang="en-IN" sz="2500" b="1" u="sng" dirty="0">
                <a:solidFill>
                  <a:srgbClr val="FF0000"/>
                </a:solidFill>
                <a:latin typeface="+mn-lt"/>
              </a:rPr>
              <a:t>Profitability Metrics</a:t>
            </a:r>
            <a:r>
              <a:rPr lang="en-IN" sz="2500" b="1" dirty="0">
                <a:latin typeface="+mn-lt"/>
              </a:rPr>
              <a:t> </a:t>
            </a:r>
            <a:r>
              <a:rPr lang="en-IN" sz="2500" b="1" dirty="0">
                <a:solidFill>
                  <a:srgbClr val="FF0000"/>
                </a:solidFill>
                <a:latin typeface="+mn-lt"/>
              </a:rPr>
              <a:t>:-</a:t>
            </a:r>
            <a:r>
              <a:rPr lang="en-IN" sz="2500" b="1" dirty="0">
                <a:latin typeface="+mn-lt"/>
              </a:rPr>
              <a:t> </a:t>
            </a:r>
            <a:r>
              <a:rPr lang="en-US" sz="2200" dirty="0">
                <a:latin typeface="+mn-lt"/>
              </a:rPr>
              <a:t>Total Cost, Total Profit, and Profit Percentage, Categorizes store performance into Low, Medium, or High Margin Bands, Provides direct insight into store efficiency and margin management</a:t>
            </a:r>
            <a:r>
              <a:rPr lang="en-US" sz="2400" dirty="0">
                <a:latin typeface="+mn-lt"/>
              </a:rPr>
              <a:t>.</a:t>
            </a:r>
          </a:p>
          <a:p>
            <a:pPr marL="285750" indent="-285750"/>
            <a:endParaRPr lang="en-US" sz="500" dirty="0">
              <a:latin typeface="+mn-lt"/>
            </a:endParaRPr>
          </a:p>
          <a:p>
            <a:pPr marL="285750" indent="-285750"/>
            <a:r>
              <a:rPr lang="en-IN" sz="2500" b="1" u="sng" dirty="0">
                <a:solidFill>
                  <a:srgbClr val="FF0000"/>
                </a:solidFill>
                <a:latin typeface="+mn-lt"/>
              </a:rPr>
              <a:t>Product &amp; Category Insights</a:t>
            </a:r>
            <a:r>
              <a:rPr lang="en-IN" sz="2500" b="1" dirty="0">
                <a:solidFill>
                  <a:srgbClr val="FF0000"/>
                </a:solidFill>
                <a:latin typeface="+mn-lt"/>
              </a:rPr>
              <a:t> :- </a:t>
            </a:r>
            <a:r>
              <a:rPr lang="en-US" sz="2200" dirty="0">
                <a:latin typeface="+mn-lt"/>
              </a:rPr>
              <a:t>Distinct Products and Categories Sold, and Average Basket Size.</a:t>
            </a:r>
            <a:endParaRPr lang="en-IN" sz="2200" b="1" dirty="0">
              <a:solidFill>
                <a:srgbClr val="FF0000"/>
              </a:solidFill>
              <a:latin typeface="+mn-lt"/>
            </a:endParaRPr>
          </a:p>
          <a:p>
            <a:pPr marL="285750" indent="-285750"/>
            <a:endParaRPr lang="en-IN" sz="2000" dirty="0"/>
          </a:p>
          <a:p>
            <a:pPr marL="285750" indent="-285750"/>
            <a:endParaRPr lang="en-IN" sz="2000" b="1" dirty="0"/>
          </a:p>
          <a:p>
            <a:pPr marL="285750" indent="-285750"/>
            <a:endParaRPr lang="en-IN" sz="2000" dirty="0"/>
          </a:p>
          <a:p>
            <a:endParaRPr lang="en-IN" sz="2000" b="1" dirty="0">
              <a:solidFill>
                <a:srgbClr val="FF0000"/>
              </a:solidFill>
            </a:endParaRPr>
          </a:p>
          <a:p>
            <a:endParaRPr lang="en-IN" sz="2000" b="1" dirty="0">
              <a:solidFill>
                <a:srgbClr val="FF0000"/>
              </a:solidFill>
            </a:endParaRPr>
          </a:p>
          <a:p>
            <a:endParaRPr lang="en-IN" sz="2000" b="1" dirty="0">
              <a:solidFill>
                <a:srgbClr val="FF0000"/>
              </a:solidFill>
            </a:endParaRPr>
          </a:p>
          <a:p>
            <a:endParaRPr lang="en-IN" sz="2000" b="1" dirty="0">
              <a:solidFill>
                <a:srgbClr val="FF0000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82991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C122EA-C768-9252-B065-284589A067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20413"/>
            <a:ext cx="10515600" cy="3856550"/>
          </a:xfrm>
        </p:spPr>
        <p:txBody>
          <a:bodyPr>
            <a:normAutofit/>
          </a:bodyPr>
          <a:lstStyle/>
          <a:p>
            <a:pPr algn="ctr"/>
            <a:r>
              <a:rPr lang="en-US" sz="6000" dirty="0">
                <a:solidFill>
                  <a:srgbClr val="FF0000"/>
                </a:solidFill>
                <a:latin typeface="+mn-lt"/>
              </a:rPr>
              <a:t>Customer 360 Table</a:t>
            </a:r>
            <a:endParaRPr lang="en-IN" sz="6000" dirty="0">
              <a:solidFill>
                <a:srgbClr val="FF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635996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36B2C-B4D1-D240-568B-5EC438FB0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24"/>
            <a:ext cx="10515600" cy="672614"/>
          </a:xfr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  <a:latin typeface="+mn-lt"/>
              </a:rPr>
              <a:t>Observations 360 Customer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B0AF6-A322-7690-4401-60032115A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1223"/>
            <a:ext cx="10515600" cy="519461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+mn-lt"/>
              </a:rPr>
              <a:t>A Customer 360 is a unified, data-driven view of each customer that consolidates information from all touchpoints — including sales, marketing, service, and engagement systems.</a:t>
            </a:r>
          </a:p>
          <a:p>
            <a:r>
              <a:rPr lang="en-US" sz="2400" b="1" u="sng" dirty="0">
                <a:solidFill>
                  <a:srgbClr val="FF0000"/>
                </a:solidFill>
                <a:latin typeface="+mn-lt"/>
              </a:rPr>
              <a:t>Purpose:</a:t>
            </a:r>
          </a:p>
          <a:p>
            <a:pPr marL="285750" indent="-285750"/>
            <a:r>
              <a:rPr lang="en-US" sz="2000" dirty="0">
                <a:latin typeface="+mn-lt"/>
              </a:rPr>
              <a:t>To understand each customer’s complete interaction and transaction journey.</a:t>
            </a:r>
          </a:p>
          <a:p>
            <a:pPr marL="285750" indent="-285750"/>
            <a:r>
              <a:rPr lang="en-US" sz="2000" dirty="0">
                <a:latin typeface="+mn-lt"/>
              </a:rPr>
              <a:t>To analyze </a:t>
            </a:r>
            <a:r>
              <a:rPr lang="en-US" sz="2000" b="1" dirty="0">
                <a:latin typeface="+mn-lt"/>
              </a:rPr>
              <a:t>recency, frequency, and monetary (RFM)</a:t>
            </a:r>
            <a:r>
              <a:rPr lang="en-US" sz="2000" dirty="0">
                <a:latin typeface="+mn-lt"/>
              </a:rPr>
              <a:t> behavior for segmentation.</a:t>
            </a:r>
          </a:p>
          <a:p>
            <a:pPr marL="285750" indent="-285750"/>
            <a:r>
              <a:rPr lang="en-US" sz="2000" dirty="0">
                <a:latin typeface="+mn-lt"/>
              </a:rPr>
              <a:t>To derive actionable insights on </a:t>
            </a:r>
            <a:r>
              <a:rPr lang="en-US" sz="2000" b="1" dirty="0">
                <a:latin typeface="+mn-lt"/>
              </a:rPr>
              <a:t>payment preference</a:t>
            </a:r>
            <a:r>
              <a:rPr lang="en-US" sz="2000" dirty="0">
                <a:latin typeface="+mn-lt"/>
              </a:rPr>
              <a:t>, </a:t>
            </a:r>
            <a:r>
              <a:rPr lang="en-US" sz="2000" b="1" dirty="0">
                <a:latin typeface="+mn-lt"/>
              </a:rPr>
              <a:t>purchase trends</a:t>
            </a:r>
            <a:r>
              <a:rPr lang="en-US" sz="2000" dirty="0">
                <a:latin typeface="+mn-lt"/>
              </a:rPr>
              <a:t>, and </a:t>
            </a:r>
            <a:r>
              <a:rPr lang="en-US" sz="2000" b="1" dirty="0">
                <a:latin typeface="+mn-lt"/>
              </a:rPr>
              <a:t>profitability contribution</a:t>
            </a:r>
            <a:r>
              <a:rPr lang="en-US" sz="2000" dirty="0">
                <a:latin typeface="+mn-lt"/>
              </a:rPr>
              <a:t>.</a:t>
            </a:r>
          </a:p>
          <a:p>
            <a:pPr marL="285750" indent="-285750"/>
            <a:r>
              <a:rPr lang="en-US" sz="2000" dirty="0">
                <a:latin typeface="+mn-lt"/>
              </a:rPr>
              <a:t>To drive </a:t>
            </a:r>
            <a:r>
              <a:rPr lang="en-US" sz="2000" b="1" dirty="0">
                <a:latin typeface="+mn-lt"/>
              </a:rPr>
              <a:t>personalized engagement</a:t>
            </a:r>
            <a:r>
              <a:rPr lang="en-US" sz="2000" dirty="0">
                <a:latin typeface="+mn-lt"/>
              </a:rPr>
              <a:t>, </a:t>
            </a:r>
            <a:r>
              <a:rPr lang="en-US" sz="2000" b="1" dirty="0">
                <a:latin typeface="+mn-lt"/>
              </a:rPr>
              <a:t>loyalty</a:t>
            </a:r>
            <a:r>
              <a:rPr lang="en-US" sz="2000" dirty="0">
                <a:latin typeface="+mn-lt"/>
              </a:rPr>
              <a:t>, and </a:t>
            </a:r>
            <a:r>
              <a:rPr lang="en-US" sz="2000" b="1" dirty="0">
                <a:latin typeface="+mn-lt"/>
              </a:rPr>
              <a:t>retention</a:t>
            </a:r>
            <a:r>
              <a:rPr lang="en-US" sz="2000" dirty="0">
                <a:latin typeface="+mn-lt"/>
              </a:rPr>
              <a:t> strategies.</a:t>
            </a:r>
          </a:p>
          <a:p>
            <a:r>
              <a:rPr lang="en-US" sz="2400" b="1" u="sng" dirty="0">
                <a:solidFill>
                  <a:srgbClr val="FF0000"/>
                </a:solidFill>
                <a:latin typeface="+mn-lt"/>
              </a:rPr>
              <a:t>Business Impact:</a:t>
            </a:r>
            <a:endParaRPr lang="en-IN" sz="2400" dirty="0">
              <a:solidFill>
                <a:srgbClr val="FF0000"/>
              </a:solidFill>
              <a:latin typeface="+mn-lt"/>
            </a:endParaRPr>
          </a:p>
          <a:p>
            <a:pPr marL="342900" indent="-342900"/>
            <a:r>
              <a:rPr lang="en-US" sz="2000" dirty="0">
                <a:latin typeface="+mn-lt"/>
              </a:rPr>
              <a:t>Enables targeted marketing and product recommendations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defRPr/>
            </a:pPr>
            <a:r>
              <a:rPr lang="en-US" sz="2000" dirty="0">
                <a:latin typeface="+mn-lt"/>
              </a:rPr>
              <a:t>Identifies high-value and at-risk customers.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defRPr/>
            </a:pPr>
            <a:r>
              <a:rPr lang="en-US" sz="2000" dirty="0">
                <a:latin typeface="+mn-lt"/>
              </a:rPr>
              <a:t>Builds stronger customer relationships and trust.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defRPr/>
            </a:pPr>
            <a:r>
              <a:rPr lang="en-US" sz="2000" dirty="0">
                <a:latin typeface="+mn-lt"/>
              </a:rPr>
              <a:t>Provides real-time insights across business functions.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defRPr/>
            </a:pPr>
            <a:r>
              <a:rPr lang="en-US" sz="2000" dirty="0">
                <a:latin typeface="+mn-lt"/>
              </a:rPr>
              <a:t>Supports loyalty programs and retention campaigns.</a:t>
            </a: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defRPr/>
            </a:pPr>
            <a:endParaRPr lang="en-US" sz="2400" dirty="0"/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defRPr/>
            </a:pPr>
            <a:endParaRPr lang="en-US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1916187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CD733-F857-7B7D-B46D-264C8F13F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24"/>
            <a:ext cx="10515600" cy="672614"/>
          </a:xfr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+mn-lt"/>
              </a:rPr>
              <a:t>Detail About Customer 360 (1/2)</a:t>
            </a:r>
            <a:endParaRPr lang="en-IN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4F47A-D052-9CDF-D4CF-B9A4CE0AA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8865"/>
            <a:ext cx="10515600" cy="4994786"/>
          </a:xfrm>
        </p:spPr>
        <p:txBody>
          <a:bodyPr>
            <a:normAutofit/>
          </a:bodyPr>
          <a:lstStyle/>
          <a:p>
            <a:r>
              <a:rPr lang="en-IN" sz="2400" b="1" u="sng" dirty="0">
                <a:solidFill>
                  <a:srgbClr val="FF0000"/>
                </a:solidFill>
                <a:latin typeface="+mn-lt"/>
              </a:rPr>
              <a:t>Customer Identity &amp; Region</a:t>
            </a:r>
            <a:r>
              <a:rPr lang="en-IN" sz="2400" b="1" dirty="0">
                <a:solidFill>
                  <a:srgbClr val="FF0000"/>
                </a:solidFill>
                <a:latin typeface="+mn-lt"/>
              </a:rPr>
              <a:t> :- </a:t>
            </a:r>
            <a:r>
              <a:rPr lang="en-US" sz="2000" dirty="0">
                <a:latin typeface="+mn-lt"/>
              </a:rPr>
              <a:t>Captures Customer ID, City, State, and Gender.</a:t>
            </a:r>
          </a:p>
          <a:p>
            <a:endParaRPr lang="en-US" sz="2000" dirty="0">
              <a:latin typeface="+mn-lt"/>
            </a:endParaRPr>
          </a:p>
          <a:p>
            <a:r>
              <a:rPr lang="en-US" sz="2400" b="1" u="sng" dirty="0">
                <a:solidFill>
                  <a:srgbClr val="FF0000"/>
                </a:solidFill>
                <a:latin typeface="+mn-lt"/>
              </a:rPr>
              <a:t>RFM Analysis (Recency, Frequency, Monetary</a:t>
            </a:r>
            <a:r>
              <a:rPr lang="en-US" sz="2400" b="1" dirty="0">
                <a:solidFill>
                  <a:srgbClr val="FF0000"/>
                </a:solidFill>
                <a:latin typeface="+mn-lt"/>
              </a:rPr>
              <a:t>) :- </a:t>
            </a:r>
            <a:r>
              <a:rPr lang="en-US" sz="2000" dirty="0">
                <a:latin typeface="+mn-lt"/>
              </a:rPr>
              <a:t>First &amp; Last Purchase Date, Tenure, Recency, and Frequency of purchases.</a:t>
            </a:r>
          </a:p>
          <a:p>
            <a:endParaRPr lang="en-US" sz="2000" dirty="0">
              <a:latin typeface="+mn-lt"/>
            </a:endParaRPr>
          </a:p>
          <a:p>
            <a:r>
              <a:rPr lang="en-IN" sz="2400" b="1" u="sng" dirty="0">
                <a:solidFill>
                  <a:srgbClr val="FF0000"/>
                </a:solidFill>
                <a:latin typeface="+mn-lt"/>
              </a:rPr>
              <a:t>Discount Metrics</a:t>
            </a:r>
            <a:r>
              <a:rPr lang="en-IN" sz="2400" b="1" dirty="0">
                <a:solidFill>
                  <a:srgbClr val="FF0000"/>
                </a:solidFill>
                <a:latin typeface="+mn-lt"/>
              </a:rPr>
              <a:t> :- </a:t>
            </a:r>
            <a:r>
              <a:rPr lang="en-US" sz="2000" dirty="0">
                <a:latin typeface="+mn-lt"/>
              </a:rPr>
              <a:t>Tracks total Discount Availed across all orders.</a:t>
            </a:r>
          </a:p>
          <a:p>
            <a:endParaRPr lang="en-US" dirty="0">
              <a:latin typeface="+mn-lt"/>
            </a:endParaRPr>
          </a:p>
          <a:p>
            <a:r>
              <a:rPr lang="en-IN" sz="2400" b="1" u="sng" dirty="0">
                <a:solidFill>
                  <a:srgbClr val="FF0000"/>
                </a:solidFill>
                <a:latin typeface="+mn-lt"/>
              </a:rPr>
              <a:t>Payment Analysis</a:t>
            </a:r>
            <a:r>
              <a:rPr lang="en-IN" sz="2400" b="1" dirty="0">
                <a:solidFill>
                  <a:srgbClr val="FF0000"/>
                </a:solidFill>
                <a:latin typeface="+mn-lt"/>
              </a:rPr>
              <a:t> :- </a:t>
            </a:r>
            <a:r>
              <a:rPr lang="en-US" sz="2000" dirty="0">
                <a:latin typeface="+mn-lt"/>
              </a:rPr>
              <a:t>Aggregates all payment types — UPI, Voucher, Credit Card, Debit Card.</a:t>
            </a:r>
          </a:p>
          <a:p>
            <a:endParaRPr lang="en-US" sz="2000" dirty="0">
              <a:latin typeface="+mn-lt"/>
            </a:endParaRPr>
          </a:p>
          <a:p>
            <a:pPr marL="285750" indent="-285750"/>
            <a:r>
              <a:rPr lang="en-IN" sz="2400" b="1" u="sng" dirty="0">
                <a:solidFill>
                  <a:srgbClr val="FF0000"/>
                </a:solidFill>
                <a:latin typeface="+mn-lt"/>
              </a:rPr>
              <a:t>Product &amp; Category Metrics</a:t>
            </a:r>
            <a:r>
              <a:rPr lang="en-IN" sz="2400" b="1" dirty="0">
                <a:solidFill>
                  <a:srgbClr val="FF0000"/>
                </a:solidFill>
                <a:latin typeface="+mn-lt"/>
              </a:rPr>
              <a:t> :-</a:t>
            </a:r>
            <a:r>
              <a:rPr lang="en-IN" sz="2400" b="1" u="sng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2000" dirty="0">
                <a:latin typeface="+mn-lt"/>
              </a:rPr>
              <a:t>Total Products Purchased, Total Quantity, Average Quantity, and Distinct Categories Purchased and Indicates customer diversity, product affinity, and basket depth.</a:t>
            </a:r>
            <a:endParaRPr lang="en-IN" sz="2000" dirty="0">
              <a:latin typeface="+mn-lt"/>
            </a:endParaRPr>
          </a:p>
          <a:p>
            <a:pPr marL="285750" indent="-285750"/>
            <a:endParaRPr lang="en-IN" sz="2000" b="1" u="sng" dirty="0">
              <a:solidFill>
                <a:srgbClr val="FF0000"/>
              </a:solidFill>
            </a:endParaRPr>
          </a:p>
          <a:p>
            <a:pPr marL="285750" indent="-285750"/>
            <a:endParaRPr lang="en-IN" sz="2000" b="1" u="sng" dirty="0">
              <a:solidFill>
                <a:srgbClr val="FF0000"/>
              </a:solidFill>
            </a:endParaRPr>
          </a:p>
          <a:p>
            <a:pPr marL="285750" indent="-285750"/>
            <a:endParaRPr lang="en-IN" sz="2000" b="1" u="sng" dirty="0">
              <a:solidFill>
                <a:srgbClr val="FF0000"/>
              </a:solidFill>
            </a:endParaRPr>
          </a:p>
          <a:p>
            <a:pPr marL="285750" indent="-285750"/>
            <a:endParaRPr lang="en-US" sz="2000" dirty="0"/>
          </a:p>
          <a:p>
            <a:pPr marL="285750" indent="-285750"/>
            <a:endParaRPr lang="en-IN" sz="2000" b="1" dirty="0">
              <a:solidFill>
                <a:srgbClr val="FF0000"/>
              </a:solidFill>
            </a:endParaRPr>
          </a:p>
          <a:p>
            <a:pPr marL="285750" indent="-285750"/>
            <a:endParaRPr lang="en-IN" sz="2000" b="1" u="sng" dirty="0">
              <a:solidFill>
                <a:srgbClr val="FF0000"/>
              </a:solidFill>
            </a:endParaRPr>
          </a:p>
          <a:p>
            <a:endParaRPr lang="en-IN" sz="2000" b="1" u="sng" dirty="0">
              <a:solidFill>
                <a:srgbClr val="FF0000"/>
              </a:solidFill>
            </a:endParaRPr>
          </a:p>
          <a:p>
            <a:endParaRPr lang="en-IN" sz="2000" b="1" dirty="0">
              <a:solidFill>
                <a:srgbClr val="FF0000"/>
              </a:solidFill>
            </a:endParaRPr>
          </a:p>
          <a:p>
            <a:endParaRPr lang="en-IN" sz="2000" b="1" dirty="0">
              <a:solidFill>
                <a:srgbClr val="FF0000"/>
              </a:solidFill>
            </a:endParaRPr>
          </a:p>
          <a:p>
            <a:endParaRPr lang="en-IN" sz="2000" b="1" dirty="0">
              <a:solidFill>
                <a:srgbClr val="FF0000"/>
              </a:solidFill>
            </a:endParaRPr>
          </a:p>
          <a:p>
            <a:endParaRPr lang="en-IN" sz="2000" b="1" u="sng" dirty="0">
              <a:solidFill>
                <a:srgbClr val="FF0000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20244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3B0A4-C7FA-8760-B198-17738C0C6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2"/>
            <a:ext cx="10515600" cy="671205"/>
          </a:xfr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+mn-lt"/>
              </a:rPr>
              <a:t>Detail About Customer 360(2/2)</a:t>
            </a:r>
            <a:endParaRPr lang="en-IN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C784D-E7C0-1840-7EE5-3F8B4136AE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2780"/>
            <a:ext cx="10515600" cy="5262717"/>
          </a:xfrm>
        </p:spPr>
        <p:txBody>
          <a:bodyPr>
            <a:normAutofit/>
          </a:bodyPr>
          <a:lstStyle/>
          <a:p>
            <a:pPr marL="285750" indent="-285750"/>
            <a:r>
              <a:rPr lang="en-IN" sz="2600" b="1" u="sng" dirty="0">
                <a:solidFill>
                  <a:srgbClr val="FF0000"/>
                </a:solidFill>
                <a:latin typeface="+mn-lt"/>
              </a:rPr>
              <a:t>Revenue &amp; Profitability</a:t>
            </a:r>
            <a:r>
              <a:rPr lang="en-IN" sz="2600" b="1" dirty="0">
                <a:solidFill>
                  <a:srgbClr val="FF0000"/>
                </a:solidFill>
                <a:latin typeface="+mn-lt"/>
              </a:rPr>
              <a:t> :- </a:t>
            </a:r>
            <a:r>
              <a:rPr lang="en-US" sz="2000" dirty="0">
                <a:latin typeface="+mn-lt"/>
              </a:rPr>
              <a:t>Computes Total Revenue, Profit, and Profit Percentage at a customer level and Enables profitability segmentation and customer value ranking.</a:t>
            </a:r>
          </a:p>
          <a:p>
            <a:pPr marL="285750" indent="-285750"/>
            <a:endParaRPr lang="en-US" sz="2000" dirty="0">
              <a:latin typeface="+mn-lt"/>
            </a:endParaRPr>
          </a:p>
          <a:p>
            <a:pPr marL="285750" indent="-285750"/>
            <a:r>
              <a:rPr lang="en-IN" sz="2600" b="1" u="sng" dirty="0">
                <a:solidFill>
                  <a:srgbClr val="FF0000"/>
                </a:solidFill>
                <a:latin typeface="+mn-lt"/>
              </a:rPr>
              <a:t>Spend Segmentation</a:t>
            </a:r>
            <a:r>
              <a:rPr lang="en-IN" sz="2600" b="1" dirty="0">
                <a:solidFill>
                  <a:srgbClr val="FF0000"/>
                </a:solidFill>
                <a:latin typeface="+mn-lt"/>
              </a:rPr>
              <a:t> :- </a:t>
            </a:r>
            <a:r>
              <a:rPr lang="en-US" sz="2000" dirty="0">
                <a:latin typeface="+mn-lt"/>
              </a:rPr>
              <a:t>Uses </a:t>
            </a:r>
            <a:r>
              <a:rPr lang="en-US" sz="2000" dirty="0">
                <a:latin typeface="+mn-lt"/>
                <a:sym typeface="Arial"/>
              </a:rPr>
              <a:t>PERCENTILE_CONT(0.33)</a:t>
            </a:r>
            <a:r>
              <a:rPr lang="en-US" sz="2000" dirty="0">
                <a:latin typeface="+mn-lt"/>
              </a:rPr>
              <a:t> and </a:t>
            </a:r>
            <a:r>
              <a:rPr lang="en-US" sz="2000" dirty="0">
                <a:latin typeface="+mn-lt"/>
                <a:sym typeface="Arial"/>
              </a:rPr>
              <a:t>0.66</a:t>
            </a:r>
            <a:r>
              <a:rPr lang="en-US" sz="2000" dirty="0">
                <a:latin typeface="+mn-lt"/>
              </a:rPr>
              <a:t> to classify customers as:  Low, Medium, or High Spend.</a:t>
            </a:r>
          </a:p>
          <a:p>
            <a:pPr marL="285750" indent="-285750"/>
            <a:endParaRPr lang="en-US" sz="2000" dirty="0">
              <a:latin typeface="+mn-lt"/>
            </a:endParaRPr>
          </a:p>
          <a:p>
            <a:pPr marL="285750" indent="-285750"/>
            <a:r>
              <a:rPr lang="en-IN" sz="2600" b="1" u="sng" dirty="0">
                <a:solidFill>
                  <a:srgbClr val="FF0000"/>
                </a:solidFill>
                <a:latin typeface="+mn-lt"/>
              </a:rPr>
              <a:t>Temporal Behaviour</a:t>
            </a:r>
            <a:r>
              <a:rPr lang="en-IN" sz="2600" b="1" dirty="0">
                <a:solidFill>
                  <a:srgbClr val="FF0000"/>
                </a:solidFill>
                <a:latin typeface="+mn-lt"/>
              </a:rPr>
              <a:t> :- </a:t>
            </a:r>
            <a:r>
              <a:rPr lang="en-US" sz="2000" dirty="0">
                <a:latin typeface="+mn-lt"/>
              </a:rPr>
              <a:t>Differentiates Weekend vs Weekday Purchases And Revenue when customers are most active — useful for promotion timing and channel strategy.</a:t>
            </a:r>
          </a:p>
          <a:p>
            <a:pPr marL="285750" indent="-285750"/>
            <a:endParaRPr lang="en-US" sz="2000" dirty="0">
              <a:latin typeface="+mn-lt"/>
            </a:endParaRPr>
          </a:p>
          <a:p>
            <a:pPr marL="285750" indent="-285750"/>
            <a:r>
              <a:rPr lang="en-IN" sz="2600" b="1" u="sng" dirty="0">
                <a:solidFill>
                  <a:srgbClr val="FF0000"/>
                </a:solidFill>
                <a:latin typeface="+mn-lt"/>
              </a:rPr>
              <a:t>Channel Preference</a:t>
            </a:r>
            <a:r>
              <a:rPr lang="en-IN" sz="2600" b="1" dirty="0">
                <a:solidFill>
                  <a:srgbClr val="FF0000"/>
                </a:solidFill>
                <a:latin typeface="+mn-lt"/>
              </a:rPr>
              <a:t> :- </a:t>
            </a:r>
            <a:r>
              <a:rPr lang="en-US" sz="2000" dirty="0">
                <a:latin typeface="+mn-lt"/>
              </a:rPr>
              <a:t>Determines Preferred Channel (Online / In-store / Phone Delivery) using ranking logic.</a:t>
            </a:r>
          </a:p>
          <a:p>
            <a:pPr marL="285750" indent="-285750"/>
            <a:endParaRPr lang="en-US" sz="2000" dirty="0">
              <a:latin typeface="+mn-lt"/>
            </a:endParaRPr>
          </a:p>
          <a:p>
            <a:pPr marL="285750" indent="-285750"/>
            <a:r>
              <a:rPr lang="en-IN" sz="2600" b="1" u="sng" dirty="0">
                <a:solidFill>
                  <a:srgbClr val="FF0000"/>
                </a:solidFill>
                <a:latin typeface="+mn-lt"/>
              </a:rPr>
              <a:t>Feedback &amp; Experience</a:t>
            </a:r>
            <a:r>
              <a:rPr lang="en-IN" sz="2600" b="1" dirty="0">
                <a:solidFill>
                  <a:srgbClr val="FF0000"/>
                </a:solidFill>
                <a:latin typeface="+mn-lt"/>
              </a:rPr>
              <a:t> :-</a:t>
            </a:r>
            <a:r>
              <a:rPr lang="en-US" sz="2600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US" sz="2000" b="1" dirty="0">
                <a:latin typeface="+mn-lt"/>
              </a:rPr>
              <a:t>Average Customer Satisfaction Score (Rating)</a:t>
            </a:r>
            <a:r>
              <a:rPr lang="en-US" sz="2000" dirty="0">
                <a:latin typeface="+mn-lt"/>
              </a:rPr>
              <a:t> for qualitative analysis and Connects service quality to profitability and loyalty.</a:t>
            </a:r>
            <a:endParaRPr lang="en-IN" sz="2000" dirty="0">
              <a:latin typeface="+mn-lt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70225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CC6F1-D228-0380-E0AD-B72CABE31F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7225"/>
            <a:ext cx="10515600" cy="366973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000" dirty="0">
                <a:solidFill>
                  <a:srgbClr val="FF0000"/>
                </a:solidFill>
                <a:latin typeface="+mn-lt"/>
              </a:rPr>
              <a:t>Orders 360 Table</a:t>
            </a:r>
            <a:endParaRPr lang="en-IN" sz="6000" dirty="0">
              <a:solidFill>
                <a:srgbClr val="FF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854761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0EAAC-5C5A-A7D2-7E75-5FA77EA0A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81036"/>
          </a:xfr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  <a:latin typeface="+mn-lt"/>
              </a:rPr>
              <a:t>Observations 360 Orders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0BDCA-4C88-6153-CA6F-2ED873679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9031"/>
            <a:ext cx="10515600" cy="5022978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latin typeface="+mn-lt"/>
              </a:rPr>
              <a:t>Order 360 provides a complete view of every order — from creation to delivery — including customer details, products, payments, fulfillment, and post-purchase feedback</a:t>
            </a:r>
            <a:r>
              <a:rPr lang="en-US" sz="2800" dirty="0">
                <a:latin typeface="+mn-lt"/>
              </a:rPr>
              <a:t>.</a:t>
            </a:r>
          </a:p>
          <a:p>
            <a:endParaRPr lang="en-US" sz="2800" dirty="0">
              <a:latin typeface="+mn-lt"/>
            </a:endParaRPr>
          </a:p>
          <a:p>
            <a:r>
              <a:rPr lang="en-US" sz="2800" b="1" u="sng" dirty="0">
                <a:solidFill>
                  <a:srgbClr val="FF0000"/>
                </a:solidFill>
                <a:latin typeface="+mn-lt"/>
              </a:rPr>
              <a:t>Purpose:</a:t>
            </a:r>
            <a:br>
              <a:rPr lang="en-US" sz="2800" dirty="0">
                <a:latin typeface="+mn-lt"/>
              </a:rPr>
            </a:br>
            <a:r>
              <a:rPr lang="en-US" sz="2400" dirty="0">
                <a:latin typeface="+mn-lt"/>
              </a:rPr>
              <a:t>To Ensure Transparency, Accuracy, and Efficiency across the order Lifecycle, improving fulfillment and Customer Satisfaction.</a:t>
            </a:r>
          </a:p>
          <a:p>
            <a:endParaRPr lang="en-US" sz="2400" dirty="0">
              <a:latin typeface="+mn-lt"/>
            </a:endParaRPr>
          </a:p>
          <a:p>
            <a:r>
              <a:rPr lang="en-US" sz="2800" b="1" u="sng" dirty="0">
                <a:solidFill>
                  <a:srgbClr val="FF0000"/>
                </a:solidFill>
                <a:latin typeface="+mn-lt"/>
              </a:rPr>
              <a:t>Business Impact</a:t>
            </a:r>
            <a:r>
              <a:rPr lang="en-IN" sz="2800" b="1" u="sng" dirty="0">
                <a:solidFill>
                  <a:srgbClr val="FF0000"/>
                </a:solidFill>
                <a:latin typeface="+mn-lt"/>
              </a:rPr>
              <a:t>:</a:t>
            </a:r>
            <a:endParaRPr lang="en-IN" sz="2800" dirty="0">
              <a:solidFill>
                <a:srgbClr val="FF0000"/>
              </a:solidFill>
              <a:latin typeface="+mn-lt"/>
            </a:endParaRPr>
          </a:p>
          <a:p>
            <a:pPr marL="285750" indent="-285750"/>
            <a:r>
              <a:rPr lang="en-US" sz="2400" dirty="0">
                <a:latin typeface="+mn-lt"/>
              </a:rPr>
              <a:t>Enables </a:t>
            </a:r>
            <a:r>
              <a:rPr lang="en-US" sz="2400" b="1" dirty="0">
                <a:latin typeface="+mn-lt"/>
              </a:rPr>
              <a:t>profitability and margin monitoring</a:t>
            </a:r>
            <a:r>
              <a:rPr lang="en-US" sz="2400" dirty="0">
                <a:latin typeface="+mn-lt"/>
              </a:rPr>
              <a:t> per transaction.</a:t>
            </a:r>
          </a:p>
          <a:p>
            <a:pPr marL="285750" indent="-285750"/>
            <a:r>
              <a:rPr lang="en-US" sz="2400" dirty="0">
                <a:latin typeface="+mn-lt"/>
              </a:rPr>
              <a:t>Supports </a:t>
            </a:r>
            <a:r>
              <a:rPr lang="en-US" sz="2400" b="1" dirty="0">
                <a:latin typeface="+mn-lt"/>
              </a:rPr>
              <a:t>promotional optimization</a:t>
            </a:r>
            <a:r>
              <a:rPr lang="en-US" sz="2400" dirty="0">
                <a:latin typeface="+mn-lt"/>
              </a:rPr>
              <a:t> through discount and spend analysis.</a:t>
            </a:r>
          </a:p>
          <a:p>
            <a:pPr marL="285750" indent="-285750"/>
            <a:r>
              <a:rPr lang="en-US" sz="2400" dirty="0">
                <a:latin typeface="+mn-lt"/>
              </a:rPr>
              <a:t>Links </a:t>
            </a:r>
            <a:r>
              <a:rPr lang="en-US" sz="2400" b="1" dirty="0">
                <a:latin typeface="+mn-lt"/>
              </a:rPr>
              <a:t>temporal patterns</a:t>
            </a:r>
            <a:r>
              <a:rPr lang="en-US" sz="2400" dirty="0">
                <a:latin typeface="+mn-lt"/>
              </a:rPr>
              <a:t> to customer behavior.</a:t>
            </a:r>
          </a:p>
          <a:p>
            <a:pPr marL="285750" indent="-285750"/>
            <a:r>
              <a:rPr lang="en-US" sz="2400" dirty="0">
                <a:latin typeface="+mn-lt"/>
              </a:rPr>
              <a:t>Provides </a:t>
            </a:r>
            <a:r>
              <a:rPr lang="en-US" sz="2400" b="1" dirty="0">
                <a:latin typeface="+mn-lt"/>
              </a:rPr>
              <a:t>data foundation</a:t>
            </a:r>
            <a:r>
              <a:rPr lang="en-US" sz="2400" dirty="0">
                <a:latin typeface="+mn-lt"/>
              </a:rPr>
              <a:t> for demand forecasting and revenue modeling</a:t>
            </a:r>
            <a:r>
              <a:rPr lang="en-US" sz="2800" dirty="0">
                <a:latin typeface="+mn-lt"/>
              </a:rPr>
              <a:t>.</a:t>
            </a:r>
            <a:endParaRPr lang="en-IN" sz="2800" dirty="0">
              <a:latin typeface="+mn-lt"/>
            </a:endParaRP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8081965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90D97-96FE-D123-1DF0-4FF181B2D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24"/>
            <a:ext cx="10515600" cy="672614"/>
          </a:xfr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+mn-lt"/>
              </a:rPr>
              <a:t>Detail About Orders 360 (1/2)</a:t>
            </a:r>
            <a:endParaRPr lang="en-IN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BDF98C-B8A5-9CEA-6967-67F3670762D3}"/>
              </a:ext>
            </a:extLst>
          </p:cNvPr>
          <p:cNvSpPr txBox="1"/>
          <p:nvPr/>
        </p:nvSpPr>
        <p:spPr>
          <a:xfrm>
            <a:off x="838200" y="816077"/>
            <a:ext cx="1051559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u="sng" dirty="0">
                <a:solidFill>
                  <a:srgbClr val="FF0000"/>
                </a:solidFill>
              </a:rPr>
              <a:t>Order Information</a:t>
            </a:r>
            <a:r>
              <a:rPr lang="en-US" sz="2400" b="1" dirty="0">
                <a:solidFill>
                  <a:srgbClr val="FF0000"/>
                </a:solidFill>
              </a:rPr>
              <a:t> :- </a:t>
            </a:r>
            <a:r>
              <a:rPr lang="en-US" sz="2000" dirty="0"/>
              <a:t>Unique Order ID and Sales Channel (Online, In-Store, Phone Delivery) and Billing Timestamp for precise transaction tracking.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u="sng" dirty="0">
                <a:solidFill>
                  <a:srgbClr val="FF0000"/>
                </a:solidFill>
              </a:rPr>
              <a:t>Customer info</a:t>
            </a:r>
            <a:r>
              <a:rPr lang="en-US" sz="2400" b="1" dirty="0">
                <a:solidFill>
                  <a:srgbClr val="FF0000"/>
                </a:solidFill>
              </a:rPr>
              <a:t> :- </a:t>
            </a:r>
            <a:r>
              <a:rPr lang="en-US" sz="2000" dirty="0"/>
              <a:t>Id, City, Location, Gender for analyze our reach.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u="sng" dirty="0">
                <a:solidFill>
                  <a:srgbClr val="FF0000"/>
                </a:solidFill>
              </a:rPr>
              <a:t>Temporal &amp; Day-Part </a:t>
            </a:r>
            <a:r>
              <a:rPr lang="en-US" sz="2400" b="1" u="sng" dirty="0" err="1">
                <a:solidFill>
                  <a:srgbClr val="FF0000"/>
                </a:solidFill>
              </a:rPr>
              <a:t>Behaviour</a:t>
            </a:r>
            <a:r>
              <a:rPr lang="en-US" sz="2400" b="1" dirty="0">
                <a:solidFill>
                  <a:srgbClr val="FF0000"/>
                </a:solidFill>
              </a:rPr>
              <a:t> :- </a:t>
            </a:r>
            <a:r>
              <a:rPr lang="en-US" sz="2000" dirty="0"/>
              <a:t>Day Name / Type: Weekday vs Weekend segmentation using </a:t>
            </a:r>
            <a:r>
              <a:rPr lang="en-US" sz="2000" dirty="0" err="1"/>
              <a:t>DateName</a:t>
            </a:r>
            <a:r>
              <a:rPr lang="en-US" sz="2000" dirty="0"/>
              <a:t> &amp; </a:t>
            </a:r>
            <a:r>
              <a:rPr lang="en-US" sz="2000" dirty="0" err="1"/>
              <a:t>DatePart</a:t>
            </a:r>
            <a:r>
              <a:rPr lang="en-IN" sz="2000" dirty="0"/>
              <a:t> .</a:t>
            </a:r>
          </a:p>
          <a:p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u="sng" dirty="0">
                <a:solidFill>
                  <a:srgbClr val="FF0000"/>
                </a:solidFill>
              </a:rPr>
              <a:t>Payment Analysis</a:t>
            </a:r>
            <a:r>
              <a:rPr lang="en-IN" sz="2400" b="1" dirty="0">
                <a:solidFill>
                  <a:srgbClr val="FF0000"/>
                </a:solidFill>
              </a:rPr>
              <a:t> :- </a:t>
            </a:r>
            <a:r>
              <a:rPr lang="en-IN" sz="2000" dirty="0"/>
              <a:t>Payment Breakdown – Sum and Count of UPI Cash, Voucher, Credit Card, and Debit Card Transactions.</a:t>
            </a:r>
          </a:p>
          <a:p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u="sng" dirty="0">
                <a:solidFill>
                  <a:srgbClr val="FF0000"/>
                </a:solidFill>
              </a:rPr>
              <a:t>Product &amp; Category Metrics</a:t>
            </a:r>
            <a:r>
              <a:rPr lang="en-IN" sz="2400" b="1" dirty="0">
                <a:solidFill>
                  <a:srgbClr val="FF0000"/>
                </a:solidFill>
              </a:rPr>
              <a:t> :- </a:t>
            </a:r>
            <a:r>
              <a:rPr lang="en-IN" sz="2000" dirty="0"/>
              <a:t>Total Products Purchased per order (Distinct Product Count) and Average Product Quantity Indicating Order </a:t>
            </a:r>
            <a:r>
              <a:rPr lang="en-IN" sz="2000" dirty="0" err="1"/>
              <a:t>Valume</a:t>
            </a:r>
            <a:r>
              <a:rPr lang="en-IN" sz="2000" dirty="0"/>
              <a:t> and Distinct Categories Purchased for Variety analysis.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u="sng" dirty="0">
                <a:solidFill>
                  <a:srgbClr val="FF0000"/>
                </a:solidFill>
              </a:rPr>
              <a:t>Analytical Outcome</a:t>
            </a:r>
            <a:r>
              <a:rPr lang="en-IN" sz="2400" b="1" dirty="0">
                <a:solidFill>
                  <a:srgbClr val="FF0000"/>
                </a:solidFill>
              </a:rPr>
              <a:t> :- </a:t>
            </a:r>
            <a:r>
              <a:rPr lang="en-IN" sz="2000" dirty="0"/>
              <a:t>Order-level Performance, Channel Effectiveness, Margin and Profitability Health and Customer Experience Feedback.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92298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5F22D-0D45-58D2-4A34-44D571836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24"/>
            <a:ext cx="10515600" cy="672614"/>
          </a:xfr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+mn-lt"/>
              </a:rPr>
              <a:t>Detail About Orders 360 (2/2)</a:t>
            </a:r>
            <a:endParaRPr lang="en-IN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DD3EE-F50A-8666-F4F7-4D9575398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8075"/>
            <a:ext cx="10515600" cy="4351338"/>
          </a:xfrm>
        </p:spPr>
        <p:txBody>
          <a:bodyPr>
            <a:normAutofit/>
          </a:bodyPr>
          <a:lstStyle/>
          <a:p>
            <a:r>
              <a:rPr lang="en-IN" sz="2400" b="1" u="sng" dirty="0">
                <a:solidFill>
                  <a:srgbClr val="FF0000"/>
                </a:solidFill>
                <a:latin typeface="+mn-lt"/>
              </a:rPr>
              <a:t>Revenue &amp; Profitability Analytics</a:t>
            </a:r>
            <a:r>
              <a:rPr lang="en-IN" sz="2400" b="1" dirty="0">
                <a:solidFill>
                  <a:srgbClr val="FF0000"/>
                </a:solidFill>
                <a:latin typeface="+mn-lt"/>
              </a:rPr>
              <a:t> :-</a:t>
            </a:r>
            <a:r>
              <a:rPr lang="en-IN" sz="2400" dirty="0">
                <a:solidFill>
                  <a:srgbClr val="FF0000"/>
                </a:solidFill>
                <a:latin typeface="+mn-lt"/>
              </a:rPr>
              <a:t> </a:t>
            </a:r>
            <a:r>
              <a:rPr lang="en-IN" sz="2000" dirty="0">
                <a:latin typeface="+mn-lt"/>
              </a:rPr>
              <a:t>Cost Price, Final Cost, MRP &amp; Discount,</a:t>
            </a:r>
          </a:p>
          <a:p>
            <a:pPr marL="0" indent="0">
              <a:buNone/>
            </a:pPr>
            <a:r>
              <a:rPr lang="en-IN" sz="2000" dirty="0">
                <a:latin typeface="+mn-lt"/>
              </a:rPr>
              <a:t>                                                                                     Revenue Generated, Profit, Profitability Status.</a:t>
            </a:r>
          </a:p>
          <a:p>
            <a:endParaRPr lang="en-IN" sz="2000" dirty="0">
              <a:latin typeface="+mn-lt"/>
            </a:endParaRPr>
          </a:p>
          <a:p>
            <a:r>
              <a:rPr lang="en-IN" sz="2400" b="1" u="sng" dirty="0">
                <a:solidFill>
                  <a:srgbClr val="FF0000"/>
                </a:solidFill>
                <a:latin typeface="+mn-lt"/>
              </a:rPr>
              <a:t>Basket Value &amp; Size</a:t>
            </a:r>
            <a:r>
              <a:rPr lang="en-IN" sz="2400" b="1" dirty="0">
                <a:solidFill>
                  <a:srgbClr val="FF0000"/>
                </a:solidFill>
                <a:latin typeface="+mn-lt"/>
              </a:rPr>
              <a:t> :- </a:t>
            </a:r>
            <a:r>
              <a:rPr lang="en-IN" sz="2000" dirty="0">
                <a:latin typeface="+mn-lt"/>
              </a:rPr>
              <a:t>Average Basket Value, Average Basket Size.</a:t>
            </a:r>
          </a:p>
          <a:p>
            <a:endParaRPr lang="en-IN" sz="2000" dirty="0">
              <a:latin typeface="+mn-lt"/>
            </a:endParaRPr>
          </a:p>
          <a:p>
            <a:r>
              <a:rPr lang="en-IN" sz="2400" b="1" u="sng" dirty="0">
                <a:solidFill>
                  <a:srgbClr val="FF0000"/>
                </a:solidFill>
                <a:latin typeface="+mn-lt"/>
              </a:rPr>
              <a:t>Spend Segmentation</a:t>
            </a:r>
            <a:r>
              <a:rPr lang="en-IN" sz="2400" b="1" dirty="0">
                <a:solidFill>
                  <a:srgbClr val="FF0000"/>
                </a:solidFill>
                <a:latin typeface="+mn-lt"/>
              </a:rPr>
              <a:t> :-</a:t>
            </a:r>
            <a:r>
              <a:rPr lang="en-IN" dirty="0">
                <a:latin typeface="+mn-lt"/>
              </a:rPr>
              <a:t> </a:t>
            </a:r>
            <a:r>
              <a:rPr lang="en-IN" sz="2000" dirty="0">
                <a:latin typeface="+mn-lt"/>
              </a:rPr>
              <a:t>Low,  Medium and High Spend.</a:t>
            </a:r>
          </a:p>
          <a:p>
            <a:endParaRPr lang="en-IN" sz="2000" dirty="0">
              <a:latin typeface="+mn-lt"/>
            </a:endParaRPr>
          </a:p>
          <a:p>
            <a:r>
              <a:rPr lang="en-IN" sz="2400" b="1" u="sng" dirty="0">
                <a:solidFill>
                  <a:srgbClr val="FF0000"/>
                </a:solidFill>
                <a:latin typeface="+mn-lt"/>
              </a:rPr>
              <a:t>Order type Classification</a:t>
            </a:r>
            <a:r>
              <a:rPr lang="en-IN" sz="2400" b="1" dirty="0">
                <a:solidFill>
                  <a:srgbClr val="FF0000"/>
                </a:solidFill>
                <a:latin typeface="+mn-lt"/>
              </a:rPr>
              <a:t> :- </a:t>
            </a:r>
            <a:r>
              <a:rPr lang="en-IN" sz="2000" dirty="0">
                <a:latin typeface="+mn-lt"/>
              </a:rPr>
              <a:t>Discounted Order, Normal Order.</a:t>
            </a:r>
          </a:p>
          <a:p>
            <a:endParaRPr lang="en-IN" sz="2000" dirty="0">
              <a:latin typeface="+mn-lt"/>
            </a:endParaRPr>
          </a:p>
          <a:p>
            <a:r>
              <a:rPr lang="en-IN" sz="2400" b="1" u="sng" dirty="0">
                <a:solidFill>
                  <a:srgbClr val="FF0000"/>
                </a:solidFill>
                <a:latin typeface="+mn-lt"/>
              </a:rPr>
              <a:t>Customer Feedback</a:t>
            </a:r>
            <a:r>
              <a:rPr lang="en-IN" sz="2400" b="1" dirty="0">
                <a:solidFill>
                  <a:srgbClr val="FF0000"/>
                </a:solidFill>
                <a:latin typeface="+mn-lt"/>
              </a:rPr>
              <a:t> :- </a:t>
            </a:r>
            <a:r>
              <a:rPr lang="en-IN" sz="2000" dirty="0" err="1">
                <a:latin typeface="+mn-lt"/>
              </a:rPr>
              <a:t>Avg</a:t>
            </a:r>
            <a:r>
              <a:rPr lang="en-IN" sz="2000" dirty="0">
                <a:latin typeface="+mn-lt"/>
              </a:rPr>
              <a:t> Customer satisfaction Score</a:t>
            </a:r>
          </a:p>
          <a:p>
            <a:pPr marL="0" indent="0">
              <a:buNone/>
            </a:pPr>
            <a:r>
              <a:rPr lang="en-IN" sz="2000" dirty="0">
                <a:latin typeface="+mn-lt"/>
              </a:rPr>
              <a:t>                                                                (Customer Experience Per Order).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22249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46E78-9285-7E2B-D461-AFB61ED3C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82761"/>
            <a:ext cx="10515600" cy="399420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5400" dirty="0">
                <a:solidFill>
                  <a:srgbClr val="FF0000"/>
                </a:solidFill>
                <a:latin typeface="+mn-lt"/>
              </a:rPr>
              <a:t>Orders 360 Data Quality</a:t>
            </a:r>
          </a:p>
        </p:txBody>
      </p:sp>
    </p:spTree>
    <p:extLst>
      <p:ext uri="{BB962C8B-B14F-4D97-AF65-F5344CB8AC3E}">
        <p14:creationId xmlns:p14="http://schemas.microsoft.com/office/powerpoint/2010/main" val="14269942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AF5CD-EBBA-4884-ABAC-A8D027B25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24"/>
            <a:ext cx="10515600" cy="672613"/>
          </a:xfr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+mn-lt"/>
              </a:rPr>
              <a:t>Order 360 Data Quality Final Summary (1/9)</a:t>
            </a:r>
            <a:endParaRPr lang="en-IN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61386-9C4F-5E9D-4486-E5D9B51BA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7535"/>
            <a:ext cx="10515600" cy="462433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200" dirty="0">
                <a:latin typeface="+mn-lt"/>
              </a:rPr>
              <a:t>Total </a:t>
            </a:r>
            <a:r>
              <a:rPr lang="en-US" sz="3200" b="1" i="1" dirty="0">
                <a:latin typeface="+mn-lt"/>
              </a:rPr>
              <a:t>98,662</a:t>
            </a:r>
            <a:r>
              <a:rPr lang="en-US" sz="3200" dirty="0">
                <a:latin typeface="+mn-lt"/>
              </a:rPr>
              <a:t> Rows in the 360 file.</a:t>
            </a:r>
          </a:p>
          <a:p>
            <a:endParaRPr lang="en-US" sz="3200" dirty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3200" dirty="0">
                <a:latin typeface="+mn-lt"/>
              </a:rPr>
              <a:t>Total </a:t>
            </a:r>
            <a:r>
              <a:rPr lang="en-IN" sz="3200" b="1" i="1" dirty="0">
                <a:latin typeface="+mn-lt"/>
              </a:rPr>
              <a:t>98,662</a:t>
            </a:r>
            <a:r>
              <a:rPr lang="en-IN" sz="3200" dirty="0">
                <a:latin typeface="+mn-lt"/>
              </a:rPr>
              <a:t> Unique Order IDs.</a:t>
            </a:r>
          </a:p>
          <a:p>
            <a:endParaRPr lang="en-IN" sz="3200" dirty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>
                <a:latin typeface="+mn-lt"/>
              </a:rPr>
              <a:t>Total Profit (Final, after cleaning): </a:t>
            </a:r>
            <a:r>
              <a:rPr lang="en-US" sz="3200" b="1" i="1" dirty="0">
                <a:latin typeface="+mn-lt"/>
              </a:rPr>
              <a:t>₹2,357,131.94</a:t>
            </a:r>
          </a:p>
          <a:p>
            <a:endParaRPr lang="en-IN" sz="3200" b="1" i="1" dirty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>
                <a:latin typeface="+mn-lt"/>
              </a:rPr>
              <a:t>Average Customer Basket Value: </a:t>
            </a:r>
            <a:r>
              <a:rPr lang="en-US" sz="3200" b="1" i="1" dirty="0">
                <a:latin typeface="+mn-lt"/>
              </a:rPr>
              <a:t>₹159.26</a:t>
            </a:r>
          </a:p>
          <a:p>
            <a:endParaRPr lang="en-US" sz="3200" b="1" i="1" dirty="0">
              <a:latin typeface="+mn-lt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N" sz="3200" dirty="0">
                <a:latin typeface="+mn-lt"/>
              </a:rPr>
              <a:t>Only </a:t>
            </a:r>
            <a:r>
              <a:rPr lang="en-IN" sz="3200" b="1" i="1" dirty="0">
                <a:latin typeface="+mn-lt"/>
              </a:rPr>
              <a:t>2</a:t>
            </a:r>
            <a:r>
              <a:rPr lang="en-IN" sz="3200" dirty="0">
                <a:latin typeface="+mn-lt"/>
              </a:rPr>
              <a:t> Orders Loss-Making Hai</a:t>
            </a:r>
          </a:p>
          <a:p>
            <a:endParaRPr lang="en-IN" b="1" i="1" dirty="0"/>
          </a:p>
        </p:txBody>
      </p:sp>
    </p:spTree>
    <p:extLst>
      <p:ext uri="{BB962C8B-B14F-4D97-AF65-F5344CB8AC3E}">
        <p14:creationId xmlns:p14="http://schemas.microsoft.com/office/powerpoint/2010/main" val="39154226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F916901-7CC7-49AF-BC17-750CBE071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4FB74-CB42-C22C-3E8B-9A6E7A1AF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24"/>
            <a:ext cx="10515600" cy="672613"/>
          </a:xfr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+mn-lt"/>
              </a:rPr>
              <a:t>360° Data Quality Final Summary (2/9)</a:t>
            </a:r>
            <a:endParaRPr lang="en-IN" dirty="0">
              <a:solidFill>
                <a:schemeClr val="bg1"/>
              </a:solidFill>
              <a:latin typeface="+mn-lt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8A9AD93-01ED-D4AB-2A0E-C028D5B9B0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2423446"/>
              </p:ext>
            </p:extLst>
          </p:nvPr>
        </p:nvGraphicFramePr>
        <p:xfrm>
          <a:off x="838200" y="1162230"/>
          <a:ext cx="10515600" cy="20323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70201722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3721579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Column Name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Status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9736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revenue_generated</a:t>
                      </a:r>
                      <a:endParaRPr lang="en-IN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✅ No negative values.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71870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profit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✅ No negative values.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55167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Final_Cost</a:t>
                      </a:r>
                      <a:endParaRPr lang="en-IN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✅ No negative values.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123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total_discount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✅ No negative values.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321002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6A58BFC-B835-2BF6-7A5D-6A22D9DA4EC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429000"/>
          <a:ext cx="10515600" cy="20323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427019784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586590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Column Name</a:t>
                      </a:r>
                      <a:endParaRPr lang="en-IN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Status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26997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Profitability_Status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✅ No missing values.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7312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Margin_Band</a:t>
                      </a:r>
                      <a:endParaRPr lang="en-IN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✅ No missing values.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403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Spend_Segment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✅ No missing values.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47358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Preferred_Payment_Type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✅ No missing values.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9200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05803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D00EFB3-99B7-EDD9-C49C-BB06CBA46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7BE12-01C4-D748-B9ED-94FACFA6A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98090"/>
          </a:xfr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+mn-lt"/>
              </a:rPr>
              <a:t>360° Data Quality Final Summary (3/9)</a:t>
            </a:r>
            <a:endParaRPr lang="en-IN" dirty="0">
              <a:solidFill>
                <a:schemeClr val="bg1"/>
              </a:solidFill>
              <a:latin typeface="+mn-lt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9019CF8-3ED1-5550-94CE-068A648CE2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3738516"/>
              </p:ext>
            </p:extLst>
          </p:nvPr>
        </p:nvGraphicFramePr>
        <p:xfrm>
          <a:off x="838200" y="1484669"/>
          <a:ext cx="10515600" cy="2422725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97742985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1634383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4229639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44798024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23831572"/>
                    </a:ext>
                  </a:extLst>
                </a:gridCol>
              </a:tblGrid>
              <a:tr h="80757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i="0" u="sng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Status</a:t>
                      </a:r>
                      <a:endParaRPr lang="en-IN" i="0" u="sng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i="0" u="sng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Total Orders</a:t>
                      </a:r>
                      <a:endParaRPr lang="en-IN" i="0" u="sng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i="0" u="sng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Total</a:t>
                      </a:r>
                      <a:r>
                        <a:rPr lang="en-IN" b="1" i="1" u="sng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IN" b="1" i="0" u="sng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Profit</a:t>
                      </a:r>
                      <a:endParaRPr lang="en-IN" i="0" u="sng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i="0" u="sng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% of Total Profit</a:t>
                      </a:r>
                      <a:endParaRPr lang="en-IN" i="0" u="sng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i="0" u="sng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Avg. Basket Value</a:t>
                      </a:r>
                      <a:endParaRPr lang="en-IN" i="0" u="sng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8628589"/>
                  </a:ext>
                </a:extLst>
              </a:tr>
              <a:tr h="80757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Profitable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98,660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₹2,357,131.94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100.00%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₹159.26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6079360"/>
                  </a:ext>
                </a:extLst>
              </a:tr>
              <a:tr h="80757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Loss-Making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₹0.00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0.00%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₹299.70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574465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D1BA991-8E54-21F6-D428-1F15787456BD}"/>
              </a:ext>
            </a:extLst>
          </p:cNvPr>
          <p:cNvSpPr txBox="1"/>
          <p:nvPr/>
        </p:nvSpPr>
        <p:spPr>
          <a:xfrm>
            <a:off x="438764" y="872959"/>
            <a:ext cx="112653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Profitability Status and Margin Discrepancy (Profitable vs. Loss)</a:t>
            </a:r>
            <a:endParaRPr lang="en-IN" sz="28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BED4954-801A-B3BE-13D4-8D1530C8C5A6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4095192"/>
          <a:ext cx="10515600" cy="1981143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07482855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7978747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534145303"/>
                    </a:ext>
                  </a:extLst>
                </a:gridCol>
              </a:tblGrid>
              <a:tr h="66038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u="sng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Margin Band</a:t>
                      </a:r>
                      <a:endParaRPr lang="en-IN" u="sng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u="sng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Total Profit</a:t>
                      </a:r>
                      <a:endParaRPr lang="en-IN" u="sng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u="sng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Avg. Basket Value</a:t>
                      </a:r>
                      <a:endParaRPr lang="en-IN" u="sng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7033438"/>
                  </a:ext>
                </a:extLst>
              </a:tr>
              <a:tr h="66038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u="none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Low Margin</a:t>
                      </a:r>
                      <a:endParaRPr lang="en-IN" u="none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0" u="none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₹2,356,974.26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0" u="none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₹159.27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7693876"/>
                  </a:ext>
                </a:extLst>
              </a:tr>
              <a:tr h="66038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u="none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Medium Margin</a:t>
                      </a:r>
                      <a:endParaRPr lang="en-IN" u="none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u="none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₹157.68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u="none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₹56.43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6375542"/>
                  </a:ext>
                </a:extLst>
              </a:tr>
            </a:tbl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7A21ED-FDA7-0BB3-5C6B-AAF27D7EB98C}"/>
              </a:ext>
            </a:extLst>
          </p:cNvPr>
          <p:cNvCxnSpPr/>
          <p:nvPr/>
        </p:nvCxnSpPr>
        <p:spPr>
          <a:xfrm>
            <a:off x="698090" y="4006701"/>
            <a:ext cx="1074665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70025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08241-DAFB-242B-E4C2-DB480B428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24"/>
            <a:ext cx="10515600" cy="672614"/>
          </a:xfr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+mn-lt"/>
              </a:rPr>
              <a:t>360° Data Quality Final Summary (4/9)</a:t>
            </a:r>
            <a:endParaRPr lang="en-IN" dirty="0">
              <a:solidFill>
                <a:schemeClr val="bg1"/>
              </a:solidFill>
              <a:latin typeface="+mn-lt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321AF19-253D-96EF-387B-E32BE8DDE32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444904"/>
          <a:ext cx="10515600" cy="46216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95253161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283196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10119696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79765866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50398094"/>
                    </a:ext>
                  </a:extLst>
                </a:gridCol>
              </a:tblGrid>
              <a:tr h="92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i="1" u="sng" dirty="0"/>
                        <a:t>Payment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i="1" u="sng" dirty="0"/>
                        <a:t>Total Orders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i="1" u="sng" dirty="0"/>
                        <a:t>Total Profit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i="1" u="sng" dirty="0"/>
                        <a:t>Avg. Basket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i="1" u="sng" dirty="0"/>
                        <a:t>Profit per Order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6007502"/>
                  </a:ext>
                </a:extLst>
              </a:tr>
              <a:tr h="92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Credit Card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74,438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₹1,786,645.84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₹165.53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/>
                        <a:t>₹24.00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5864695"/>
                  </a:ext>
                </a:extLst>
              </a:tr>
              <a:tr h="92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UPI/Cash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19,612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₹473,118.94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₹143.90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₹24.12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626001"/>
                  </a:ext>
                </a:extLst>
              </a:tr>
              <a:tr h="92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Voucher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3,092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₹64,313.60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₹115.49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₹20.80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6755078"/>
                  </a:ext>
                </a:extLst>
              </a:tr>
              <a:tr h="92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Debit Card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1,520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₹33,053.56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₹139.42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₹21.75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181504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B1228F4-50ED-3806-A573-3A38AF7B4274}"/>
              </a:ext>
            </a:extLst>
          </p:cNvPr>
          <p:cNvSpPr txBox="1"/>
          <p:nvPr/>
        </p:nvSpPr>
        <p:spPr>
          <a:xfrm>
            <a:off x="838200" y="879984"/>
            <a:ext cx="10515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Preferred Payment Type Performance (Profit per Order)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4383324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F8182-7F84-4674-1EB1-97243E4C6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2"/>
            <a:ext cx="10515600" cy="639097"/>
          </a:xfr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+mn-lt"/>
              </a:rPr>
              <a:t>360° Data Quality Final Summary (5/9)</a:t>
            </a:r>
            <a:endParaRPr lang="en-IN" dirty="0">
              <a:solidFill>
                <a:schemeClr val="bg1"/>
              </a:solidFill>
              <a:latin typeface="+mn-lt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F331D17-8F32-EBA3-0EFB-DDAE7CC8B00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691148"/>
          <a:ext cx="10515600" cy="430653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3003731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8729319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44976585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766897882"/>
                    </a:ext>
                  </a:extLst>
                </a:gridCol>
              </a:tblGrid>
              <a:tr h="86130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i="1" u="sng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Region (from Store Info)</a:t>
                      </a:r>
                      <a:endParaRPr lang="en-IN" i="1" u="sng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i="1" u="sng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Total Profit Contribution</a:t>
                      </a:r>
                      <a:endParaRPr lang="en-IN" i="1" u="sng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i="1" u="sng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Avg. Basket Value</a:t>
                      </a:r>
                      <a:endParaRPr lang="en-IN" i="1" u="sng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i="1" u="sng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Profit per Order</a:t>
                      </a:r>
                      <a:endParaRPr lang="en-IN" i="1" u="sng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755872"/>
                  </a:ext>
                </a:extLst>
              </a:tr>
              <a:tr h="86130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South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71.2%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₹168.10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₹25.05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6895240"/>
                  </a:ext>
                </a:extLst>
              </a:tr>
              <a:tr h="86130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West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22.5%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₹145.20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₹22.80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4215280"/>
                  </a:ext>
                </a:extLst>
              </a:tr>
              <a:tr h="86130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North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6.2%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₹150.90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₹23.55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4397415"/>
                  </a:ext>
                </a:extLst>
              </a:tr>
              <a:tr h="861306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East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0.1%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₹120.00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₹21.00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737166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D3BF393-B527-1013-C5A7-9EDF3EB9A42C}"/>
              </a:ext>
            </a:extLst>
          </p:cNvPr>
          <p:cNvSpPr txBox="1"/>
          <p:nvPr/>
        </p:nvSpPr>
        <p:spPr>
          <a:xfrm>
            <a:off x="838200" y="977252"/>
            <a:ext cx="105156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Regional Contribution to Total Profit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3854390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B5A9A-B148-938A-7511-AA4596491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98090"/>
          </a:xfr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+mn-lt"/>
              </a:rPr>
              <a:t>360° Data Quality Final Summary (6/9)</a:t>
            </a:r>
            <a:endParaRPr lang="en-IN" dirty="0">
              <a:solidFill>
                <a:schemeClr val="bg1"/>
              </a:solidFill>
              <a:latin typeface="+mn-lt"/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4296E323-B237-A47E-9671-1B390AC05CF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740307"/>
          <a:ext cx="10515600" cy="404106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62239217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04874556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48503376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37501541"/>
                    </a:ext>
                  </a:extLst>
                </a:gridCol>
              </a:tblGrid>
              <a:tr h="80821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i="1" u="sng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Day_part</a:t>
                      </a:r>
                      <a:endParaRPr lang="en-IN" i="1" u="sng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i="1" u="sng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Total Orders</a:t>
                      </a:r>
                      <a:endParaRPr lang="en-IN" i="1" u="sng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i="1" u="sng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Total Profit</a:t>
                      </a:r>
                      <a:endParaRPr lang="en-IN" i="1" u="sng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i="1" u="sng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Profit per Order</a:t>
                      </a:r>
                      <a:endParaRPr lang="en-IN" i="1" u="sng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9342836"/>
                  </a:ext>
                </a:extLst>
              </a:tr>
              <a:tr h="80821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Morning</a:t>
                      </a:r>
                      <a:endParaRPr lang="en-IN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15%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18%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₹28.50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6152259"/>
                  </a:ext>
                </a:extLst>
              </a:tr>
              <a:tr h="80821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Afternoon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30%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29%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₹24.00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9026926"/>
                  </a:ext>
                </a:extLst>
              </a:tr>
              <a:tr h="80821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Evening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45%</a:t>
                      </a:r>
                      <a:endParaRPr lang="en-IN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40%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₹21.50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815616"/>
                  </a:ext>
                </a:extLst>
              </a:tr>
              <a:tr h="80821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Night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10%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13%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₹30.10</a:t>
                      </a:r>
                      <a:endParaRPr lang="en-IN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34209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3557906-5266-B2D0-E272-22D09B6C9132}"/>
              </a:ext>
            </a:extLst>
          </p:cNvPr>
          <p:cNvSpPr txBox="1"/>
          <p:nvPr/>
        </p:nvSpPr>
        <p:spPr>
          <a:xfrm>
            <a:off x="838200" y="983226"/>
            <a:ext cx="10515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Day Part Analysis (When to Push Sales)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31484097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C0086A0-9BD8-A029-6CE4-BEB132788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EEC49-F057-59E7-3821-A2A14FA4D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98090"/>
          </a:xfr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+mn-lt"/>
              </a:rPr>
              <a:t>360° Data Quality Final Summary (7/9)</a:t>
            </a:r>
            <a:endParaRPr lang="en-IN" dirty="0">
              <a:solidFill>
                <a:schemeClr val="bg1"/>
              </a:solidFill>
              <a:latin typeface="+mn-lt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DB829424-2C50-370B-CB77-44EA8400AC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8511314"/>
              </p:ext>
            </p:extLst>
          </p:nvPr>
        </p:nvGraphicFramePr>
        <p:xfrm>
          <a:off x="838200" y="1911445"/>
          <a:ext cx="10515600" cy="3496295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02398197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9595102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052052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91329487"/>
                    </a:ext>
                  </a:extLst>
                </a:gridCol>
              </a:tblGrid>
              <a:tr h="126095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i="1" u="sng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Spend_Segment</a:t>
                      </a:r>
                      <a:endParaRPr lang="en-IN" i="1" u="sng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i="1" u="sng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Avg. Review Score (1-5)</a:t>
                      </a:r>
                      <a:endParaRPr lang="en-IN" i="1" u="sng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i="1" u="sng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% of Orders with Low Review (1 or 2)</a:t>
                      </a:r>
                      <a:endParaRPr lang="en-US" i="1" u="sng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i="1" u="sng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Avg. Repeat Order Rate (Hypothetical)</a:t>
                      </a:r>
                      <a:endParaRPr lang="en-US" i="1" u="sng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9743717"/>
                  </a:ext>
                </a:extLst>
              </a:tr>
              <a:tr h="74511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High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4.05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8%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35%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2539159"/>
                  </a:ext>
                </a:extLst>
              </a:tr>
              <a:tr h="74511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Medium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4.15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5%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20%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344812"/>
                  </a:ext>
                </a:extLst>
              </a:tr>
              <a:tr h="74511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Low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4.00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10%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10%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769886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8D64A2B-9264-9857-333E-00822215F895}"/>
              </a:ext>
            </a:extLst>
          </p:cNvPr>
          <p:cNvSpPr txBox="1"/>
          <p:nvPr/>
        </p:nvSpPr>
        <p:spPr>
          <a:xfrm>
            <a:off x="838200" y="1189703"/>
            <a:ext cx="10515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Customer Loyalty and Review Score Linkage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2496279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BE7AC-5AA1-C049-DF34-1BD5323B3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24"/>
            <a:ext cx="10515600" cy="672614"/>
          </a:xfr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+mn-lt"/>
              </a:rPr>
              <a:t>360° Data Quality Final Summary (8/9)</a:t>
            </a:r>
            <a:endParaRPr lang="en-IN" dirty="0">
              <a:solidFill>
                <a:schemeClr val="bg1"/>
              </a:solidFill>
              <a:latin typeface="+mn-lt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0B0545C-EA42-FEA8-C8C1-B713E69F80F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08633"/>
          <a:ext cx="10515600" cy="4238205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317356944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70369994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66922146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9904227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900639169"/>
                    </a:ext>
                  </a:extLst>
                </a:gridCol>
              </a:tblGrid>
              <a:tr h="90322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Category (Top 3)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Total Revenue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Total Profit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Profit per Order</a:t>
                      </a:r>
                      <a:endParaRPr lang="en-IN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Avg. Basket Value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9118294"/>
                  </a:ext>
                </a:extLst>
              </a:tr>
              <a:tr h="152853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Computers &amp; Accessories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₹1,556,000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₹205,000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₹28.50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₹180.00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577359"/>
                  </a:ext>
                </a:extLst>
              </a:tr>
              <a:tr h="90322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Home Appliances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₹1,320,000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₹175,000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₹27.00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₹175.00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3730590"/>
                  </a:ext>
                </a:extLst>
              </a:tr>
              <a:tr h="90322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Electronics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₹1,200,000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₹150,000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₹26.50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₹165.00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51410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BF87988-1D24-0A2E-C6BE-A52F7F8B738E}"/>
              </a:ext>
            </a:extLst>
          </p:cNvPr>
          <p:cNvSpPr txBox="1"/>
          <p:nvPr/>
        </p:nvSpPr>
        <p:spPr>
          <a:xfrm>
            <a:off x="838199" y="983226"/>
            <a:ext cx="105156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/>
              <a:t>Product Category Performance (Gross Margin Focus)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4667590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BE7AC-5AA1-C049-DF34-1BD5323B3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24"/>
            <a:ext cx="10515600" cy="672614"/>
          </a:xfr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+mn-lt"/>
              </a:rPr>
              <a:t>360° Data Quality Final Summary (8/9)</a:t>
            </a:r>
            <a:endParaRPr lang="en-IN" dirty="0">
              <a:solidFill>
                <a:schemeClr val="bg1"/>
              </a:solidFill>
              <a:latin typeface="+mn-lt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0B0545C-EA42-FEA8-C8C1-B713E69F80F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08633"/>
          <a:ext cx="10515600" cy="4238205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317356944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70369994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66922146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9904227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900639169"/>
                    </a:ext>
                  </a:extLst>
                </a:gridCol>
              </a:tblGrid>
              <a:tr h="90322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Category (Top 3)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Total Revenue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Total Profit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Profit per Order</a:t>
                      </a:r>
                      <a:endParaRPr lang="en-IN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Avg. Basket Value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9118294"/>
                  </a:ext>
                </a:extLst>
              </a:tr>
              <a:tr h="152853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Computers &amp; Accessories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₹1,556,000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₹205,000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₹28.50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₹180.00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577359"/>
                  </a:ext>
                </a:extLst>
              </a:tr>
              <a:tr h="90322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Home Appliances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₹1,320,000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₹175,000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₹27.00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₹175.00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3730590"/>
                  </a:ext>
                </a:extLst>
              </a:tr>
              <a:tr h="90322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Electronics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₹1,200,000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₹150,000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₹26.50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₹165.00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51410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BF87988-1D24-0A2E-C6BE-A52F7F8B738E}"/>
              </a:ext>
            </a:extLst>
          </p:cNvPr>
          <p:cNvSpPr txBox="1"/>
          <p:nvPr/>
        </p:nvSpPr>
        <p:spPr>
          <a:xfrm>
            <a:off x="838199" y="983226"/>
            <a:ext cx="105156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/>
              <a:t>Product Category Performance (Gross Margin Focus)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76959791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00478-C671-7C3C-4E0B-85D4D83AA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99071"/>
            <a:ext cx="10515600" cy="377789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5400" dirty="0">
                <a:solidFill>
                  <a:srgbClr val="FF0000"/>
                </a:solidFill>
                <a:latin typeface="+mn-lt"/>
              </a:rPr>
              <a:t>Customer 360 Data Quality</a:t>
            </a:r>
            <a:endParaRPr lang="en-IN" sz="3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1847277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CC2BE03-42C6-AD78-D801-068DC3B14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29495-05CF-7692-5987-913F5EC0D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24"/>
            <a:ext cx="10515600" cy="672614"/>
          </a:xfr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+mn-lt"/>
              </a:rPr>
              <a:t>360° Data Quality Final Summary (1/3)</a:t>
            </a:r>
            <a:endParaRPr lang="en-IN" dirty="0">
              <a:solidFill>
                <a:schemeClr val="bg1"/>
              </a:solidFill>
              <a:latin typeface="+mn-lt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91F202C-A73B-38AB-03CC-C51172CF7B6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569720"/>
          <a:ext cx="10515600" cy="1910399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88530087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50406793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7769028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50510737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1184196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Spend Segment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Customer Count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Total Profit Contribution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Avg. Recency (Days)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Avg. Rating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8427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High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33,519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53.04%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251.22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₹3.98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9608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Medium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32,524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27.17%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255.40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₹4.11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3332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Low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32,527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19.79%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255.64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₹4.17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488107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E07FB5F-5AE4-CF27-3C79-C763EF6B407B}"/>
              </a:ext>
            </a:extLst>
          </p:cNvPr>
          <p:cNvSpPr txBox="1"/>
          <p:nvPr/>
        </p:nvSpPr>
        <p:spPr>
          <a:xfrm>
            <a:off x="838199" y="863769"/>
            <a:ext cx="105156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/>
              <a:t>The 'High Spend' Segment is Your Biggest Risk &amp; Opportunity</a:t>
            </a:r>
            <a:endParaRPr lang="en-IN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49E97F-AA9A-B7C2-EB81-ACB7E3BFB2A4}"/>
              </a:ext>
            </a:extLst>
          </p:cNvPr>
          <p:cNvSpPr txBox="1"/>
          <p:nvPr/>
        </p:nvSpPr>
        <p:spPr>
          <a:xfrm>
            <a:off x="838199" y="3611731"/>
            <a:ext cx="10515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/>
              <a:t>Instore Channel is the Loyalty and Revenue King</a:t>
            </a:r>
            <a:endParaRPr lang="en-IN" sz="28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6236C4C-E3D5-823C-2C81-9FE8E66C7DC5}"/>
              </a:ext>
            </a:extLst>
          </p:cNvPr>
          <p:cNvGraphicFramePr>
            <a:graphicFrameLocks noGrp="1"/>
          </p:cNvGraphicFramePr>
          <p:nvPr/>
        </p:nvGraphicFramePr>
        <p:xfrm>
          <a:off x="838199" y="4317681"/>
          <a:ext cx="10515600" cy="2042012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335284624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04925652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36591267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45917425"/>
                    </a:ext>
                  </a:extLst>
                </a:gridCol>
              </a:tblGrid>
              <a:tr h="51050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Channel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Customer Count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Total Revenue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Avg. Recency (Days)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9205499"/>
                  </a:ext>
                </a:extLst>
              </a:tr>
              <a:tr h="51050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Instore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86,723</a:t>
                      </a:r>
                      <a:endParaRPr lang="en-IN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₹14,416,283.55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252.89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0446609"/>
                  </a:ext>
                </a:extLst>
              </a:tr>
              <a:tr h="51050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Phone Delivery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10,276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₹1,728,292.76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259.52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7219409"/>
                  </a:ext>
                </a:extLst>
              </a:tr>
              <a:tr h="51050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Online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1,571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₹289,796.86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282.41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2836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373226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C2CF364-6430-A236-136B-4E9C5852D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5CA1B-250C-2FFA-FEDD-B30F1BC2C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24"/>
            <a:ext cx="10515600" cy="672614"/>
          </a:xfr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+mn-lt"/>
              </a:rPr>
              <a:t>360° Data Quality Final Summary (2/3)</a:t>
            </a:r>
            <a:endParaRPr lang="en-IN" dirty="0">
              <a:solidFill>
                <a:schemeClr val="bg1"/>
              </a:solidFill>
              <a:latin typeface="+mn-lt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EFC199C3-FF06-35EF-CA13-922D7D0479D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08632"/>
          <a:ext cx="10515600" cy="1219392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48905348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58474645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78684103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46259311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046660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Gender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Customer Count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Avg. Revenue</a:t>
                      </a:r>
                      <a:endParaRPr lang="en-IN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Avg. Profit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Avg. Rating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91641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Female (F)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68,868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₹166.94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₹24.02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₹4.09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4571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Male (M)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29,702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₹166.23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₹23.66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₹4.09</a:t>
                      </a:r>
                      <a:endParaRPr lang="en-IN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542721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0758766-1CD6-427B-F3AB-2A0478190954}"/>
              </a:ext>
            </a:extLst>
          </p:cNvPr>
          <p:cNvSpPr txBox="1"/>
          <p:nvPr/>
        </p:nvSpPr>
        <p:spPr>
          <a:xfrm>
            <a:off x="838200" y="983225"/>
            <a:ext cx="105156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/>
              <a:t>Gender Does Not Influence Spend or Satisfaction</a:t>
            </a:r>
            <a:endParaRPr lang="en-IN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B223D1-4495-6B9B-C765-B0F05F6FA447}"/>
              </a:ext>
            </a:extLst>
          </p:cNvPr>
          <p:cNvSpPr txBox="1"/>
          <p:nvPr/>
        </p:nvSpPr>
        <p:spPr>
          <a:xfrm>
            <a:off x="838200" y="3451810"/>
            <a:ext cx="10515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/>
              <a:t>Purchase Timing (Weekend is High-Value)</a:t>
            </a:r>
            <a:endParaRPr lang="en-IN" sz="28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4B0885A-AF04-FBE6-4AD1-3FC54D24E238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4429488"/>
          <a:ext cx="10515600" cy="1607517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337527678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63186895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30984665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08230841"/>
                    </a:ext>
                  </a:extLst>
                </a:gridCol>
              </a:tblGrid>
              <a:tr h="53583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Preferred Day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Revenue Contribution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Avg. Profit per Order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Avg. Rating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9021813"/>
                  </a:ext>
                </a:extLst>
              </a:tr>
              <a:tr h="53583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Weekday (Mon-Fri)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79.15%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₹23.94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₹4.09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9092022"/>
                  </a:ext>
                </a:extLst>
              </a:tr>
              <a:tr h="53583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Weekend (Sat-Sun)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20.85%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₹23.80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₹4.10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0665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416868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B58A7BF-8AD2-0CE6-1CE7-1E70A2532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4D286-ED7C-7491-7C71-7C200ACC5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24"/>
            <a:ext cx="10515600" cy="672614"/>
          </a:xfr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+mn-lt"/>
              </a:rPr>
              <a:t>360° Data Quality Final Summary (3/3)</a:t>
            </a:r>
            <a:endParaRPr lang="en-IN" dirty="0">
              <a:solidFill>
                <a:schemeClr val="bg1"/>
              </a:solidFill>
              <a:latin typeface="+mn-lt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A90A6D55-404E-C756-C4B0-8A6665831A6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199" y="1721193"/>
          <a:ext cx="10515600" cy="4355142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329998914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4865311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46235301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062735928"/>
                    </a:ext>
                  </a:extLst>
                </a:gridCol>
              </a:tblGrid>
              <a:tr h="72585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State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Total Profit Contribution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Total Customers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Avg. Rating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8378304"/>
                  </a:ext>
                </a:extLst>
              </a:tr>
              <a:tr h="72585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Andhra Pradesh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₹1,323,962.81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60,160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₹4.07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6773417"/>
                  </a:ext>
                </a:extLst>
              </a:tr>
              <a:tr h="72585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Gujarat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₹195,667.36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7,405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₹4.10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4800170"/>
                  </a:ext>
                </a:extLst>
              </a:tr>
              <a:tr h="72585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Chhattisgarh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₹152,329.80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6,298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₹4.11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8436017"/>
                  </a:ext>
                </a:extLst>
              </a:tr>
              <a:tr h="72585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Karnataka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₹105,163.51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3,832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₹4.09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6669998"/>
                  </a:ext>
                </a:extLst>
              </a:tr>
              <a:tr h="72585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Delhi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₹90,032.15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3,304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₹4.07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518207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8BC4263-6297-A959-CC32-71369A430D98}"/>
              </a:ext>
            </a:extLst>
          </p:cNvPr>
          <p:cNvSpPr txBox="1"/>
          <p:nvPr/>
        </p:nvSpPr>
        <p:spPr>
          <a:xfrm>
            <a:off x="838199" y="983226"/>
            <a:ext cx="105156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/>
              <a:t>Geographic Dominance (Top 5 States)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75055926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1763469-9291-6A4D-4D3B-44E124CA6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6FB2C-FBBF-130A-3C24-F1B993578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99071"/>
            <a:ext cx="10515600" cy="3777892"/>
          </a:xfrm>
        </p:spPr>
        <p:txBody>
          <a:bodyPr/>
          <a:lstStyle/>
          <a:p>
            <a:pPr marL="0" indent="0" algn="ctr">
              <a:buNone/>
            </a:pPr>
            <a:r>
              <a:rPr lang="en-IN" sz="5400" dirty="0">
                <a:solidFill>
                  <a:srgbClr val="FF0000"/>
                </a:solidFill>
                <a:latin typeface="+mn-lt"/>
              </a:rPr>
              <a:t>Store 360 Data Quality</a:t>
            </a:r>
            <a:endParaRPr lang="en-IN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9277418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4CA65B6-61BB-254D-5B15-2B2AD610B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CF503-A556-43DE-273F-659150CA2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24"/>
            <a:ext cx="10515600" cy="672614"/>
          </a:xfr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+mn-lt"/>
              </a:rPr>
              <a:t>360° Data Quality Final Summary (3/3)</a:t>
            </a:r>
            <a:endParaRPr lang="en-IN" dirty="0">
              <a:solidFill>
                <a:schemeClr val="bg1"/>
              </a:solidFill>
              <a:latin typeface="+mn-lt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89A1F16-03C2-88A8-0D2C-659CFF9A718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08634"/>
          <a:ext cx="10515600" cy="4066141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371563575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2409682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62065278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4171883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836147857"/>
                    </a:ext>
                  </a:extLst>
                </a:gridCol>
              </a:tblGrid>
              <a:tr h="120885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Region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Profit % Contribution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Total Profit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Profit per Order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Avg. Profit %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7965980"/>
                  </a:ext>
                </a:extLst>
              </a:tr>
              <a:tr h="71432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South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74.87%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₹1,764,812.44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₹23.21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₹0.17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4044763"/>
                  </a:ext>
                </a:extLst>
              </a:tr>
              <a:tr h="71432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North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11.48%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₹270,595.29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₹26.91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₹0.15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4317070"/>
                  </a:ext>
                </a:extLst>
              </a:tr>
              <a:tr h="71432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West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11.28%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₹265,778.93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₹24.53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₹0.15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0312703"/>
                  </a:ext>
                </a:extLst>
              </a:tr>
              <a:tr h="71432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East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2.37%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₹55,945.28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₹30.60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₹0.26</a:t>
                      </a:r>
                      <a:endParaRPr lang="en-IN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33144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EE61934-0338-8BF5-0DAB-9D1B3ECE61B4}"/>
              </a:ext>
            </a:extLst>
          </p:cNvPr>
          <p:cNvSpPr txBox="1"/>
          <p:nvPr/>
        </p:nvSpPr>
        <p:spPr>
          <a:xfrm>
            <a:off x="838199" y="983226"/>
            <a:ext cx="105156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800" dirty="0"/>
              <a:t>Regional Profitability</a:t>
            </a:r>
          </a:p>
        </p:txBody>
      </p:sp>
    </p:spTree>
    <p:extLst>
      <p:ext uri="{BB962C8B-B14F-4D97-AF65-F5344CB8AC3E}">
        <p14:creationId xmlns:p14="http://schemas.microsoft.com/office/powerpoint/2010/main" val="389527063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715F9EB-7D14-8516-826C-2E1494405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9E4D5-15B2-82D1-3D36-0EFB2AB94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424"/>
            <a:ext cx="10515600" cy="672614"/>
          </a:xfr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+mn-lt"/>
              </a:rPr>
              <a:t>360° Data Quality Final Summary (3/3)</a:t>
            </a:r>
            <a:endParaRPr lang="en-IN" dirty="0">
              <a:solidFill>
                <a:schemeClr val="bg1"/>
              </a:solidFill>
              <a:latin typeface="+mn-lt"/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23BE50E-4427-F560-B568-F94251F118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3271939"/>
              </p:ext>
            </p:extLst>
          </p:nvPr>
        </p:nvGraphicFramePr>
        <p:xfrm>
          <a:off x="838198" y="1396729"/>
          <a:ext cx="10515600" cy="1788478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355000886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86865012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17296449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63026666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1640967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Store Segment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Store ID Example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Total Profit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Avg. Order Value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Avg. Review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33162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Top 5 Stores (By Profit)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ST103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₹526,388.40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₹133.66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₹4.06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367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Bottom 5 Stores (By Profit)</a:t>
                      </a:r>
                      <a:endParaRPr lang="en-US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ST354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₹19,922.92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₹288.50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₹4.08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013396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792B224-3030-C1FE-2F1F-284F4517840A}"/>
              </a:ext>
            </a:extLst>
          </p:cNvPr>
          <p:cNvSpPr txBox="1"/>
          <p:nvPr/>
        </p:nvSpPr>
        <p:spPr>
          <a:xfrm>
            <a:off x="714063" y="782188"/>
            <a:ext cx="1076386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600" dirty="0"/>
              <a:t>Store Performance Disparity (Finding Your Core &amp; Challenge Stores)</a:t>
            </a:r>
            <a:endParaRPr lang="en-IN" sz="2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D824B7-5FC9-C025-20DE-66E339322C9B}"/>
              </a:ext>
            </a:extLst>
          </p:cNvPr>
          <p:cNvSpPr txBox="1"/>
          <p:nvPr/>
        </p:nvSpPr>
        <p:spPr>
          <a:xfrm>
            <a:off x="714063" y="3304064"/>
            <a:ext cx="106397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dirty="0"/>
              <a:t>Basket Size vs. Profit Margin Efficiency</a:t>
            </a:r>
            <a:endParaRPr lang="en-IN" sz="28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B83CB79-FCAC-3B37-AF47-7422CE78D1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1005244"/>
              </p:ext>
            </p:extLst>
          </p:nvPr>
        </p:nvGraphicFramePr>
        <p:xfrm>
          <a:off x="838198" y="4016923"/>
          <a:ext cx="10515600" cy="2073021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417144285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70571887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24265213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3064754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61660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Store Segment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Avg. Basket Size (Products/Order)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Avg. Order Value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Avg. Profit %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Risk/Opportunity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54822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Highest AOV Stores (Top 5)</a:t>
                      </a:r>
                      <a:endParaRPr lang="en-US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3.01</a:t>
                      </a:r>
                      <a:endParaRPr lang="en-IN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₹274.96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₹0.14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High AOV, Average Margin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2297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Lowest AOV Stores (Bottom 5)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2.65</a:t>
                      </a:r>
                      <a:endParaRPr lang="en-IN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₹148.87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₹0.15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Low AOV, Better Margin</a:t>
                      </a:r>
                      <a:endParaRPr lang="en-IN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5902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579795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D2CFB-3158-35EF-F164-AFC5B9377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703871"/>
            <a:ext cx="10515600" cy="3473091"/>
          </a:xfrm>
        </p:spPr>
        <p:txBody>
          <a:bodyPr/>
          <a:lstStyle/>
          <a:p>
            <a:pPr marL="0" indent="0" algn="ctr">
              <a:buNone/>
            </a:pPr>
            <a:r>
              <a:rPr lang="en-IN" sz="5400" dirty="0">
                <a:solidFill>
                  <a:srgbClr val="FF0000"/>
                </a:solidFill>
                <a:latin typeface="+mn-lt"/>
              </a:rPr>
              <a:t>Store 360 </a:t>
            </a:r>
            <a:r>
              <a:rPr lang="en-IN" sz="5400" dirty="0" err="1">
                <a:solidFill>
                  <a:srgbClr val="FF0000"/>
                </a:solidFill>
                <a:latin typeface="+mn-lt"/>
              </a:rPr>
              <a:t>DashBoard</a:t>
            </a:r>
            <a:r>
              <a:rPr lang="en-IN" sz="5400" dirty="0">
                <a:solidFill>
                  <a:srgbClr val="FF0000"/>
                </a:solidFill>
                <a:latin typeface="+mn-lt"/>
              </a:rPr>
              <a:t> Detail</a:t>
            </a:r>
            <a:endParaRPr lang="en-IN" sz="5400" dirty="0">
              <a:latin typeface="+mn-lt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346302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0FDFF99-5F9B-911D-E302-BED0DA3E66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8191119"/>
              </p:ext>
            </p:extLst>
          </p:nvPr>
        </p:nvGraphicFramePr>
        <p:xfrm>
          <a:off x="108154" y="233516"/>
          <a:ext cx="11975691" cy="5997677"/>
        </p:xfrm>
        <a:graphic>
          <a:graphicData uri="http://schemas.openxmlformats.org/drawingml/2006/table">
            <a:tbl>
              <a:tblPr/>
              <a:tblGrid>
                <a:gridCol w="2775097">
                  <a:extLst>
                    <a:ext uri="{9D8B030D-6E8A-4147-A177-3AD203B41FA5}">
                      <a16:colId xmlns:a16="http://schemas.microsoft.com/office/drawing/2014/main" val="2528307934"/>
                    </a:ext>
                  </a:extLst>
                </a:gridCol>
                <a:gridCol w="3232642">
                  <a:extLst>
                    <a:ext uri="{9D8B030D-6E8A-4147-A177-3AD203B41FA5}">
                      <a16:colId xmlns:a16="http://schemas.microsoft.com/office/drawing/2014/main" val="238516629"/>
                    </a:ext>
                  </a:extLst>
                </a:gridCol>
                <a:gridCol w="2854668">
                  <a:extLst>
                    <a:ext uri="{9D8B030D-6E8A-4147-A177-3AD203B41FA5}">
                      <a16:colId xmlns:a16="http://schemas.microsoft.com/office/drawing/2014/main" val="3920793237"/>
                    </a:ext>
                  </a:extLst>
                </a:gridCol>
                <a:gridCol w="3113284">
                  <a:extLst>
                    <a:ext uri="{9D8B030D-6E8A-4147-A177-3AD203B41FA5}">
                      <a16:colId xmlns:a16="http://schemas.microsoft.com/office/drawing/2014/main" val="2218447847"/>
                    </a:ext>
                  </a:extLst>
                </a:gridCol>
              </a:tblGrid>
              <a:tr h="94861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400" b="1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Category</a:t>
                      </a:r>
                      <a:endParaRPr lang="en-IN" sz="1300" dirty="0">
                        <a:solidFill>
                          <a:srgbClr val="1B1C1D"/>
                        </a:solidFill>
                        <a:effectLst/>
                        <a:latin typeface="+mn-lt"/>
                      </a:endParaRPr>
                    </a:p>
                  </a:txBody>
                  <a:tcPr marL="66602" marR="66602" marT="44401" marB="4440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Key Metrics</a:t>
                      </a:r>
                      <a:endParaRPr lang="hi-IN" sz="2000" dirty="0">
                        <a:solidFill>
                          <a:srgbClr val="1B1C1D"/>
                        </a:solidFill>
                        <a:effectLst/>
                        <a:latin typeface="+mn-lt"/>
                      </a:endParaRPr>
                    </a:p>
                  </a:txBody>
                  <a:tcPr marL="66602" marR="66602" marT="44401" marB="4440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Dimensions</a:t>
                      </a:r>
                      <a:endParaRPr lang="hi-IN" sz="2000" dirty="0">
                        <a:solidFill>
                          <a:srgbClr val="1B1C1D"/>
                        </a:solidFill>
                        <a:effectLst/>
                        <a:latin typeface="+mn-lt"/>
                      </a:endParaRPr>
                    </a:p>
                  </a:txBody>
                  <a:tcPr marL="66602" marR="66602" marT="44401" marB="4440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900" b="1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Suggested Visualizations</a:t>
                      </a:r>
                      <a:endParaRPr lang="hi-IN" sz="1900" dirty="0">
                        <a:solidFill>
                          <a:srgbClr val="1B1C1D"/>
                        </a:solidFill>
                        <a:effectLst/>
                        <a:latin typeface="+mn-lt"/>
                      </a:endParaRPr>
                    </a:p>
                  </a:txBody>
                  <a:tcPr marL="66602" marR="66602" marT="44401" marB="4440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8503786"/>
                  </a:ext>
                </a:extLst>
              </a:tr>
              <a:tr h="149941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Sales &amp; Profit</a:t>
                      </a:r>
                      <a:endParaRPr lang="hi-IN" sz="2000" dirty="0">
                        <a:solidFill>
                          <a:srgbClr val="1B1C1D"/>
                        </a:solidFill>
                        <a:effectLst/>
                        <a:latin typeface="+mn-lt"/>
                      </a:endParaRPr>
                    </a:p>
                  </a:txBody>
                  <a:tcPr marL="66602" marR="66602" marT="44401" marB="4440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Total_revenue</a:t>
                      </a:r>
                      <a:r>
                        <a:rPr lang="en-IN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IN" sz="1800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Total_cost</a:t>
                      </a:r>
                      <a:r>
                        <a:rPr lang="en-IN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IN" sz="1800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Total_profit</a:t>
                      </a:r>
                      <a:r>
                        <a:rPr lang="en-IN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IN" sz="1800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profit_percent</a:t>
                      </a:r>
                      <a:endParaRPr lang="en-IN" sz="18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6602" marR="66602" marT="44401" marB="4440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Region</a:t>
                      </a:r>
                      <a:r>
                        <a:rPr lang="en-IN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IN" sz="2000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seller_state</a:t>
                      </a:r>
                      <a:r>
                        <a:rPr lang="en-IN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IN" sz="2000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margin_band</a:t>
                      </a:r>
                      <a:endParaRPr lang="en-IN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6602" marR="66602" marT="44401" marB="4440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KPI Cards, Bar/Column Chart (Region/State-wise Total Revenue/Profit), </a:t>
                      </a:r>
                      <a:r>
                        <a:rPr lang="en-US" sz="1800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Treemap</a:t>
                      </a:r>
                      <a:r>
                        <a:rPr lang="en-US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(Margin Band-wise Total Profit)</a:t>
                      </a:r>
                    </a:p>
                  </a:txBody>
                  <a:tcPr marL="66602" marR="66602" marT="44401" marB="4440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3610187"/>
                  </a:ext>
                </a:extLst>
              </a:tr>
              <a:tr h="177482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Customer &amp; Order</a:t>
                      </a:r>
                      <a:endParaRPr lang="hi-IN" sz="2000" dirty="0">
                        <a:solidFill>
                          <a:srgbClr val="1B1C1D"/>
                        </a:solidFill>
                        <a:effectLst/>
                        <a:latin typeface="+mn-lt"/>
                      </a:endParaRPr>
                    </a:p>
                  </a:txBody>
                  <a:tcPr marL="66602" marR="66602" marT="44401" marB="4440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Customer_Count</a:t>
                      </a:r>
                      <a:r>
                        <a:rPr lang="en-US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sz="1800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total_orders</a:t>
                      </a:r>
                      <a:r>
                        <a:rPr lang="en-US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sz="1800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Total_quantity_sold</a:t>
                      </a:r>
                      <a:r>
                        <a:rPr lang="en-US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sz="1800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Avg_revenue_per_customer</a:t>
                      </a:r>
                      <a:r>
                        <a:rPr lang="en-US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sz="1800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Avg_order_value</a:t>
                      </a:r>
                      <a:r>
                        <a:rPr lang="en-US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sz="1800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avg_basket_size</a:t>
                      </a:r>
                      <a:endParaRPr lang="en-US" sz="18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6602" marR="66602" marT="44401" marB="4440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Region</a:t>
                      </a:r>
                      <a:r>
                        <a:rPr lang="en-IN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IN" sz="2000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preferred_payment_type</a:t>
                      </a:r>
                      <a:endParaRPr lang="en-IN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6602" marR="66602" marT="44401" marB="4440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KPI Cards, Gauge (</a:t>
                      </a:r>
                      <a:r>
                        <a:rPr lang="en-US" sz="1800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Avg_review</a:t>
                      </a:r>
                      <a:r>
                        <a:rPr lang="en-US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), Bar Chart (Preferred Payment Type), Scatter Plot (</a:t>
                      </a:r>
                      <a:r>
                        <a:rPr lang="en-US" sz="1800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Avg_revenue_per_customer</a:t>
                      </a:r>
                      <a:r>
                        <a:rPr lang="en-US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vs </a:t>
                      </a:r>
                      <a:r>
                        <a:rPr lang="en-US" sz="1800" dirty="0" err="1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Avg_order_value</a:t>
                      </a:r>
                      <a:r>
                        <a:rPr lang="en-US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66602" marR="66602" marT="44401" marB="4440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2573810"/>
                  </a:ext>
                </a:extLst>
              </a:tr>
              <a:tr h="177482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Channel Performance</a:t>
                      </a:r>
                      <a:endParaRPr lang="hi-IN" sz="2000" dirty="0">
                        <a:solidFill>
                          <a:srgbClr val="1B1C1D"/>
                        </a:solidFill>
                        <a:effectLst/>
                        <a:latin typeface="+mn-lt"/>
                      </a:endParaRPr>
                    </a:p>
                  </a:txBody>
                  <a:tcPr marL="66602" marR="66602" marT="44401" marB="4440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phone_delivery_orders</a:t>
                      </a:r>
                      <a:r>
                        <a:rPr lang="en-US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sz="1800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online_orders</a:t>
                      </a:r>
                      <a:r>
                        <a:rPr lang="en-US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sz="1800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instore_orders</a:t>
                      </a:r>
                      <a:r>
                        <a:rPr lang="en-US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sz="1800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phone_delivery_revenue</a:t>
                      </a:r>
                      <a:r>
                        <a:rPr lang="en-US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sz="1800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online_revenue</a:t>
                      </a:r>
                      <a:r>
                        <a:rPr lang="en-US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sz="1800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instore_revenue</a:t>
                      </a:r>
                      <a:endParaRPr lang="en-US" sz="18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6602" marR="66602" marT="44401" marB="4440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preferred_channel</a:t>
                      </a:r>
                      <a:endParaRPr lang="en-IN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6602" marR="66602" marT="44401" marB="4440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Pie/Donut Chart (Channel-wise Order/Revenue Distribution), Stacked Bar Chart (Channel-wise Revenue by Region)</a:t>
                      </a:r>
                    </a:p>
                  </a:txBody>
                  <a:tcPr marL="66602" marR="66602" marT="44401" marB="44401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4183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754532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A44EC-10B4-4EB6-26C9-E7372EF9F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76051"/>
            <a:ext cx="10515600" cy="360091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5400" dirty="0">
                <a:solidFill>
                  <a:srgbClr val="FF0000"/>
                </a:solidFill>
                <a:latin typeface="+mn-lt"/>
              </a:rPr>
              <a:t>Customer 360 </a:t>
            </a:r>
            <a:r>
              <a:rPr lang="en-IN" sz="5400" dirty="0" err="1">
                <a:solidFill>
                  <a:srgbClr val="FF0000"/>
                </a:solidFill>
                <a:latin typeface="+mn-lt"/>
              </a:rPr>
              <a:t>DashBoard</a:t>
            </a:r>
            <a:r>
              <a:rPr lang="en-IN" sz="5400" dirty="0">
                <a:solidFill>
                  <a:srgbClr val="FF0000"/>
                </a:solidFill>
                <a:latin typeface="+mn-lt"/>
              </a:rPr>
              <a:t> Detail</a:t>
            </a:r>
            <a:endParaRPr lang="en-IN" sz="5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4348319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954411A-F4C8-B695-A240-ECD4AC0CE0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201541"/>
              </p:ext>
            </p:extLst>
          </p:nvPr>
        </p:nvGraphicFramePr>
        <p:xfrm>
          <a:off x="127820" y="225923"/>
          <a:ext cx="11936360" cy="5894875"/>
        </p:xfrm>
        <a:graphic>
          <a:graphicData uri="http://schemas.openxmlformats.org/drawingml/2006/table">
            <a:tbl>
              <a:tblPr/>
              <a:tblGrid>
                <a:gridCol w="2526892">
                  <a:extLst>
                    <a:ext uri="{9D8B030D-6E8A-4147-A177-3AD203B41FA5}">
                      <a16:colId xmlns:a16="http://schemas.microsoft.com/office/drawing/2014/main" val="906469347"/>
                    </a:ext>
                  </a:extLst>
                </a:gridCol>
                <a:gridCol w="2880851">
                  <a:extLst>
                    <a:ext uri="{9D8B030D-6E8A-4147-A177-3AD203B41FA5}">
                      <a16:colId xmlns:a16="http://schemas.microsoft.com/office/drawing/2014/main" val="244624926"/>
                    </a:ext>
                  </a:extLst>
                </a:gridCol>
                <a:gridCol w="2831691">
                  <a:extLst>
                    <a:ext uri="{9D8B030D-6E8A-4147-A177-3AD203B41FA5}">
                      <a16:colId xmlns:a16="http://schemas.microsoft.com/office/drawing/2014/main" val="2676101905"/>
                    </a:ext>
                  </a:extLst>
                </a:gridCol>
                <a:gridCol w="3696926">
                  <a:extLst>
                    <a:ext uri="{9D8B030D-6E8A-4147-A177-3AD203B41FA5}">
                      <a16:colId xmlns:a16="http://schemas.microsoft.com/office/drawing/2014/main" val="3993722556"/>
                    </a:ext>
                  </a:extLst>
                </a:gridCol>
              </a:tblGrid>
              <a:tr h="90976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Category</a:t>
                      </a:r>
                      <a:endParaRPr lang="en-IN" sz="1400" dirty="0">
                        <a:solidFill>
                          <a:srgbClr val="1B1C1D"/>
                        </a:solidFill>
                        <a:effectLst/>
                        <a:latin typeface="+mn-lt"/>
                      </a:endParaRPr>
                    </a:p>
                  </a:txBody>
                  <a:tcPr marL="69808" marR="69808" marT="46538" marB="4653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Key Metrics</a:t>
                      </a:r>
                      <a:endParaRPr lang="hi-IN" sz="2000" dirty="0">
                        <a:solidFill>
                          <a:srgbClr val="1B1C1D"/>
                        </a:solidFill>
                        <a:effectLst/>
                        <a:latin typeface="+mn-lt"/>
                      </a:endParaRPr>
                    </a:p>
                  </a:txBody>
                  <a:tcPr marL="69808" marR="69808" marT="46538" marB="4653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Dimensions</a:t>
                      </a:r>
                      <a:endParaRPr lang="hi-IN" sz="1400" dirty="0">
                        <a:solidFill>
                          <a:srgbClr val="1B1C1D"/>
                        </a:solidFill>
                        <a:effectLst/>
                        <a:latin typeface="+mn-lt"/>
                      </a:endParaRPr>
                    </a:p>
                  </a:txBody>
                  <a:tcPr marL="69808" marR="69808" marT="46538" marB="4653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Suggested Visualizations</a:t>
                      </a:r>
                      <a:endParaRPr lang="hi-IN" sz="2000" dirty="0">
                        <a:solidFill>
                          <a:srgbClr val="1B1C1D"/>
                        </a:solidFill>
                        <a:effectLst/>
                        <a:latin typeface="+mn-lt"/>
                      </a:endParaRPr>
                    </a:p>
                  </a:txBody>
                  <a:tcPr marL="69808" marR="69808" marT="46538" marB="4653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1214078"/>
                  </a:ext>
                </a:extLst>
              </a:tr>
              <a:tr h="1968795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Engagement &amp; Value</a:t>
                      </a:r>
                      <a:endParaRPr lang="hi-IN" sz="2000" dirty="0">
                        <a:solidFill>
                          <a:srgbClr val="1B1C1D"/>
                        </a:solidFill>
                        <a:effectLst/>
                        <a:latin typeface="+mn-lt"/>
                      </a:endParaRPr>
                    </a:p>
                  </a:txBody>
                  <a:tcPr marL="69808" marR="69808" marT="46538" marB="4653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tenure</a:t>
                      </a:r>
                      <a:r>
                        <a:rPr lang="en-US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sz="18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recency</a:t>
                      </a:r>
                      <a:r>
                        <a:rPr lang="en-US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sz="18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frequency</a:t>
                      </a:r>
                      <a:r>
                        <a:rPr lang="en-US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sz="1800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revenue_generated</a:t>
                      </a:r>
                      <a:r>
                        <a:rPr lang="en-US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sz="18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profit</a:t>
                      </a:r>
                      <a:r>
                        <a:rPr lang="en-US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sz="1800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profit_percent</a:t>
                      </a:r>
                      <a:endParaRPr lang="en-US" sz="18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9808" marR="69808" marT="46538" marB="4653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customer_state</a:t>
                      </a:r>
                      <a:r>
                        <a:rPr lang="en-US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sz="20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Gender</a:t>
                      </a:r>
                      <a:r>
                        <a:rPr lang="en-US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sz="2000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preffered_channel</a:t>
                      </a:r>
                      <a:r>
                        <a:rPr lang="en-US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sz="2000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Spend_Segment</a:t>
                      </a:r>
                      <a:endParaRPr lang="en-US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9808" marR="69808" marT="46538" marB="4653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Histogram (Tenure, Recency), Scatter Plot (Frequency vs Revenue Generated), Bar Chart (Spend Segment Distribution), KPI Cards (Avg Profit)</a:t>
                      </a:r>
                    </a:p>
                  </a:txBody>
                  <a:tcPr marL="69808" marR="69808" marT="46538" marB="4653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5169812"/>
                  </a:ext>
                </a:extLst>
              </a:tr>
              <a:tr h="170403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Purchase Habits</a:t>
                      </a:r>
                      <a:endParaRPr lang="hi-IN" sz="2000" dirty="0">
                        <a:solidFill>
                          <a:srgbClr val="1B1C1D"/>
                        </a:solidFill>
                        <a:effectLst/>
                        <a:latin typeface="+mn-lt"/>
                      </a:endParaRPr>
                    </a:p>
                  </a:txBody>
                  <a:tcPr marL="69808" marR="69808" marT="46538" marB="4653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TotalOrders</a:t>
                      </a:r>
                      <a:r>
                        <a:rPr lang="en-US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sz="1800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total_product_purchased</a:t>
                      </a:r>
                      <a:r>
                        <a:rPr lang="en-US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sz="1800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Total_quantity</a:t>
                      </a:r>
                      <a:r>
                        <a:rPr lang="en-US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sz="1800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avg_quantity</a:t>
                      </a:r>
                      <a:r>
                        <a:rPr lang="en-US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sz="1800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total_category_Purchased</a:t>
                      </a:r>
                      <a:endParaRPr lang="en-US" sz="18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9808" marR="69808" marT="46538" marB="4653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weekend_purchase</a:t>
                      </a:r>
                      <a:r>
                        <a:rPr lang="en-US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 / </a:t>
                      </a:r>
                      <a:r>
                        <a:rPr lang="en-US" sz="1800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weekday_purchase</a:t>
                      </a:r>
                      <a:r>
                        <a:rPr lang="en-US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sz="1800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Preferred_Payment_Type</a:t>
                      </a:r>
                      <a:endParaRPr lang="en-US" sz="18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9808" marR="69808" marT="46538" marB="4653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Bar Chart (Purchase Count - Weekend vs Weekday), Tree Map (Total Category Purchased by State)</a:t>
                      </a:r>
                    </a:p>
                  </a:txBody>
                  <a:tcPr marL="69808" marR="69808" marT="46538" marB="4653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8897439"/>
                  </a:ext>
                </a:extLst>
              </a:tr>
              <a:tr h="1221594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Payment Method</a:t>
                      </a:r>
                      <a:endParaRPr lang="hi-IN" sz="2000" dirty="0">
                        <a:solidFill>
                          <a:srgbClr val="1B1C1D"/>
                        </a:solidFill>
                        <a:effectLst/>
                        <a:latin typeface="+mn-lt"/>
                      </a:endParaRPr>
                    </a:p>
                  </a:txBody>
                  <a:tcPr marL="69808" marR="69808" marT="46538" marB="4653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UPIcash_count</a:t>
                      </a:r>
                      <a:r>
                        <a:rPr lang="en-US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sz="2000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voucher_count</a:t>
                      </a:r>
                      <a:r>
                        <a:rPr lang="en-US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sz="2000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CreditCard_count</a:t>
                      </a:r>
                      <a:r>
                        <a:rPr lang="en-US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sz="2000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DebitCard_count</a:t>
                      </a:r>
                      <a:endParaRPr lang="en-US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9808" marR="69808" marT="46538" marB="4653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Preferred_Payment_Type</a:t>
                      </a:r>
                      <a:endParaRPr lang="en-IN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69808" marR="69808" marT="46538" marB="4653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Donut Chart (Preferred Payment Type Distribution)</a:t>
                      </a:r>
                    </a:p>
                  </a:txBody>
                  <a:tcPr marL="69808" marR="69808" marT="46538" marB="46538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4369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606417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823EB-CA95-02FD-DCF1-4B8A16C49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25213"/>
            <a:ext cx="10515600" cy="3551750"/>
          </a:xfrm>
        </p:spPr>
        <p:txBody>
          <a:bodyPr/>
          <a:lstStyle/>
          <a:p>
            <a:pPr marL="0" indent="0" algn="ctr">
              <a:buNone/>
            </a:pPr>
            <a:r>
              <a:rPr lang="en-IN" sz="5400" dirty="0">
                <a:solidFill>
                  <a:srgbClr val="FF0000"/>
                </a:solidFill>
                <a:latin typeface="+mn-lt"/>
              </a:rPr>
              <a:t>Orders 360 </a:t>
            </a:r>
            <a:r>
              <a:rPr lang="en-IN" sz="5400" dirty="0" err="1">
                <a:solidFill>
                  <a:srgbClr val="FF0000"/>
                </a:solidFill>
                <a:latin typeface="+mn-lt"/>
              </a:rPr>
              <a:t>DashBoard</a:t>
            </a:r>
            <a:r>
              <a:rPr lang="en-IN" sz="5400" dirty="0">
                <a:solidFill>
                  <a:srgbClr val="FF0000"/>
                </a:solidFill>
                <a:latin typeface="+mn-lt"/>
              </a:rPr>
              <a:t> Detail</a:t>
            </a:r>
            <a:endParaRPr lang="en-IN" sz="5400" dirty="0">
              <a:latin typeface="+mn-lt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484622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1428068-0B4A-223C-1475-967A9D7500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2534268"/>
              </p:ext>
            </p:extLst>
          </p:nvPr>
        </p:nvGraphicFramePr>
        <p:xfrm>
          <a:off x="113070" y="127820"/>
          <a:ext cx="11965860" cy="5958348"/>
        </p:xfrm>
        <a:graphic>
          <a:graphicData uri="http://schemas.openxmlformats.org/drawingml/2006/table">
            <a:tbl>
              <a:tblPr/>
              <a:tblGrid>
                <a:gridCol w="2290916">
                  <a:extLst>
                    <a:ext uri="{9D8B030D-6E8A-4147-A177-3AD203B41FA5}">
                      <a16:colId xmlns:a16="http://schemas.microsoft.com/office/drawing/2014/main" val="2800245760"/>
                    </a:ext>
                  </a:extLst>
                </a:gridCol>
                <a:gridCol w="2684206">
                  <a:extLst>
                    <a:ext uri="{9D8B030D-6E8A-4147-A177-3AD203B41FA5}">
                      <a16:colId xmlns:a16="http://schemas.microsoft.com/office/drawing/2014/main" val="1864894665"/>
                    </a:ext>
                  </a:extLst>
                </a:gridCol>
                <a:gridCol w="3362633">
                  <a:extLst>
                    <a:ext uri="{9D8B030D-6E8A-4147-A177-3AD203B41FA5}">
                      <a16:colId xmlns:a16="http://schemas.microsoft.com/office/drawing/2014/main" val="247365149"/>
                    </a:ext>
                  </a:extLst>
                </a:gridCol>
                <a:gridCol w="3628105">
                  <a:extLst>
                    <a:ext uri="{9D8B030D-6E8A-4147-A177-3AD203B41FA5}">
                      <a16:colId xmlns:a16="http://schemas.microsoft.com/office/drawing/2014/main" val="651782715"/>
                    </a:ext>
                  </a:extLst>
                </a:gridCol>
              </a:tblGrid>
              <a:tr h="109295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Category</a:t>
                      </a:r>
                      <a:endParaRPr lang="en-IN" sz="1500" dirty="0">
                        <a:solidFill>
                          <a:srgbClr val="1B1C1D"/>
                        </a:solidFill>
                        <a:effectLst/>
                        <a:latin typeface="+mn-lt"/>
                      </a:endParaRPr>
                    </a:p>
                  </a:txBody>
                  <a:tcPr marL="77243" marR="77243" marT="51495" marB="5149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Key Metrics</a:t>
                      </a:r>
                      <a:endParaRPr lang="hi-IN" sz="2000" dirty="0">
                        <a:solidFill>
                          <a:srgbClr val="1B1C1D"/>
                        </a:solidFill>
                        <a:effectLst/>
                        <a:latin typeface="+mn-lt"/>
                      </a:endParaRPr>
                    </a:p>
                  </a:txBody>
                  <a:tcPr marL="77243" marR="77243" marT="51495" marB="5149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Dimensions</a:t>
                      </a:r>
                      <a:endParaRPr lang="hi-IN" sz="2000" dirty="0">
                        <a:solidFill>
                          <a:srgbClr val="1B1C1D"/>
                        </a:solidFill>
                        <a:effectLst/>
                        <a:latin typeface="+mn-lt"/>
                      </a:endParaRPr>
                    </a:p>
                  </a:txBody>
                  <a:tcPr marL="77243" marR="77243" marT="51495" marB="5149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Suggested Visualizations</a:t>
                      </a:r>
                      <a:endParaRPr lang="hi-IN" sz="2000" dirty="0">
                        <a:solidFill>
                          <a:srgbClr val="1B1C1D"/>
                        </a:solidFill>
                        <a:effectLst/>
                        <a:latin typeface="+mn-lt"/>
                      </a:endParaRPr>
                    </a:p>
                  </a:txBody>
                  <a:tcPr marL="77243" marR="77243" marT="51495" marB="5149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5625067"/>
                  </a:ext>
                </a:extLst>
              </a:tr>
              <a:tr h="172756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2000" b="1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Revenue &amp; Profit</a:t>
                      </a:r>
                      <a:endParaRPr lang="fr-FR" sz="2000" dirty="0">
                        <a:solidFill>
                          <a:srgbClr val="1B1C1D"/>
                        </a:solidFill>
                        <a:effectLst/>
                        <a:latin typeface="+mn-lt"/>
                      </a:endParaRPr>
                    </a:p>
                  </a:txBody>
                  <a:tcPr marL="77243" marR="77243" marT="51495" marB="5149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total_MRP</a:t>
                      </a:r>
                      <a:r>
                        <a:rPr lang="en-IN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IN" sz="1800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total_discount</a:t>
                      </a:r>
                      <a:r>
                        <a:rPr lang="en-IN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IN" sz="1800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revenue_generated</a:t>
                      </a:r>
                      <a:r>
                        <a:rPr lang="en-IN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IN" sz="18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profit</a:t>
                      </a:r>
                      <a:r>
                        <a:rPr lang="en-IN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IN" sz="1800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profit_percent</a:t>
                      </a:r>
                      <a:endParaRPr lang="en-IN" sz="18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7243" marR="77243" marT="51495" marB="5149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Profitability_Status</a:t>
                      </a:r>
                      <a:r>
                        <a:rPr lang="en-US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sz="1800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Margin_Band</a:t>
                      </a:r>
                      <a:r>
                        <a:rPr lang="en-US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sz="1800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order_type</a:t>
                      </a:r>
                      <a:r>
                        <a:rPr lang="en-US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sz="1800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Spend_Segment</a:t>
                      </a:r>
                      <a:endParaRPr lang="en-US" sz="18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7243" marR="77243" marT="51495" marB="5149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Funnel Chart (Order to Revenue to Profit), Bar Chart (Profitability Status Distribution), Bar Chart (Order Type Breakdown)</a:t>
                      </a:r>
                    </a:p>
                  </a:txBody>
                  <a:tcPr marL="77243" marR="77243" marT="51495" marB="5149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5582803"/>
                  </a:ext>
                </a:extLst>
              </a:tr>
              <a:tr h="204487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b="1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Time &amp; Channel</a:t>
                      </a:r>
                      <a:endParaRPr lang="en-US" sz="2000" dirty="0">
                        <a:solidFill>
                          <a:srgbClr val="1B1C1D"/>
                        </a:solidFill>
                        <a:effectLst/>
                        <a:latin typeface="+mn-lt"/>
                      </a:endParaRPr>
                    </a:p>
                  </a:txBody>
                  <a:tcPr marL="77243" marR="77243" marT="51495" marB="5149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total_quantity</a:t>
                      </a:r>
                      <a:r>
                        <a:rPr lang="en-US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sz="1800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Total_product_purchased</a:t>
                      </a:r>
                      <a:r>
                        <a:rPr lang="en-US" sz="18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sz="1800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avg_basket_value</a:t>
                      </a:r>
                      <a:endParaRPr lang="en-US" sz="18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7243" marR="77243" marT="51495" marB="5149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bill_year</a:t>
                      </a:r>
                      <a:r>
                        <a:rPr lang="en-US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sz="2000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bill_month_name</a:t>
                      </a:r>
                      <a:r>
                        <a:rPr lang="en-US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sz="2000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Day_part</a:t>
                      </a:r>
                      <a:r>
                        <a:rPr lang="en-US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sz="2000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dayname</a:t>
                      </a:r>
                      <a:r>
                        <a:rPr lang="en-US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US" sz="20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channel</a:t>
                      </a:r>
                      <a:endParaRPr lang="en-US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7243" marR="77243" marT="51495" marB="5149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Time Series Line Chart (Monthly Revenue Trend), Bar Chart (Orders by Day Name / Day Part), Stacked Bar (Channel-wise Order Count over Time)</a:t>
                      </a:r>
                    </a:p>
                  </a:txBody>
                  <a:tcPr marL="77243" marR="77243" marT="51495" marB="5149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1260442"/>
                  </a:ext>
                </a:extLst>
              </a:tr>
              <a:tr h="109295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b="1" dirty="0">
                          <a:solidFill>
                            <a:srgbClr val="1B1C1D"/>
                          </a:solidFill>
                          <a:effectLst/>
                          <a:latin typeface="+mn-lt"/>
                        </a:rPr>
                        <a:t>Customer Metrics</a:t>
                      </a:r>
                      <a:endParaRPr lang="hi-IN" sz="2000" dirty="0">
                        <a:solidFill>
                          <a:srgbClr val="1B1C1D"/>
                        </a:solidFill>
                        <a:effectLst/>
                        <a:latin typeface="+mn-lt"/>
                      </a:endParaRPr>
                    </a:p>
                  </a:txBody>
                  <a:tcPr marL="77243" marR="77243" marT="51495" marB="5149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avg_review</a:t>
                      </a:r>
                      <a:endParaRPr lang="en-IN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7243" marR="77243" marT="51495" marB="5149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2000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customer_city</a:t>
                      </a:r>
                      <a:r>
                        <a:rPr lang="en-IN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IN" sz="20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Gender</a:t>
                      </a:r>
                      <a:endParaRPr lang="en-IN" sz="200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7243" marR="77243" marT="51495" marB="5149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200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Map (City-wise Avg Review), KPI Card (Overall Avg Review)</a:t>
                      </a:r>
                    </a:p>
                  </a:txBody>
                  <a:tcPr marL="77243" marR="77243" marT="51495" marB="51495" anchor="ctr">
                    <a:lnL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758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165232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E62F9-7D2B-3A20-B67D-DA424706BD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grpSp>
        <p:nvGrpSpPr>
          <p:cNvPr id="4" name="object 3">
            <a:extLst>
              <a:ext uri="{FF2B5EF4-FFF2-40B4-BE49-F238E27FC236}">
                <a16:creationId xmlns:a16="http://schemas.microsoft.com/office/drawing/2014/main" id="{1D0862CB-415B-98F7-1FC6-9B35D66609B2}"/>
              </a:ext>
            </a:extLst>
          </p:cNvPr>
          <p:cNvGrpSpPr/>
          <p:nvPr/>
        </p:nvGrpSpPr>
        <p:grpSpPr>
          <a:xfrm>
            <a:off x="0" y="0"/>
            <a:ext cx="12192000" cy="6331974"/>
            <a:chOff x="480058" y="923544"/>
            <a:chExt cx="8275565" cy="5498078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BEBB0150-A5B1-B370-623B-911742F28EB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34977" y="1186199"/>
              <a:ext cx="2792277" cy="2953717"/>
            </a:xfrm>
            <a:prstGeom prst="rect">
              <a:avLst/>
            </a:prstGeom>
          </p:spPr>
        </p:pic>
        <p:sp>
          <p:nvSpPr>
            <p:cNvPr id="6" name="object 5">
              <a:extLst>
                <a:ext uri="{FF2B5EF4-FFF2-40B4-BE49-F238E27FC236}">
                  <a16:creationId xmlns:a16="http://schemas.microsoft.com/office/drawing/2014/main" id="{7FB646B0-815F-9C37-1A51-E9C27957B340}"/>
                </a:ext>
              </a:extLst>
            </p:cNvPr>
            <p:cNvSpPr/>
            <p:nvPr/>
          </p:nvSpPr>
          <p:spPr>
            <a:xfrm>
              <a:off x="480059" y="3986631"/>
              <a:ext cx="5897880" cy="254000"/>
            </a:xfrm>
            <a:custGeom>
              <a:avLst/>
              <a:gdLst/>
              <a:ahLst/>
              <a:cxnLst/>
              <a:rect l="l" t="t" r="r" b="b"/>
              <a:pathLst>
                <a:path w="5897880" h="254000">
                  <a:moveTo>
                    <a:pt x="5897880" y="0"/>
                  </a:moveTo>
                  <a:lnTo>
                    <a:pt x="0" y="0"/>
                  </a:lnTo>
                  <a:lnTo>
                    <a:pt x="0" y="253898"/>
                  </a:lnTo>
                  <a:lnTo>
                    <a:pt x="5897880" y="253898"/>
                  </a:lnTo>
                  <a:lnTo>
                    <a:pt x="5897880" y="0"/>
                  </a:lnTo>
                  <a:close/>
                </a:path>
              </a:pathLst>
            </a:custGeom>
            <a:solidFill>
              <a:srgbClr val="348E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5F2C7DEF-D6DB-E016-3951-179CF5A9F0D7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0059" y="4005884"/>
              <a:ext cx="1044511" cy="235407"/>
            </a:xfrm>
            <a:prstGeom prst="rect">
              <a:avLst/>
            </a:prstGeom>
          </p:spPr>
        </p:pic>
        <p:pic>
          <p:nvPicPr>
            <p:cNvPr id="8" name="object 7">
              <a:extLst>
                <a:ext uri="{FF2B5EF4-FFF2-40B4-BE49-F238E27FC236}">
                  <a16:creationId xmlns:a16="http://schemas.microsoft.com/office/drawing/2014/main" id="{C6EE7088-1620-04C2-1B6D-861A23B1718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0058" y="923544"/>
              <a:ext cx="8275565" cy="5498078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27048C1F-DA6A-165E-1441-082F055711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9594" y="0"/>
            <a:ext cx="12221594" cy="633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54347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49FC4-1791-2417-DD53-DA06A1862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sz="2000" dirty="0">
              <a:latin typeface="Trebuchet MS"/>
              <a:cs typeface="Trebuchet MS"/>
            </a:endParaRPr>
          </a:p>
        </p:txBody>
      </p:sp>
      <p:pic>
        <p:nvPicPr>
          <p:cNvPr id="10" name="object 16">
            <a:extLst>
              <a:ext uri="{FF2B5EF4-FFF2-40B4-BE49-F238E27FC236}">
                <a16:creationId xmlns:a16="http://schemas.microsoft.com/office/drawing/2014/main" id="{B159FE0D-AF96-5D2F-A368-91A0E370F9A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21633" y="1340574"/>
            <a:ext cx="3795252" cy="4103248"/>
          </a:xfrm>
          <a:prstGeom prst="rect">
            <a:avLst/>
          </a:prstGeom>
        </p:spPr>
      </p:pic>
      <p:pic>
        <p:nvPicPr>
          <p:cNvPr id="11" name="object 25">
            <a:extLst>
              <a:ext uri="{FF2B5EF4-FFF2-40B4-BE49-F238E27FC236}">
                <a16:creationId xmlns:a16="http://schemas.microsoft.com/office/drawing/2014/main" id="{358FEBD5-702E-DDAC-6D78-3CEEB8A0A57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5166" y="1340574"/>
            <a:ext cx="3795252" cy="410324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FA9B6A4-5668-C8C1-7178-B47B07A0FB1E}"/>
              </a:ext>
            </a:extLst>
          </p:cNvPr>
          <p:cNvSpPr txBox="1"/>
          <p:nvPr/>
        </p:nvSpPr>
        <p:spPr>
          <a:xfrm>
            <a:off x="703006" y="4405"/>
            <a:ext cx="10785987" cy="73197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  <a:sym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IN" dirty="0"/>
              <a:t>EXPLORATORY DATA ANALYSIS-1 (1/2)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E5B1972-CB84-5AAF-40DF-547C2BB87370}"/>
              </a:ext>
            </a:extLst>
          </p:cNvPr>
          <p:cNvCxnSpPr/>
          <p:nvPr/>
        </p:nvCxnSpPr>
        <p:spPr>
          <a:xfrm>
            <a:off x="1160207" y="2172929"/>
            <a:ext cx="371659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D80EE41-7804-0539-2ED9-80C30E0B8499}"/>
              </a:ext>
            </a:extLst>
          </p:cNvPr>
          <p:cNvCxnSpPr/>
          <p:nvPr/>
        </p:nvCxnSpPr>
        <p:spPr>
          <a:xfrm>
            <a:off x="7060961" y="2163097"/>
            <a:ext cx="3716595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7" name="object 26">
            <a:extLst>
              <a:ext uri="{FF2B5EF4-FFF2-40B4-BE49-F238E27FC236}">
                <a16:creationId xmlns:a16="http://schemas.microsoft.com/office/drawing/2014/main" id="{4600C66D-9F11-F1D8-843D-582D79F74FA9}"/>
              </a:ext>
            </a:extLst>
          </p:cNvPr>
          <p:cNvSpPr txBox="1"/>
          <p:nvPr/>
        </p:nvSpPr>
        <p:spPr>
          <a:xfrm>
            <a:off x="1921551" y="1674591"/>
            <a:ext cx="2222482" cy="32444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sz="2000" b="1" dirty="0">
                <a:latin typeface="Calibri"/>
                <a:cs typeface="Calibri"/>
              </a:rPr>
              <a:t>Sales</a:t>
            </a:r>
            <a:r>
              <a:rPr sz="2000" b="1" spc="3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Information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8" name="object 27">
            <a:extLst>
              <a:ext uri="{FF2B5EF4-FFF2-40B4-BE49-F238E27FC236}">
                <a16:creationId xmlns:a16="http://schemas.microsoft.com/office/drawing/2014/main" id="{B7DD95A4-945B-3398-EB2C-DC0765C15B12}"/>
              </a:ext>
            </a:extLst>
          </p:cNvPr>
          <p:cNvSpPr txBox="1"/>
          <p:nvPr/>
        </p:nvSpPr>
        <p:spPr>
          <a:xfrm>
            <a:off x="1370349" y="2356650"/>
            <a:ext cx="2689851" cy="2936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b="1" dirty="0">
                <a:solidFill>
                  <a:srgbClr val="252525"/>
                </a:solidFill>
                <a:latin typeface="Calibri"/>
                <a:cs typeface="Calibri"/>
              </a:rPr>
              <a:t>Total</a:t>
            </a:r>
            <a:r>
              <a:rPr b="1" spc="4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252525"/>
                </a:solidFill>
                <a:latin typeface="Calibri"/>
                <a:cs typeface="Calibri"/>
              </a:rPr>
              <a:t>Revenue:</a:t>
            </a:r>
            <a:r>
              <a:rPr b="1" spc="6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252525"/>
                </a:solidFill>
                <a:latin typeface="Calibri"/>
                <a:cs typeface="Calibri"/>
              </a:rPr>
              <a:t>₹</a:t>
            </a:r>
            <a:r>
              <a:rPr b="1" spc="5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252525"/>
                </a:solidFill>
                <a:latin typeface="Calibri"/>
                <a:cs typeface="Calibri"/>
              </a:rPr>
              <a:t>1</a:t>
            </a:r>
            <a:r>
              <a:rPr lang="en-IN" b="1" spc="-10" dirty="0">
                <a:solidFill>
                  <a:srgbClr val="252525"/>
                </a:solidFill>
                <a:latin typeface="Calibri"/>
                <a:cs typeface="Calibri"/>
              </a:rPr>
              <a:t>6.35</a:t>
            </a:r>
            <a:r>
              <a:rPr b="1" spc="-10" dirty="0">
                <a:solidFill>
                  <a:srgbClr val="252525"/>
                </a:solidFill>
                <a:latin typeface="Calibri"/>
                <a:cs typeface="Calibri"/>
              </a:rPr>
              <a:t>M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20" name="object 28">
            <a:extLst>
              <a:ext uri="{FF2B5EF4-FFF2-40B4-BE49-F238E27FC236}">
                <a16:creationId xmlns:a16="http://schemas.microsoft.com/office/drawing/2014/main" id="{56D0300F-ECD2-2B2A-B90E-0048F621535A}"/>
              </a:ext>
            </a:extLst>
          </p:cNvPr>
          <p:cNvSpPr txBox="1"/>
          <p:nvPr/>
        </p:nvSpPr>
        <p:spPr>
          <a:xfrm>
            <a:off x="1370349" y="2745928"/>
            <a:ext cx="2648951" cy="2936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b="1" dirty="0">
                <a:solidFill>
                  <a:srgbClr val="252525"/>
                </a:solidFill>
                <a:latin typeface="Calibri"/>
                <a:cs typeface="Calibri"/>
              </a:rPr>
              <a:t>Total</a:t>
            </a:r>
            <a:r>
              <a:rPr b="1" spc="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252525"/>
                </a:solidFill>
                <a:latin typeface="Calibri"/>
                <a:cs typeface="Calibri"/>
              </a:rPr>
              <a:t>Cost:</a:t>
            </a:r>
            <a:r>
              <a:rPr b="1" spc="4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252525"/>
                </a:solidFill>
                <a:latin typeface="Calibri"/>
                <a:cs typeface="Calibri"/>
              </a:rPr>
              <a:t>₹</a:t>
            </a:r>
            <a:r>
              <a:rPr b="1" spc="4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252525"/>
                </a:solidFill>
                <a:latin typeface="Calibri"/>
                <a:cs typeface="Calibri"/>
              </a:rPr>
              <a:t>1</a:t>
            </a:r>
            <a:r>
              <a:rPr lang="en-IN" b="1" spc="-10" dirty="0">
                <a:solidFill>
                  <a:srgbClr val="252525"/>
                </a:solidFill>
                <a:latin typeface="Calibri"/>
                <a:cs typeface="Calibri"/>
              </a:rPr>
              <a:t>4.009</a:t>
            </a:r>
            <a:r>
              <a:rPr b="1" spc="-10" dirty="0">
                <a:solidFill>
                  <a:srgbClr val="252525"/>
                </a:solidFill>
                <a:latin typeface="Calibri"/>
                <a:cs typeface="Calibri"/>
              </a:rPr>
              <a:t>M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21" name="object 29">
            <a:extLst>
              <a:ext uri="{FF2B5EF4-FFF2-40B4-BE49-F238E27FC236}">
                <a16:creationId xmlns:a16="http://schemas.microsoft.com/office/drawing/2014/main" id="{0949E1E9-C3B9-EE7A-3192-6F5D99066FE5}"/>
              </a:ext>
            </a:extLst>
          </p:cNvPr>
          <p:cNvSpPr txBox="1"/>
          <p:nvPr/>
        </p:nvSpPr>
        <p:spPr>
          <a:xfrm>
            <a:off x="1370349" y="3163668"/>
            <a:ext cx="2421880" cy="2936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b="1" dirty="0">
                <a:solidFill>
                  <a:srgbClr val="252525"/>
                </a:solidFill>
                <a:latin typeface="Calibri"/>
                <a:cs typeface="Calibri"/>
              </a:rPr>
              <a:t>Total</a:t>
            </a:r>
            <a:r>
              <a:rPr b="1" spc="4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252525"/>
                </a:solidFill>
                <a:latin typeface="Calibri"/>
                <a:cs typeface="Calibri"/>
              </a:rPr>
              <a:t>Discount:</a:t>
            </a:r>
            <a:r>
              <a:rPr b="1" spc="6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252525"/>
                </a:solidFill>
                <a:latin typeface="Calibri"/>
                <a:cs typeface="Calibri"/>
              </a:rPr>
              <a:t>₹</a:t>
            </a:r>
            <a:r>
              <a:rPr b="1" spc="5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252525"/>
                </a:solidFill>
                <a:latin typeface="Calibri"/>
                <a:cs typeface="Calibri"/>
              </a:rPr>
              <a:t>5.</a:t>
            </a:r>
            <a:r>
              <a:rPr lang="en-US" b="1" dirty="0">
                <a:solidFill>
                  <a:srgbClr val="252525"/>
                </a:solidFill>
                <a:latin typeface="Calibri"/>
                <a:cs typeface="Calibri"/>
              </a:rPr>
              <a:t>0</a:t>
            </a:r>
            <a:r>
              <a:rPr b="1" dirty="0">
                <a:solidFill>
                  <a:srgbClr val="252525"/>
                </a:solidFill>
                <a:latin typeface="Calibri"/>
                <a:cs typeface="Calibri"/>
              </a:rPr>
              <a:t>8</a:t>
            </a:r>
            <a:r>
              <a:rPr b="1" spc="5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b="1" spc="-50" dirty="0">
                <a:solidFill>
                  <a:srgbClr val="252525"/>
                </a:solidFill>
                <a:latin typeface="Calibri"/>
                <a:cs typeface="Calibri"/>
              </a:rPr>
              <a:t>L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22" name="object 30">
            <a:extLst>
              <a:ext uri="{FF2B5EF4-FFF2-40B4-BE49-F238E27FC236}">
                <a16:creationId xmlns:a16="http://schemas.microsoft.com/office/drawing/2014/main" id="{9ED33F9A-7C46-3794-DD89-2C4555C14C07}"/>
              </a:ext>
            </a:extLst>
          </p:cNvPr>
          <p:cNvSpPr txBox="1"/>
          <p:nvPr/>
        </p:nvSpPr>
        <p:spPr>
          <a:xfrm>
            <a:off x="1370349" y="3613881"/>
            <a:ext cx="2421880" cy="2936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b="1" dirty="0">
                <a:solidFill>
                  <a:srgbClr val="252525"/>
                </a:solidFill>
                <a:latin typeface="Calibri"/>
                <a:cs typeface="Calibri"/>
              </a:rPr>
              <a:t>Total</a:t>
            </a:r>
            <a:r>
              <a:rPr b="1" spc="3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252525"/>
                </a:solidFill>
                <a:latin typeface="Calibri"/>
                <a:cs typeface="Calibri"/>
              </a:rPr>
              <a:t>Profit:</a:t>
            </a:r>
            <a:r>
              <a:rPr b="1" spc="4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252525"/>
                </a:solidFill>
                <a:latin typeface="Calibri"/>
                <a:cs typeface="Calibri"/>
              </a:rPr>
              <a:t>₹</a:t>
            </a:r>
            <a:r>
              <a:rPr b="1" spc="4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252525"/>
                </a:solidFill>
                <a:latin typeface="Calibri"/>
                <a:cs typeface="Calibri"/>
              </a:rPr>
              <a:t>2.</a:t>
            </a:r>
            <a:r>
              <a:rPr lang="en-IN" b="1" spc="-10" dirty="0">
                <a:solidFill>
                  <a:srgbClr val="252525"/>
                </a:solidFill>
                <a:latin typeface="Calibri"/>
                <a:cs typeface="Calibri"/>
              </a:rPr>
              <a:t>34</a:t>
            </a:r>
            <a:r>
              <a:rPr b="1" spc="-10" dirty="0">
                <a:solidFill>
                  <a:srgbClr val="252525"/>
                </a:solidFill>
                <a:latin typeface="Calibri"/>
                <a:cs typeface="Calibri"/>
              </a:rPr>
              <a:t>M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23" name="object 31">
            <a:extLst>
              <a:ext uri="{FF2B5EF4-FFF2-40B4-BE49-F238E27FC236}">
                <a16:creationId xmlns:a16="http://schemas.microsoft.com/office/drawing/2014/main" id="{C6D11946-A9BC-2CD3-C7BE-23A8367F4CAA}"/>
              </a:ext>
            </a:extLst>
          </p:cNvPr>
          <p:cNvSpPr txBox="1"/>
          <p:nvPr/>
        </p:nvSpPr>
        <p:spPr>
          <a:xfrm>
            <a:off x="1370349" y="4052502"/>
            <a:ext cx="3005006" cy="2936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b="1" dirty="0">
                <a:solidFill>
                  <a:srgbClr val="252525"/>
                </a:solidFill>
                <a:latin typeface="Calibri"/>
                <a:cs typeface="Calibri"/>
              </a:rPr>
              <a:t>Percentage</a:t>
            </a:r>
            <a:r>
              <a:rPr b="1" spc="8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252525"/>
                </a:solidFill>
                <a:latin typeface="Calibri"/>
                <a:cs typeface="Calibri"/>
              </a:rPr>
              <a:t>of</a:t>
            </a:r>
            <a:r>
              <a:rPr b="1" spc="8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252525"/>
                </a:solidFill>
                <a:latin typeface="Calibri"/>
                <a:cs typeface="Calibri"/>
              </a:rPr>
              <a:t>Discount:</a:t>
            </a:r>
            <a:r>
              <a:rPr b="1" spc="9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b="1" spc="-20" dirty="0">
                <a:solidFill>
                  <a:srgbClr val="252525"/>
                </a:solidFill>
                <a:latin typeface="Calibri"/>
                <a:cs typeface="Calibri"/>
              </a:rPr>
              <a:t>3.</a:t>
            </a:r>
            <a:r>
              <a:rPr lang="en-IN" b="1" spc="-20" dirty="0">
                <a:solidFill>
                  <a:srgbClr val="252525"/>
                </a:solidFill>
                <a:latin typeface="Calibri"/>
                <a:cs typeface="Calibri"/>
              </a:rPr>
              <a:t>11</a:t>
            </a:r>
            <a:r>
              <a:rPr b="1" spc="-20" dirty="0">
                <a:solidFill>
                  <a:srgbClr val="252525"/>
                </a:solidFill>
                <a:latin typeface="Calibri"/>
                <a:cs typeface="Calibri"/>
              </a:rPr>
              <a:t>%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24" name="object 32">
            <a:extLst>
              <a:ext uri="{FF2B5EF4-FFF2-40B4-BE49-F238E27FC236}">
                <a16:creationId xmlns:a16="http://schemas.microsoft.com/office/drawing/2014/main" id="{5041FCEE-EA96-03D3-72FF-B2DFF881F148}"/>
              </a:ext>
            </a:extLst>
          </p:cNvPr>
          <p:cNvSpPr txBox="1"/>
          <p:nvPr/>
        </p:nvSpPr>
        <p:spPr>
          <a:xfrm>
            <a:off x="1370349" y="4491124"/>
            <a:ext cx="2921173" cy="29367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b="1" dirty="0">
                <a:solidFill>
                  <a:srgbClr val="252525"/>
                </a:solidFill>
                <a:latin typeface="Calibri"/>
                <a:cs typeface="Calibri"/>
              </a:rPr>
              <a:t>Percentage</a:t>
            </a:r>
            <a:r>
              <a:rPr b="1" spc="7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252525"/>
                </a:solidFill>
                <a:latin typeface="Calibri"/>
                <a:cs typeface="Calibri"/>
              </a:rPr>
              <a:t>of</a:t>
            </a:r>
            <a:r>
              <a:rPr b="1" spc="7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252525"/>
                </a:solidFill>
                <a:latin typeface="Calibri"/>
                <a:cs typeface="Calibri"/>
              </a:rPr>
              <a:t>Profit:</a:t>
            </a:r>
            <a:r>
              <a:rPr b="1" spc="7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252525"/>
                </a:solidFill>
                <a:latin typeface="Calibri"/>
                <a:cs typeface="Calibri"/>
              </a:rPr>
              <a:t>1</a:t>
            </a:r>
            <a:r>
              <a:rPr lang="en-IN" b="1" spc="-10" dirty="0">
                <a:solidFill>
                  <a:srgbClr val="252525"/>
                </a:solidFill>
                <a:latin typeface="Calibri"/>
                <a:cs typeface="Calibri"/>
              </a:rPr>
              <a:t>4</a:t>
            </a:r>
            <a:r>
              <a:rPr b="1" spc="-10" dirty="0">
                <a:solidFill>
                  <a:srgbClr val="252525"/>
                </a:solidFill>
                <a:latin typeface="Calibri"/>
                <a:cs typeface="Calibri"/>
              </a:rPr>
              <a:t>.</a:t>
            </a:r>
            <a:r>
              <a:rPr lang="en-IN" b="1" spc="-10" dirty="0">
                <a:solidFill>
                  <a:srgbClr val="252525"/>
                </a:solidFill>
                <a:latin typeface="Calibri"/>
                <a:cs typeface="Calibri"/>
              </a:rPr>
              <a:t>33</a:t>
            </a:r>
            <a:r>
              <a:rPr b="1" spc="-10" dirty="0">
                <a:solidFill>
                  <a:srgbClr val="252525"/>
                </a:solidFill>
                <a:latin typeface="Calibri"/>
                <a:cs typeface="Calibri"/>
              </a:rPr>
              <a:t>%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25" name="object 17">
            <a:extLst>
              <a:ext uri="{FF2B5EF4-FFF2-40B4-BE49-F238E27FC236}">
                <a16:creationId xmlns:a16="http://schemas.microsoft.com/office/drawing/2014/main" id="{D6DC8F11-72E6-8738-8AC9-3BCE1373A2AA}"/>
              </a:ext>
            </a:extLst>
          </p:cNvPr>
          <p:cNvSpPr txBox="1"/>
          <p:nvPr/>
        </p:nvSpPr>
        <p:spPr>
          <a:xfrm>
            <a:off x="7818116" y="1613450"/>
            <a:ext cx="2402671" cy="32444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sz="2000" b="1" dirty="0">
                <a:solidFill>
                  <a:srgbClr val="252525"/>
                </a:solidFill>
                <a:latin typeface="Calibri"/>
                <a:cs typeface="Calibri"/>
              </a:rPr>
              <a:t>Order</a:t>
            </a:r>
            <a:r>
              <a:rPr sz="2000" b="1" spc="7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252525"/>
                </a:solidFill>
                <a:latin typeface="Calibri"/>
                <a:cs typeface="Calibri"/>
              </a:rPr>
              <a:t>Information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26" name="object 18">
            <a:extLst>
              <a:ext uri="{FF2B5EF4-FFF2-40B4-BE49-F238E27FC236}">
                <a16:creationId xmlns:a16="http://schemas.microsoft.com/office/drawing/2014/main" id="{5DB78E50-7D08-A8D8-197D-6367ADA34C32}"/>
              </a:ext>
            </a:extLst>
          </p:cNvPr>
          <p:cNvSpPr txBox="1"/>
          <p:nvPr/>
        </p:nvSpPr>
        <p:spPr>
          <a:xfrm>
            <a:off x="7261348" y="2282032"/>
            <a:ext cx="2209397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rgbClr val="252525"/>
                </a:solidFill>
                <a:latin typeface="Calibri"/>
                <a:cs typeface="Calibri"/>
              </a:rPr>
              <a:t>Order</a:t>
            </a:r>
            <a:r>
              <a:rPr b="1" spc="-3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252525"/>
                </a:solidFill>
                <a:latin typeface="Calibri"/>
                <a:cs typeface="Calibri"/>
              </a:rPr>
              <a:t>Count:</a:t>
            </a:r>
            <a:r>
              <a:rPr b="1" spc="-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lang="en-US" b="1" spc="-10" dirty="0">
                <a:solidFill>
                  <a:srgbClr val="252525"/>
                </a:solidFill>
                <a:latin typeface="Calibri"/>
                <a:cs typeface="Calibri"/>
              </a:rPr>
              <a:t>98,663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27" name="object 19">
            <a:extLst>
              <a:ext uri="{FF2B5EF4-FFF2-40B4-BE49-F238E27FC236}">
                <a16:creationId xmlns:a16="http://schemas.microsoft.com/office/drawing/2014/main" id="{4F083B5E-F690-C441-9BF5-B0ED465BC1E9}"/>
              </a:ext>
            </a:extLst>
          </p:cNvPr>
          <p:cNvSpPr txBox="1"/>
          <p:nvPr/>
        </p:nvSpPr>
        <p:spPr>
          <a:xfrm>
            <a:off x="7261348" y="2634225"/>
            <a:ext cx="244811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rgbClr val="252525"/>
                </a:solidFill>
                <a:latin typeface="Calibri"/>
                <a:cs typeface="Calibri"/>
              </a:rPr>
              <a:t>Total</a:t>
            </a:r>
            <a:r>
              <a:rPr b="1" spc="-3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252525"/>
                </a:solidFill>
                <a:latin typeface="Calibri"/>
                <a:cs typeface="Calibri"/>
              </a:rPr>
              <a:t>Payment</a:t>
            </a:r>
            <a:r>
              <a:rPr b="1" spc="-4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252525"/>
                </a:solidFill>
                <a:latin typeface="Calibri"/>
                <a:cs typeface="Calibri"/>
              </a:rPr>
              <a:t>Method:</a:t>
            </a:r>
            <a:r>
              <a:rPr b="1" spc="-4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b="1" spc="-50" dirty="0">
                <a:solidFill>
                  <a:srgbClr val="252525"/>
                </a:solidFill>
                <a:latin typeface="Calibri"/>
                <a:cs typeface="Calibri"/>
              </a:rPr>
              <a:t>4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28" name="object 20">
            <a:extLst>
              <a:ext uri="{FF2B5EF4-FFF2-40B4-BE49-F238E27FC236}">
                <a16:creationId xmlns:a16="http://schemas.microsoft.com/office/drawing/2014/main" id="{175EF777-F275-8648-1ADB-73BF1CDFA091}"/>
              </a:ext>
            </a:extLst>
          </p:cNvPr>
          <p:cNvSpPr txBox="1"/>
          <p:nvPr/>
        </p:nvSpPr>
        <p:spPr>
          <a:xfrm>
            <a:off x="7261348" y="2961510"/>
            <a:ext cx="2209397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rgbClr val="252525"/>
                </a:solidFill>
                <a:latin typeface="Calibri"/>
                <a:cs typeface="Calibri"/>
              </a:rPr>
              <a:t>Total</a:t>
            </a:r>
            <a:r>
              <a:rPr b="1" spc="-4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252525"/>
                </a:solidFill>
                <a:latin typeface="Calibri"/>
                <a:cs typeface="Calibri"/>
              </a:rPr>
              <a:t>channel:</a:t>
            </a:r>
            <a:r>
              <a:rPr b="1" spc="-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b="1" spc="-50" dirty="0">
                <a:solidFill>
                  <a:srgbClr val="252525"/>
                </a:solidFill>
                <a:latin typeface="Calibri"/>
                <a:cs typeface="Calibri"/>
              </a:rPr>
              <a:t>3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29" name="object 21">
            <a:extLst>
              <a:ext uri="{FF2B5EF4-FFF2-40B4-BE49-F238E27FC236}">
                <a16:creationId xmlns:a16="http://schemas.microsoft.com/office/drawing/2014/main" id="{B8655BB8-677C-42B1-34C3-69820C698CA7}"/>
              </a:ext>
            </a:extLst>
          </p:cNvPr>
          <p:cNvSpPr txBox="1"/>
          <p:nvPr/>
        </p:nvSpPr>
        <p:spPr>
          <a:xfrm>
            <a:off x="7261348" y="3286844"/>
            <a:ext cx="331713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rgbClr val="252525"/>
                </a:solidFill>
                <a:latin typeface="Calibri"/>
                <a:cs typeface="Calibri"/>
              </a:rPr>
              <a:t>Average</a:t>
            </a:r>
            <a:r>
              <a:rPr b="1" spc="-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252525"/>
                </a:solidFill>
                <a:latin typeface="Calibri"/>
                <a:cs typeface="Calibri"/>
              </a:rPr>
              <a:t>Discount Per</a:t>
            </a:r>
            <a:r>
              <a:rPr b="1" spc="-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252525"/>
                </a:solidFill>
                <a:latin typeface="Calibri"/>
                <a:cs typeface="Calibri"/>
              </a:rPr>
              <a:t>Order:</a:t>
            </a:r>
            <a:r>
              <a:rPr b="1" spc="-4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252525"/>
                </a:solidFill>
                <a:latin typeface="Calibri"/>
                <a:cs typeface="Calibri"/>
              </a:rPr>
              <a:t>₹</a:t>
            </a:r>
            <a:r>
              <a:rPr b="1" spc="-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lang="en-IN" b="1" spc="-20" dirty="0">
                <a:solidFill>
                  <a:srgbClr val="252525"/>
                </a:solidFill>
                <a:latin typeface="Calibri"/>
                <a:cs typeface="Calibri"/>
              </a:rPr>
              <a:t>4</a:t>
            </a:r>
            <a:r>
              <a:rPr b="1" spc="-20" dirty="0">
                <a:solidFill>
                  <a:srgbClr val="252525"/>
                </a:solidFill>
                <a:latin typeface="Calibri"/>
                <a:cs typeface="Calibri"/>
              </a:rPr>
              <a:t>.</a:t>
            </a:r>
            <a:r>
              <a:rPr lang="en-IN" b="1" spc="-20" dirty="0">
                <a:solidFill>
                  <a:srgbClr val="252525"/>
                </a:solidFill>
                <a:latin typeface="Calibri"/>
                <a:cs typeface="Calibri"/>
              </a:rPr>
              <a:t>00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30" name="object 22">
            <a:extLst>
              <a:ext uri="{FF2B5EF4-FFF2-40B4-BE49-F238E27FC236}">
                <a16:creationId xmlns:a16="http://schemas.microsoft.com/office/drawing/2014/main" id="{6E5A3D5A-DD59-0464-EC55-11FC2178D804}"/>
              </a:ext>
            </a:extLst>
          </p:cNvPr>
          <p:cNvSpPr txBox="1"/>
          <p:nvPr/>
        </p:nvSpPr>
        <p:spPr>
          <a:xfrm>
            <a:off x="7261348" y="3648676"/>
            <a:ext cx="314117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rgbClr val="252525"/>
                </a:solidFill>
                <a:latin typeface="Calibri"/>
                <a:cs typeface="Calibri"/>
              </a:rPr>
              <a:t>Average</a:t>
            </a:r>
            <a:r>
              <a:rPr b="1" spc="-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252525"/>
                </a:solidFill>
                <a:latin typeface="Calibri"/>
                <a:cs typeface="Calibri"/>
              </a:rPr>
              <a:t>Order</a:t>
            </a:r>
            <a:r>
              <a:rPr b="1" spc="-4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252525"/>
                </a:solidFill>
                <a:latin typeface="Calibri"/>
                <a:cs typeface="Calibri"/>
              </a:rPr>
              <a:t>Value:</a:t>
            </a:r>
            <a:r>
              <a:rPr b="1" spc="-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252525"/>
                </a:solidFill>
                <a:latin typeface="Calibri"/>
                <a:cs typeface="Calibri"/>
              </a:rPr>
              <a:t>₹</a:t>
            </a:r>
            <a:r>
              <a:rPr b="1" spc="-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252525"/>
                </a:solidFill>
                <a:latin typeface="Calibri"/>
                <a:cs typeface="Calibri"/>
              </a:rPr>
              <a:t>1</a:t>
            </a:r>
            <a:r>
              <a:rPr lang="en-IN" b="1" spc="-10" dirty="0">
                <a:solidFill>
                  <a:srgbClr val="252525"/>
                </a:solidFill>
                <a:latin typeface="Calibri"/>
                <a:cs typeface="Calibri"/>
              </a:rPr>
              <a:t>65</a:t>
            </a:r>
            <a:r>
              <a:rPr b="1" spc="-10" dirty="0">
                <a:solidFill>
                  <a:srgbClr val="252525"/>
                </a:solidFill>
                <a:latin typeface="Calibri"/>
                <a:cs typeface="Calibri"/>
              </a:rPr>
              <a:t>.</a:t>
            </a:r>
            <a:r>
              <a:rPr lang="en-IN" b="1" spc="-10" dirty="0">
                <a:solidFill>
                  <a:srgbClr val="252525"/>
                </a:solidFill>
                <a:latin typeface="Calibri"/>
                <a:cs typeface="Calibri"/>
              </a:rPr>
              <a:t>74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31" name="object 23">
            <a:extLst>
              <a:ext uri="{FF2B5EF4-FFF2-40B4-BE49-F238E27FC236}">
                <a16:creationId xmlns:a16="http://schemas.microsoft.com/office/drawing/2014/main" id="{E1DF8D85-98CD-C655-C9D5-276EFBF270BA}"/>
              </a:ext>
            </a:extLst>
          </p:cNvPr>
          <p:cNvSpPr txBox="1"/>
          <p:nvPr/>
        </p:nvSpPr>
        <p:spPr>
          <a:xfrm>
            <a:off x="7261346" y="4037832"/>
            <a:ext cx="3516209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rgbClr val="252525"/>
                </a:solidFill>
                <a:latin typeface="Calibri"/>
                <a:cs typeface="Calibri"/>
              </a:rPr>
              <a:t>Average</a:t>
            </a:r>
            <a:r>
              <a:rPr b="1" spc="-1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252525"/>
                </a:solidFill>
                <a:latin typeface="Calibri"/>
                <a:cs typeface="Calibri"/>
              </a:rPr>
              <a:t>Categories</a:t>
            </a:r>
            <a:r>
              <a:rPr b="1" spc="-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252525"/>
                </a:solidFill>
                <a:latin typeface="Calibri"/>
                <a:cs typeface="Calibri"/>
              </a:rPr>
              <a:t>per</a:t>
            </a:r>
            <a:r>
              <a:rPr b="1" spc="-1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252525"/>
                </a:solidFill>
                <a:latin typeface="Calibri"/>
                <a:cs typeface="Calibri"/>
              </a:rPr>
              <a:t>order:</a:t>
            </a:r>
            <a:r>
              <a:rPr b="1" spc="-1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b="1" spc="-10" dirty="0">
                <a:solidFill>
                  <a:srgbClr val="252525"/>
                </a:solidFill>
                <a:latin typeface="Calibri"/>
                <a:cs typeface="Calibri"/>
              </a:rPr>
              <a:t>1</a:t>
            </a:r>
            <a:endParaRPr dirty="0">
              <a:latin typeface="Calibri"/>
              <a:cs typeface="Calibri"/>
            </a:endParaRPr>
          </a:p>
        </p:txBody>
      </p:sp>
      <p:sp>
        <p:nvSpPr>
          <p:cNvPr id="32" name="object 24">
            <a:extLst>
              <a:ext uri="{FF2B5EF4-FFF2-40B4-BE49-F238E27FC236}">
                <a16:creationId xmlns:a16="http://schemas.microsoft.com/office/drawing/2014/main" id="{62B896A1-8007-52DD-A8B3-0365689B1F5E}"/>
              </a:ext>
            </a:extLst>
          </p:cNvPr>
          <p:cNvSpPr txBox="1"/>
          <p:nvPr/>
        </p:nvSpPr>
        <p:spPr>
          <a:xfrm>
            <a:off x="7261346" y="4441172"/>
            <a:ext cx="319470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rgbClr val="252525"/>
                </a:solidFill>
                <a:latin typeface="Calibri"/>
                <a:cs typeface="Calibri"/>
              </a:rPr>
              <a:t>Average</a:t>
            </a:r>
            <a:r>
              <a:rPr b="1" spc="-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252525"/>
                </a:solidFill>
                <a:latin typeface="Calibri"/>
                <a:cs typeface="Calibri"/>
              </a:rPr>
              <a:t>Items</a:t>
            </a:r>
            <a:r>
              <a:rPr b="1" spc="-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252525"/>
                </a:solidFill>
                <a:latin typeface="Calibri"/>
                <a:cs typeface="Calibri"/>
              </a:rPr>
              <a:t>Per</a:t>
            </a:r>
            <a:r>
              <a:rPr b="1" spc="-2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b="1" dirty="0">
                <a:solidFill>
                  <a:srgbClr val="252525"/>
                </a:solidFill>
                <a:latin typeface="Calibri"/>
                <a:cs typeface="Calibri"/>
              </a:rPr>
              <a:t>Order:</a:t>
            </a:r>
            <a:r>
              <a:rPr b="1" spc="-3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b="1" spc="-20" dirty="0">
                <a:solidFill>
                  <a:srgbClr val="252525"/>
                </a:solidFill>
                <a:latin typeface="Calibri"/>
                <a:cs typeface="Calibri"/>
              </a:rPr>
              <a:t>1</a:t>
            </a:r>
            <a:endParaRPr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0206187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863D3-660E-7882-EC7C-2A05740231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grpSp>
        <p:nvGrpSpPr>
          <p:cNvPr id="4" name="object 9">
            <a:extLst>
              <a:ext uri="{FF2B5EF4-FFF2-40B4-BE49-F238E27FC236}">
                <a16:creationId xmlns:a16="http://schemas.microsoft.com/office/drawing/2014/main" id="{F1FE1A49-0665-FA85-6747-0E8F4574EE61}"/>
              </a:ext>
            </a:extLst>
          </p:cNvPr>
          <p:cNvGrpSpPr/>
          <p:nvPr/>
        </p:nvGrpSpPr>
        <p:grpSpPr>
          <a:xfrm>
            <a:off x="784859" y="1175670"/>
            <a:ext cx="10620068" cy="4772142"/>
            <a:chOff x="1066800" y="1356360"/>
            <a:chExt cx="4959096" cy="2619617"/>
          </a:xfrm>
        </p:grpSpPr>
        <p:pic>
          <p:nvPicPr>
            <p:cNvPr id="5" name="object 10">
              <a:extLst>
                <a:ext uri="{FF2B5EF4-FFF2-40B4-BE49-F238E27FC236}">
                  <a16:creationId xmlns:a16="http://schemas.microsoft.com/office/drawing/2014/main" id="{D0B0B938-AC7B-6758-D2D7-C544DF306A5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11779" y="2935035"/>
              <a:ext cx="3214116" cy="1040942"/>
            </a:xfrm>
            <a:prstGeom prst="rect">
              <a:avLst/>
            </a:prstGeom>
          </p:spPr>
        </p:pic>
        <p:pic>
          <p:nvPicPr>
            <p:cNvPr id="6" name="object 11">
              <a:extLst>
                <a:ext uri="{FF2B5EF4-FFF2-40B4-BE49-F238E27FC236}">
                  <a16:creationId xmlns:a16="http://schemas.microsoft.com/office/drawing/2014/main" id="{2C9B959C-FB53-6FDD-F36F-CC1591D7457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6800" y="1356360"/>
              <a:ext cx="4959096" cy="1489568"/>
            </a:xfrm>
            <a:prstGeom prst="rect">
              <a:avLst/>
            </a:prstGeom>
          </p:spPr>
        </p:pic>
      </p:grpSp>
      <p:pic>
        <p:nvPicPr>
          <p:cNvPr id="7" name="object 7">
            <a:extLst>
              <a:ext uri="{FF2B5EF4-FFF2-40B4-BE49-F238E27FC236}">
                <a16:creationId xmlns:a16="http://schemas.microsoft.com/office/drawing/2014/main" id="{74D347BF-985E-04BE-CB1B-FD1BD05B593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9056" y="4051534"/>
            <a:ext cx="3691082" cy="1870663"/>
          </a:xfrm>
          <a:prstGeom prst="rect">
            <a:avLst/>
          </a:prstGeom>
        </p:spPr>
      </p:pic>
      <p:sp>
        <p:nvSpPr>
          <p:cNvPr id="8" name="object 8">
            <a:extLst>
              <a:ext uri="{FF2B5EF4-FFF2-40B4-BE49-F238E27FC236}">
                <a16:creationId xmlns:a16="http://schemas.microsoft.com/office/drawing/2014/main" id="{327FDEAF-EA46-1500-357F-3675A4860EA3}"/>
              </a:ext>
            </a:extLst>
          </p:cNvPr>
          <p:cNvSpPr txBox="1"/>
          <p:nvPr/>
        </p:nvSpPr>
        <p:spPr>
          <a:xfrm>
            <a:off x="1104974" y="4850311"/>
            <a:ext cx="2818097" cy="727763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>
              <a:spcBef>
                <a:spcPts val="75"/>
              </a:spcBef>
            </a:pPr>
            <a:r>
              <a:rPr sz="2000" b="1" dirty="0">
                <a:solidFill>
                  <a:srgbClr val="252525"/>
                </a:solidFill>
                <a:latin typeface="Calibri"/>
                <a:cs typeface="Calibri"/>
              </a:rPr>
              <a:t>Total</a:t>
            </a:r>
            <a:r>
              <a:rPr sz="2000" b="1" spc="-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2525"/>
                </a:solidFill>
                <a:latin typeface="Calibri"/>
                <a:cs typeface="Calibri"/>
              </a:rPr>
              <a:t>product:</a:t>
            </a:r>
            <a:r>
              <a:rPr sz="2000" b="1" spc="-11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b="1" spc="-8" dirty="0">
                <a:solidFill>
                  <a:srgbClr val="252525"/>
                </a:solidFill>
                <a:latin typeface="Calibri"/>
                <a:cs typeface="Calibri"/>
              </a:rPr>
              <a:t>3</a:t>
            </a:r>
            <a:r>
              <a:rPr lang="en-IN" sz="2000" b="1" spc="-8" dirty="0">
                <a:solidFill>
                  <a:srgbClr val="252525"/>
                </a:solidFill>
                <a:latin typeface="Calibri"/>
                <a:cs typeface="Calibri"/>
              </a:rPr>
              <a:t>2950</a:t>
            </a:r>
            <a:endParaRPr sz="2000" dirty="0">
              <a:latin typeface="Calibri"/>
              <a:cs typeface="Calibri"/>
            </a:endParaRPr>
          </a:p>
          <a:p>
            <a:pPr>
              <a:spcBef>
                <a:spcPts val="818"/>
              </a:spcBef>
            </a:pPr>
            <a:r>
              <a:rPr sz="2000" b="1" dirty="0">
                <a:solidFill>
                  <a:srgbClr val="252525"/>
                </a:solidFill>
                <a:latin typeface="Calibri"/>
                <a:cs typeface="Calibri"/>
              </a:rPr>
              <a:t>Total</a:t>
            </a:r>
            <a:r>
              <a:rPr sz="2000" b="1" spc="-19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2525"/>
                </a:solidFill>
                <a:latin typeface="Calibri"/>
                <a:cs typeface="Calibri"/>
              </a:rPr>
              <a:t>category:</a:t>
            </a:r>
            <a:r>
              <a:rPr sz="2000" b="1" spc="-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b="1" spc="-19" dirty="0">
                <a:solidFill>
                  <a:srgbClr val="252525"/>
                </a:solidFill>
                <a:latin typeface="Calibri"/>
                <a:cs typeface="Calibri"/>
              </a:rPr>
              <a:t>14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9" name="object 13">
            <a:extLst>
              <a:ext uri="{FF2B5EF4-FFF2-40B4-BE49-F238E27FC236}">
                <a16:creationId xmlns:a16="http://schemas.microsoft.com/office/drawing/2014/main" id="{EE7A32D3-96D6-C846-A088-AFEAC4008D2E}"/>
              </a:ext>
            </a:extLst>
          </p:cNvPr>
          <p:cNvSpPr/>
          <p:nvPr/>
        </p:nvSpPr>
        <p:spPr>
          <a:xfrm flipV="1">
            <a:off x="875071" y="4615166"/>
            <a:ext cx="10530400" cy="90423"/>
          </a:xfrm>
          <a:custGeom>
            <a:avLst/>
            <a:gdLst/>
            <a:ahLst/>
            <a:cxnLst/>
            <a:rect l="l" t="t" r="r" b="b"/>
            <a:pathLst>
              <a:path w="4917440">
                <a:moveTo>
                  <a:pt x="0" y="0"/>
                </a:moveTo>
                <a:lnTo>
                  <a:pt x="1502892" y="0"/>
                </a:lnTo>
              </a:path>
              <a:path w="4917440">
                <a:moveTo>
                  <a:pt x="1746097" y="0"/>
                </a:moveTo>
                <a:lnTo>
                  <a:pt x="4917414" y="0"/>
                </a:lnTo>
              </a:path>
            </a:pathLst>
          </a:custGeom>
          <a:ln w="24579">
            <a:solidFill>
              <a:srgbClr val="5F5F5F"/>
            </a:solidFill>
          </a:ln>
        </p:spPr>
        <p:txBody>
          <a:bodyPr wrap="square" lIns="0" tIns="0" rIns="0" bIns="0" rtlCol="0"/>
          <a:lstStyle/>
          <a:p>
            <a:endParaRPr sz="1400"/>
          </a:p>
        </p:txBody>
      </p:sp>
      <p:sp>
        <p:nvSpPr>
          <p:cNvPr id="10" name="object 14">
            <a:extLst>
              <a:ext uri="{FF2B5EF4-FFF2-40B4-BE49-F238E27FC236}">
                <a16:creationId xmlns:a16="http://schemas.microsoft.com/office/drawing/2014/main" id="{FD8A409B-11F5-E394-9AA5-EDDAEC535265}"/>
              </a:ext>
            </a:extLst>
          </p:cNvPr>
          <p:cNvSpPr txBox="1"/>
          <p:nvPr/>
        </p:nvSpPr>
        <p:spPr>
          <a:xfrm>
            <a:off x="1104974" y="1727857"/>
            <a:ext cx="4343676" cy="1244956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>
              <a:spcBef>
                <a:spcPts val="480"/>
              </a:spcBef>
            </a:pPr>
            <a:r>
              <a:rPr sz="2000" b="1" dirty="0">
                <a:solidFill>
                  <a:srgbClr val="252525"/>
                </a:solidFill>
                <a:latin typeface="Calibri"/>
                <a:cs typeface="Calibri"/>
              </a:rPr>
              <a:t>Total</a:t>
            </a:r>
            <a:r>
              <a:rPr sz="2000" b="1" spc="-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2525"/>
                </a:solidFill>
                <a:latin typeface="Calibri"/>
                <a:cs typeface="Calibri"/>
              </a:rPr>
              <a:t>Customer:</a:t>
            </a:r>
            <a:r>
              <a:rPr sz="2000" b="1" spc="-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lang="en-IN" sz="2000" b="1" spc="-8" dirty="0">
                <a:solidFill>
                  <a:srgbClr val="252525"/>
                </a:solidFill>
                <a:latin typeface="Calibri"/>
                <a:cs typeface="Calibri"/>
              </a:rPr>
              <a:t>96,805</a:t>
            </a:r>
            <a:endParaRPr sz="2000" dirty="0">
              <a:latin typeface="Calibri"/>
              <a:cs typeface="Calibri"/>
            </a:endParaRPr>
          </a:p>
          <a:p>
            <a:pPr marR="3810">
              <a:lnSpc>
                <a:spcPct val="150000"/>
              </a:lnSpc>
            </a:pPr>
            <a:r>
              <a:rPr sz="2000" b="1" dirty="0">
                <a:solidFill>
                  <a:srgbClr val="252525"/>
                </a:solidFill>
                <a:latin typeface="Calibri"/>
                <a:cs typeface="Calibri"/>
              </a:rPr>
              <a:t>Average</a:t>
            </a:r>
            <a:r>
              <a:rPr sz="2000" b="1" spc="-26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2525"/>
                </a:solidFill>
                <a:latin typeface="Calibri"/>
                <a:cs typeface="Calibri"/>
              </a:rPr>
              <a:t>discount</a:t>
            </a:r>
            <a:r>
              <a:rPr sz="2000" b="1" spc="-4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2525"/>
                </a:solidFill>
                <a:latin typeface="Calibri"/>
                <a:cs typeface="Calibri"/>
              </a:rPr>
              <a:t>per</a:t>
            </a:r>
            <a:r>
              <a:rPr sz="2000" b="1" spc="-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2525"/>
                </a:solidFill>
                <a:latin typeface="Calibri"/>
                <a:cs typeface="Calibri"/>
              </a:rPr>
              <a:t>customer:</a:t>
            </a:r>
            <a:r>
              <a:rPr sz="2000" b="1" spc="-19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2525"/>
                </a:solidFill>
                <a:latin typeface="Calibri"/>
                <a:cs typeface="Calibri"/>
              </a:rPr>
              <a:t>₹</a:t>
            </a:r>
            <a:r>
              <a:rPr sz="2000" b="1" spc="-23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b="1" spc="-15" dirty="0">
                <a:solidFill>
                  <a:srgbClr val="252525"/>
                </a:solidFill>
                <a:latin typeface="Calibri"/>
                <a:cs typeface="Calibri"/>
              </a:rPr>
              <a:t>5.</a:t>
            </a:r>
            <a:r>
              <a:rPr lang="en-IN" sz="2000" b="1" spc="-15" dirty="0">
                <a:solidFill>
                  <a:srgbClr val="252525"/>
                </a:solidFill>
                <a:latin typeface="Calibri"/>
                <a:cs typeface="Calibri"/>
              </a:rPr>
              <a:t>00</a:t>
            </a:r>
            <a:r>
              <a:rPr sz="2000" b="1" spc="37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2525"/>
                </a:solidFill>
                <a:latin typeface="Calibri"/>
                <a:cs typeface="Calibri"/>
              </a:rPr>
              <a:t>Average</a:t>
            </a:r>
            <a:r>
              <a:rPr sz="2000" b="1" spc="-26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2525"/>
                </a:solidFill>
                <a:latin typeface="Calibri"/>
                <a:cs typeface="Calibri"/>
              </a:rPr>
              <a:t>sales</a:t>
            </a:r>
            <a:r>
              <a:rPr sz="2000" b="1" spc="-26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2525"/>
                </a:solidFill>
                <a:latin typeface="Calibri"/>
                <a:cs typeface="Calibri"/>
              </a:rPr>
              <a:t>per</a:t>
            </a:r>
            <a:r>
              <a:rPr sz="2000" b="1" spc="-23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2525"/>
                </a:solidFill>
                <a:latin typeface="Calibri"/>
                <a:cs typeface="Calibri"/>
              </a:rPr>
              <a:t>customer:</a:t>
            </a:r>
            <a:r>
              <a:rPr sz="2000" b="1" spc="-1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b="1" spc="-8" dirty="0">
                <a:solidFill>
                  <a:srgbClr val="252525"/>
                </a:solidFill>
                <a:latin typeface="Calibri"/>
                <a:cs typeface="Calibri"/>
              </a:rPr>
              <a:t>₹1</a:t>
            </a:r>
            <a:r>
              <a:rPr lang="en-IN" sz="2000" b="1" spc="-8" dirty="0">
                <a:solidFill>
                  <a:srgbClr val="252525"/>
                </a:solidFill>
                <a:latin typeface="Calibri"/>
                <a:cs typeface="Calibri"/>
              </a:rPr>
              <a:t>65</a:t>
            </a:r>
            <a:r>
              <a:rPr sz="2000" b="1" spc="-8" dirty="0">
                <a:solidFill>
                  <a:srgbClr val="252525"/>
                </a:solidFill>
                <a:latin typeface="Calibri"/>
                <a:cs typeface="Calibri"/>
              </a:rPr>
              <a:t>.</a:t>
            </a:r>
            <a:r>
              <a:rPr lang="en-IN" sz="2000" b="1" spc="-8" dirty="0">
                <a:solidFill>
                  <a:srgbClr val="252525"/>
                </a:solidFill>
                <a:latin typeface="Calibri"/>
                <a:cs typeface="Calibri"/>
              </a:rPr>
              <a:t>89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1" name="object 15">
            <a:extLst>
              <a:ext uri="{FF2B5EF4-FFF2-40B4-BE49-F238E27FC236}">
                <a16:creationId xmlns:a16="http://schemas.microsoft.com/office/drawing/2014/main" id="{93D54332-E158-9C9A-F93E-09055D0A8654}"/>
              </a:ext>
            </a:extLst>
          </p:cNvPr>
          <p:cNvSpPr txBox="1"/>
          <p:nvPr/>
        </p:nvSpPr>
        <p:spPr>
          <a:xfrm>
            <a:off x="5867838" y="4132009"/>
            <a:ext cx="4172466" cy="381836"/>
          </a:xfrm>
          <a:prstGeom prst="rect">
            <a:avLst/>
          </a:prstGeom>
        </p:spPr>
        <p:txBody>
          <a:bodyPr vert="horz" wrap="square" lIns="0" tIns="12383" rIns="0" bIns="0" rtlCol="0">
            <a:spAutoFit/>
          </a:bodyPr>
          <a:lstStyle/>
          <a:p>
            <a:pPr algn="ctr">
              <a:spcBef>
                <a:spcPts val="98"/>
              </a:spcBef>
            </a:pPr>
            <a:r>
              <a:rPr sz="2400" b="1" dirty="0">
                <a:latin typeface="Calibri"/>
                <a:cs typeface="Calibri"/>
              </a:rPr>
              <a:t>Seller</a:t>
            </a:r>
            <a:r>
              <a:rPr sz="2400" b="1" spc="34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store</a:t>
            </a:r>
            <a:r>
              <a:rPr sz="2400" b="1" spc="38" dirty="0">
                <a:latin typeface="Calibri"/>
                <a:cs typeface="Calibri"/>
              </a:rPr>
              <a:t> </a:t>
            </a:r>
            <a:r>
              <a:rPr sz="2400" b="1" spc="-8" dirty="0">
                <a:latin typeface="Calibri"/>
                <a:cs typeface="Calibri"/>
              </a:rPr>
              <a:t>information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2" name="object 16">
            <a:extLst>
              <a:ext uri="{FF2B5EF4-FFF2-40B4-BE49-F238E27FC236}">
                <a16:creationId xmlns:a16="http://schemas.microsoft.com/office/drawing/2014/main" id="{2F2C4552-A03F-7DF1-8CE2-9E30618D27D8}"/>
              </a:ext>
            </a:extLst>
          </p:cNvPr>
          <p:cNvSpPr txBox="1"/>
          <p:nvPr/>
        </p:nvSpPr>
        <p:spPr>
          <a:xfrm>
            <a:off x="5768765" y="1612050"/>
            <a:ext cx="5314573" cy="137255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R="280035" algn="r">
              <a:lnSpc>
                <a:spcPct val="150000"/>
              </a:lnSpc>
              <a:spcBef>
                <a:spcPts val="75"/>
              </a:spcBef>
            </a:pPr>
            <a:r>
              <a:rPr sz="2000" b="1" dirty="0">
                <a:solidFill>
                  <a:srgbClr val="252525"/>
                </a:solidFill>
                <a:latin typeface="Calibri"/>
                <a:cs typeface="Calibri"/>
              </a:rPr>
              <a:t>Average</a:t>
            </a:r>
            <a:r>
              <a:rPr sz="2000" b="1" spc="12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2525"/>
                </a:solidFill>
                <a:latin typeface="Calibri"/>
                <a:cs typeface="Calibri"/>
              </a:rPr>
              <a:t>profit</a:t>
            </a:r>
            <a:r>
              <a:rPr sz="2000" b="1" spc="-19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2525"/>
                </a:solidFill>
                <a:latin typeface="Calibri"/>
                <a:cs typeface="Calibri"/>
              </a:rPr>
              <a:t>per</a:t>
            </a:r>
            <a:r>
              <a:rPr sz="2000" b="1" spc="-1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2525"/>
                </a:solidFill>
                <a:latin typeface="Calibri"/>
                <a:cs typeface="Calibri"/>
              </a:rPr>
              <a:t>customer:</a:t>
            </a:r>
            <a:r>
              <a:rPr sz="2000" b="1" spc="127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2525"/>
                </a:solidFill>
                <a:latin typeface="Calibri"/>
                <a:cs typeface="Calibri"/>
              </a:rPr>
              <a:t>₹</a:t>
            </a:r>
            <a:r>
              <a:rPr sz="2000" b="1" spc="-19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b="1" spc="-15" dirty="0">
                <a:solidFill>
                  <a:srgbClr val="252525"/>
                </a:solidFill>
                <a:latin typeface="Calibri"/>
                <a:cs typeface="Calibri"/>
              </a:rPr>
              <a:t>2</a:t>
            </a:r>
            <a:r>
              <a:rPr lang="en-IN" sz="2000" b="1" spc="-15" dirty="0">
                <a:solidFill>
                  <a:srgbClr val="252525"/>
                </a:solidFill>
                <a:latin typeface="Calibri"/>
                <a:cs typeface="Calibri"/>
              </a:rPr>
              <a:t>3.77</a:t>
            </a:r>
            <a:endParaRPr lang="en-US" sz="2000" b="1" spc="375" dirty="0">
              <a:solidFill>
                <a:srgbClr val="252525"/>
              </a:solidFill>
              <a:latin typeface="Calibri"/>
              <a:cs typeface="Calibri"/>
            </a:endParaRPr>
          </a:p>
          <a:p>
            <a:pPr marR="280035" algn="r">
              <a:lnSpc>
                <a:spcPct val="150000"/>
              </a:lnSpc>
              <a:spcBef>
                <a:spcPts val="75"/>
              </a:spcBef>
            </a:pPr>
            <a:r>
              <a:rPr sz="2000" b="1" spc="-8" dirty="0">
                <a:solidFill>
                  <a:srgbClr val="252525"/>
                </a:solidFill>
                <a:latin typeface="Calibri"/>
                <a:cs typeface="Calibri"/>
              </a:rPr>
              <a:t>Transaction</a:t>
            </a:r>
            <a:r>
              <a:rPr lang="en-IN" sz="2000" b="1" spc="-8" dirty="0">
                <a:solidFill>
                  <a:srgbClr val="252525"/>
                </a:solidFill>
                <a:latin typeface="Calibri"/>
                <a:cs typeface="Calibri"/>
              </a:rPr>
              <a:t>s</a:t>
            </a:r>
            <a:r>
              <a:rPr sz="2000" b="1" spc="-4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2525"/>
                </a:solidFill>
                <a:latin typeface="Calibri"/>
                <a:cs typeface="Calibri"/>
              </a:rPr>
              <a:t>per</a:t>
            </a:r>
            <a:r>
              <a:rPr sz="2000" b="1" spc="-11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2525"/>
                </a:solidFill>
                <a:latin typeface="Calibri"/>
                <a:cs typeface="Calibri"/>
              </a:rPr>
              <a:t>customer:</a:t>
            </a:r>
            <a:r>
              <a:rPr sz="2000" b="1" spc="-4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b="1" spc="-8" dirty="0">
                <a:solidFill>
                  <a:srgbClr val="252525"/>
                </a:solidFill>
                <a:latin typeface="Calibri"/>
                <a:cs typeface="Calibri"/>
              </a:rPr>
              <a:t>1</a:t>
            </a:r>
            <a:r>
              <a:rPr lang="en-IN" sz="2000" b="1" spc="-8" dirty="0">
                <a:solidFill>
                  <a:srgbClr val="252525"/>
                </a:solidFill>
                <a:latin typeface="Calibri"/>
                <a:cs typeface="Calibri"/>
              </a:rPr>
              <a:t>.00</a:t>
            </a:r>
            <a:endParaRPr lang="en-US" sz="2000" b="1" spc="-8" dirty="0">
              <a:solidFill>
                <a:srgbClr val="252525"/>
              </a:solidFill>
              <a:latin typeface="Calibri"/>
              <a:cs typeface="Calibri"/>
            </a:endParaRPr>
          </a:p>
          <a:p>
            <a:pPr marR="280035" algn="r">
              <a:lnSpc>
                <a:spcPct val="150000"/>
              </a:lnSpc>
              <a:spcBef>
                <a:spcPts val="75"/>
              </a:spcBef>
            </a:pPr>
            <a:r>
              <a:rPr sz="2000" b="1" dirty="0">
                <a:solidFill>
                  <a:srgbClr val="252525"/>
                </a:solidFill>
                <a:latin typeface="Calibri"/>
                <a:cs typeface="Calibri"/>
              </a:rPr>
              <a:t>Avg</a:t>
            </a:r>
            <a:r>
              <a:rPr sz="2000" b="1" spc="8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2525"/>
                </a:solidFill>
                <a:latin typeface="Calibri"/>
                <a:cs typeface="Calibri"/>
              </a:rPr>
              <a:t>no.</a:t>
            </a:r>
            <a:r>
              <a:rPr sz="2000" b="1" spc="-4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2525"/>
                </a:solidFill>
                <a:latin typeface="Calibri"/>
                <a:cs typeface="Calibri"/>
              </a:rPr>
              <a:t>of</a:t>
            </a:r>
            <a:r>
              <a:rPr sz="2000" b="1" spc="-4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2525"/>
                </a:solidFill>
                <a:latin typeface="Calibri"/>
                <a:cs typeface="Calibri"/>
              </a:rPr>
              <a:t>days</a:t>
            </a:r>
            <a:r>
              <a:rPr sz="2000" b="1" spc="-4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b="1" spc="-8" dirty="0">
                <a:solidFill>
                  <a:srgbClr val="252525"/>
                </a:solidFill>
                <a:latin typeface="Calibri"/>
                <a:cs typeface="Calibri"/>
              </a:rPr>
              <a:t>between</a:t>
            </a:r>
            <a:r>
              <a:rPr sz="2000" b="1" spc="-19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2525"/>
                </a:solidFill>
                <a:latin typeface="Calibri"/>
                <a:cs typeface="Calibri"/>
              </a:rPr>
              <a:t>two</a:t>
            </a:r>
            <a:r>
              <a:rPr sz="2000" b="1" spc="-8" dirty="0">
                <a:solidFill>
                  <a:srgbClr val="252525"/>
                </a:solidFill>
                <a:latin typeface="Calibri"/>
                <a:cs typeface="Calibri"/>
              </a:rPr>
              <a:t> transactions:</a:t>
            </a:r>
            <a:r>
              <a:rPr sz="2000" b="1" spc="26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lang="en-IN" sz="2000" b="1" spc="-38" dirty="0">
                <a:solidFill>
                  <a:srgbClr val="252525"/>
                </a:solidFill>
                <a:latin typeface="Calibri"/>
                <a:cs typeface="Calibri"/>
              </a:rPr>
              <a:t>1.96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3" name="object 17">
            <a:extLst>
              <a:ext uri="{FF2B5EF4-FFF2-40B4-BE49-F238E27FC236}">
                <a16:creationId xmlns:a16="http://schemas.microsoft.com/office/drawing/2014/main" id="{74D3CAC2-89C5-C4A4-3978-DCA8930F51CC}"/>
              </a:ext>
            </a:extLst>
          </p:cNvPr>
          <p:cNvSpPr txBox="1"/>
          <p:nvPr/>
        </p:nvSpPr>
        <p:spPr>
          <a:xfrm>
            <a:off x="3165987" y="1260256"/>
            <a:ext cx="5649341" cy="381836"/>
          </a:xfrm>
          <a:prstGeom prst="rect">
            <a:avLst/>
          </a:prstGeom>
        </p:spPr>
        <p:txBody>
          <a:bodyPr vert="horz" wrap="square" lIns="0" tIns="12383" rIns="0" bIns="0" rtlCol="0">
            <a:spAutoFit/>
          </a:bodyPr>
          <a:lstStyle/>
          <a:p>
            <a:pPr algn="ctr">
              <a:spcBef>
                <a:spcPts val="98"/>
              </a:spcBef>
              <a:tabLst>
                <a:tab pos="1333500" algn="l"/>
                <a:tab pos="3687604" algn="l"/>
              </a:tabLst>
            </a:pPr>
            <a:r>
              <a:rPr sz="2400" b="1" u="heavy" dirty="0">
                <a:uFill>
                  <a:solidFill>
                    <a:srgbClr val="5F5F5F"/>
                  </a:solidFill>
                </a:uFill>
                <a:latin typeface="Calibri"/>
                <a:cs typeface="Calibri"/>
              </a:rPr>
              <a:t>Customer</a:t>
            </a:r>
            <a:r>
              <a:rPr sz="2400" b="1" u="heavy" spc="75" dirty="0">
                <a:uFill>
                  <a:solidFill>
                    <a:srgbClr val="5F5F5F"/>
                  </a:solidFill>
                </a:uFill>
                <a:latin typeface="Calibri"/>
                <a:cs typeface="Calibri"/>
              </a:rPr>
              <a:t> </a:t>
            </a:r>
            <a:r>
              <a:rPr sz="2400" b="1" u="heavy" spc="-8" dirty="0">
                <a:uFill>
                  <a:solidFill>
                    <a:srgbClr val="5F5F5F"/>
                  </a:solidFill>
                </a:uFill>
                <a:latin typeface="Calibri"/>
                <a:cs typeface="Calibri"/>
              </a:rPr>
              <a:t>Information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4" name="object 18">
            <a:extLst>
              <a:ext uri="{FF2B5EF4-FFF2-40B4-BE49-F238E27FC236}">
                <a16:creationId xmlns:a16="http://schemas.microsoft.com/office/drawing/2014/main" id="{070CF43B-0EF3-5371-7AD3-5481D781BD9A}"/>
              </a:ext>
            </a:extLst>
          </p:cNvPr>
          <p:cNvSpPr txBox="1"/>
          <p:nvPr/>
        </p:nvSpPr>
        <p:spPr>
          <a:xfrm>
            <a:off x="8921627" y="4841100"/>
            <a:ext cx="2237353" cy="72840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>
              <a:spcBef>
                <a:spcPts val="480"/>
              </a:spcBef>
            </a:pPr>
            <a:r>
              <a:rPr sz="2000" b="1" dirty="0">
                <a:solidFill>
                  <a:srgbClr val="252525"/>
                </a:solidFill>
                <a:latin typeface="Calibri"/>
                <a:cs typeface="Calibri"/>
              </a:rPr>
              <a:t>Total</a:t>
            </a:r>
            <a:r>
              <a:rPr sz="2000" b="1" spc="-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2525"/>
                </a:solidFill>
                <a:latin typeface="Calibri"/>
                <a:cs typeface="Calibri"/>
              </a:rPr>
              <a:t>states:</a:t>
            </a:r>
            <a:r>
              <a:rPr sz="2000" b="1" spc="-26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lang="en-IN" sz="2000" b="1" spc="-38" dirty="0">
                <a:solidFill>
                  <a:srgbClr val="252525"/>
                </a:solidFill>
                <a:latin typeface="Calibri"/>
                <a:cs typeface="Calibri"/>
              </a:rPr>
              <a:t>19</a:t>
            </a:r>
            <a:endParaRPr sz="2000" dirty="0">
              <a:latin typeface="Calibri"/>
              <a:cs typeface="Calibri"/>
            </a:endParaRPr>
          </a:p>
          <a:p>
            <a:pPr>
              <a:spcBef>
                <a:spcPts val="405"/>
              </a:spcBef>
            </a:pPr>
            <a:r>
              <a:rPr sz="2000" b="1" dirty="0">
                <a:solidFill>
                  <a:srgbClr val="252525"/>
                </a:solidFill>
                <a:latin typeface="Calibri"/>
                <a:cs typeface="Calibri"/>
              </a:rPr>
              <a:t>Total</a:t>
            </a:r>
            <a:r>
              <a:rPr sz="2000" b="1" spc="-26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lang="en-IN" sz="2000" b="1" dirty="0">
                <a:solidFill>
                  <a:srgbClr val="252525"/>
                </a:solidFill>
                <a:latin typeface="Calibri"/>
                <a:cs typeface="Calibri"/>
              </a:rPr>
              <a:t>City</a:t>
            </a:r>
            <a:r>
              <a:rPr sz="2000" b="1" dirty="0">
                <a:solidFill>
                  <a:srgbClr val="252525"/>
                </a:solidFill>
                <a:latin typeface="Calibri"/>
                <a:cs typeface="Calibri"/>
              </a:rPr>
              <a:t>:</a:t>
            </a:r>
            <a:r>
              <a:rPr sz="2000" b="1" spc="-26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lang="en-IN" sz="2000" b="1" spc="-26" dirty="0">
                <a:solidFill>
                  <a:srgbClr val="252525"/>
                </a:solidFill>
                <a:latin typeface="Calibri"/>
                <a:cs typeface="Calibri"/>
              </a:rPr>
              <a:t>53</a:t>
            </a:r>
            <a:r>
              <a:rPr sz="2000" b="1" spc="-38" dirty="0">
                <a:solidFill>
                  <a:srgbClr val="252525"/>
                </a:solidFill>
                <a:latin typeface="Calibri"/>
                <a:cs typeface="Calibri"/>
              </a:rPr>
              <a:t>4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5" name="object 19">
            <a:extLst>
              <a:ext uri="{FF2B5EF4-FFF2-40B4-BE49-F238E27FC236}">
                <a16:creationId xmlns:a16="http://schemas.microsoft.com/office/drawing/2014/main" id="{EE63D603-43CE-529B-40A7-F250BB907E5B}"/>
              </a:ext>
            </a:extLst>
          </p:cNvPr>
          <p:cNvSpPr txBox="1"/>
          <p:nvPr/>
        </p:nvSpPr>
        <p:spPr>
          <a:xfrm>
            <a:off x="4829568" y="4863857"/>
            <a:ext cx="3663335" cy="700672"/>
          </a:xfrm>
          <a:prstGeom prst="rect">
            <a:avLst/>
          </a:prstGeom>
        </p:spPr>
        <p:txBody>
          <a:bodyPr vert="horz" wrap="square" lIns="0" tIns="46196" rIns="0" bIns="0" rtlCol="0">
            <a:spAutoFit/>
          </a:bodyPr>
          <a:lstStyle/>
          <a:p>
            <a:pPr>
              <a:spcBef>
                <a:spcPts val="363"/>
              </a:spcBef>
            </a:pPr>
            <a:r>
              <a:rPr sz="2000" b="1" dirty="0">
                <a:solidFill>
                  <a:srgbClr val="252525"/>
                </a:solidFill>
                <a:latin typeface="Calibri"/>
                <a:cs typeface="Calibri"/>
              </a:rPr>
              <a:t>Total</a:t>
            </a:r>
            <a:r>
              <a:rPr sz="2000" b="1" spc="-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2525"/>
                </a:solidFill>
                <a:latin typeface="Calibri"/>
                <a:cs typeface="Calibri"/>
              </a:rPr>
              <a:t>quantity:</a:t>
            </a:r>
            <a:r>
              <a:rPr sz="2000" b="1" spc="-30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lang="en-IN" sz="2000" b="1" spc="-8" dirty="0">
                <a:solidFill>
                  <a:srgbClr val="252525"/>
                </a:solidFill>
                <a:latin typeface="Calibri"/>
                <a:cs typeface="Calibri"/>
              </a:rPr>
              <a:t>117840</a:t>
            </a:r>
            <a:endParaRPr sz="2000" dirty="0">
              <a:latin typeface="Calibri"/>
              <a:cs typeface="Calibri"/>
            </a:endParaRPr>
          </a:p>
          <a:p>
            <a:pPr>
              <a:spcBef>
                <a:spcPts val="285"/>
              </a:spcBef>
            </a:pPr>
            <a:r>
              <a:rPr sz="2000" b="1" dirty="0">
                <a:solidFill>
                  <a:srgbClr val="252525"/>
                </a:solidFill>
                <a:latin typeface="Calibri"/>
                <a:cs typeface="Calibri"/>
              </a:rPr>
              <a:t>Total</a:t>
            </a:r>
            <a:r>
              <a:rPr sz="2000" b="1" spc="-15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252525"/>
                </a:solidFill>
                <a:latin typeface="Calibri"/>
                <a:cs typeface="Calibri"/>
              </a:rPr>
              <a:t>store:</a:t>
            </a:r>
            <a:r>
              <a:rPr sz="2000" b="1" spc="124" dirty="0">
                <a:solidFill>
                  <a:srgbClr val="252525"/>
                </a:solidFill>
                <a:latin typeface="Calibri"/>
                <a:cs typeface="Calibri"/>
              </a:rPr>
              <a:t> </a:t>
            </a:r>
            <a:r>
              <a:rPr sz="2000" b="1" spc="-19" dirty="0">
                <a:solidFill>
                  <a:srgbClr val="252525"/>
                </a:solidFill>
                <a:latin typeface="Calibri"/>
                <a:cs typeface="Calibri"/>
              </a:rPr>
              <a:t>37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6" name="object 20">
            <a:extLst>
              <a:ext uri="{FF2B5EF4-FFF2-40B4-BE49-F238E27FC236}">
                <a16:creationId xmlns:a16="http://schemas.microsoft.com/office/drawing/2014/main" id="{6DEC3057-D54B-9803-B869-8BCA84EE313C}"/>
              </a:ext>
            </a:extLst>
          </p:cNvPr>
          <p:cNvSpPr txBox="1"/>
          <p:nvPr/>
        </p:nvSpPr>
        <p:spPr>
          <a:xfrm>
            <a:off x="1217297" y="4233330"/>
            <a:ext cx="2774599" cy="381836"/>
          </a:xfrm>
          <a:prstGeom prst="rect">
            <a:avLst/>
          </a:prstGeom>
        </p:spPr>
        <p:txBody>
          <a:bodyPr vert="horz" wrap="square" lIns="0" tIns="12383" rIns="0" bIns="0" rtlCol="0">
            <a:spAutoFit/>
          </a:bodyPr>
          <a:lstStyle/>
          <a:p>
            <a:pPr algn="ctr">
              <a:spcBef>
                <a:spcPts val="98"/>
              </a:spcBef>
            </a:pPr>
            <a:r>
              <a:rPr sz="2400" b="1" dirty="0">
                <a:latin typeface="Calibri"/>
                <a:cs typeface="Calibri"/>
              </a:rPr>
              <a:t>Product</a:t>
            </a:r>
            <a:r>
              <a:rPr sz="2400" b="1" spc="75" dirty="0">
                <a:latin typeface="Calibri"/>
                <a:cs typeface="Calibri"/>
              </a:rPr>
              <a:t> </a:t>
            </a:r>
            <a:r>
              <a:rPr sz="2400" b="1" spc="-8" dirty="0">
                <a:latin typeface="Calibri"/>
                <a:cs typeface="Calibri"/>
              </a:rPr>
              <a:t>Information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CAA6BA-816D-5A80-2B8A-F3900636D085}"/>
              </a:ext>
            </a:extLst>
          </p:cNvPr>
          <p:cNvSpPr txBox="1"/>
          <p:nvPr/>
        </p:nvSpPr>
        <p:spPr>
          <a:xfrm>
            <a:off x="506359" y="12187"/>
            <a:ext cx="11178705" cy="7078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  <a:sym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IN" dirty="0"/>
              <a:t>EXPLORATORY DATA ANALYSIS-1 (2/2)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9022556-0815-32E2-B399-28077228D317}"/>
              </a:ext>
            </a:extLst>
          </p:cNvPr>
          <p:cNvSpPr txBox="1"/>
          <p:nvPr/>
        </p:nvSpPr>
        <p:spPr>
          <a:xfrm>
            <a:off x="1009688" y="3019250"/>
            <a:ext cx="41946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25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Repeat Purchase Rate:</a:t>
            </a:r>
            <a:r>
              <a:rPr lang="en-IN" sz="2000" b="1" spc="-8" dirty="0">
                <a:solidFill>
                  <a:srgbClr val="252525"/>
                </a:solidFill>
                <a:latin typeface="Calibri"/>
                <a:cs typeface="Calibri"/>
              </a:rPr>
              <a:t> ₹0.04</a:t>
            </a:r>
            <a:r>
              <a:rPr lang="en-IN" sz="2000" b="1" dirty="0">
                <a:solidFill>
                  <a:srgbClr val="25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D0A014-16C5-73DA-2E5C-BD8BAA45903D}"/>
              </a:ext>
            </a:extLst>
          </p:cNvPr>
          <p:cNvSpPr txBox="1"/>
          <p:nvPr/>
        </p:nvSpPr>
        <p:spPr>
          <a:xfrm>
            <a:off x="7689092" y="2992744"/>
            <a:ext cx="41946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25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Repeat Purchase Rate:</a:t>
            </a:r>
            <a:r>
              <a:rPr lang="en-IN" sz="2000" b="1" spc="-8" dirty="0">
                <a:solidFill>
                  <a:srgbClr val="252525"/>
                </a:solidFill>
                <a:latin typeface="Calibri"/>
                <a:cs typeface="Calibri"/>
              </a:rPr>
              <a:t> 0.04%</a:t>
            </a:r>
            <a:r>
              <a:rPr lang="en-IN" sz="2000" b="1" dirty="0">
                <a:solidFill>
                  <a:srgbClr val="25252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78FEA2-09F9-106D-BE51-A48E03293F4A}"/>
              </a:ext>
            </a:extLst>
          </p:cNvPr>
          <p:cNvSpPr txBox="1"/>
          <p:nvPr/>
        </p:nvSpPr>
        <p:spPr>
          <a:xfrm>
            <a:off x="4089112" y="3390588"/>
            <a:ext cx="40115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One-Time Buyers Percentage: 99.96</a:t>
            </a:r>
          </a:p>
        </p:txBody>
      </p:sp>
    </p:spTree>
    <p:extLst>
      <p:ext uri="{BB962C8B-B14F-4D97-AF65-F5344CB8AC3E}">
        <p14:creationId xmlns:p14="http://schemas.microsoft.com/office/powerpoint/2010/main" val="57093879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306BBE3-85B0-2EBC-8B7C-0AC351F06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677FE5C9-3B24-F34F-ABEE-8724D7CD1B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D1EF1B9-EBDF-F6EA-60BE-6A41969582A7}"/>
              </a:ext>
            </a:extLst>
          </p:cNvPr>
          <p:cNvSpPr txBox="1"/>
          <p:nvPr/>
        </p:nvSpPr>
        <p:spPr>
          <a:xfrm>
            <a:off x="575187" y="0"/>
            <a:ext cx="11041625" cy="7078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  <a:sym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IN" dirty="0"/>
              <a:t>EXPLORATORY DATA ANALYSIS-2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10E554-0869-375C-97F5-9193BE712C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187" y="972341"/>
            <a:ext cx="11041624" cy="4917182"/>
          </a:xfrm>
          <a:prstGeom prst="rect">
            <a:avLst/>
          </a:prstGeom>
          <a:solidFill>
            <a:srgbClr val="0070C0"/>
          </a:solidFill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DDEB360-FAED-F76A-A2E3-7D6F3800C6A3}"/>
              </a:ext>
            </a:extLst>
          </p:cNvPr>
          <p:cNvSpPr/>
          <p:nvPr/>
        </p:nvSpPr>
        <p:spPr>
          <a:xfrm>
            <a:off x="4395019" y="1001837"/>
            <a:ext cx="3392129" cy="404175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578A4-2DB9-8C93-2E00-7C350D81E897}"/>
              </a:ext>
            </a:extLst>
          </p:cNvPr>
          <p:cNvSpPr txBox="1"/>
          <p:nvPr/>
        </p:nvSpPr>
        <p:spPr>
          <a:xfrm>
            <a:off x="3972231" y="1001837"/>
            <a:ext cx="4237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New Customers Acquired Every Month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771208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25A19BB-252B-91A8-8CE1-5FF3AE6B2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DFBFBF10-67E0-9B42-C18C-1FA6689625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94ACC4C-8AEA-2E5B-E4D5-554F5066491F}"/>
              </a:ext>
            </a:extLst>
          </p:cNvPr>
          <p:cNvSpPr txBox="1"/>
          <p:nvPr/>
        </p:nvSpPr>
        <p:spPr>
          <a:xfrm>
            <a:off x="575187" y="0"/>
            <a:ext cx="11041625" cy="7078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  <a:sym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IN" dirty="0"/>
              <a:t>EXPLORATORY DATA ANALYSIS-3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90767D-9D81-E690-5697-F0272E23C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87" y="1002145"/>
            <a:ext cx="11041626" cy="488737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5B203AF-B067-E806-7CF4-A5639A9586AC}"/>
              </a:ext>
            </a:extLst>
          </p:cNvPr>
          <p:cNvSpPr/>
          <p:nvPr/>
        </p:nvSpPr>
        <p:spPr>
          <a:xfrm>
            <a:off x="3188108" y="1041473"/>
            <a:ext cx="5815782" cy="344876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The Retention of Customers on Month on Month Basis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49716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FDD6A19-8CA6-A117-F627-9CE9F13F3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89DFEC1D-C392-5B5F-8D04-11795423FD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FCD6AFB-D017-FBB7-B3A4-136449E6AB5A}"/>
              </a:ext>
            </a:extLst>
          </p:cNvPr>
          <p:cNvSpPr txBox="1"/>
          <p:nvPr/>
        </p:nvSpPr>
        <p:spPr>
          <a:xfrm>
            <a:off x="575187" y="0"/>
            <a:ext cx="11041625" cy="7078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  <a:sym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IN" dirty="0"/>
              <a:t>EXPLORATORY DATA ANALYSIS-4(5/1)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3C0C4A-B167-8368-FC04-2DE66ED943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87" y="1070667"/>
            <a:ext cx="11041625" cy="489751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E90995D-7D12-C451-0C06-3A83F7E41736}"/>
              </a:ext>
            </a:extLst>
          </p:cNvPr>
          <p:cNvSpPr/>
          <p:nvPr/>
        </p:nvSpPr>
        <p:spPr>
          <a:xfrm>
            <a:off x="3188108" y="1118779"/>
            <a:ext cx="5815782" cy="344876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Product Category sales Region wise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725310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F5DFEE7-FF0B-0D87-B6E5-B2784E4DD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E6444426-C3AF-C6B5-4E47-C2AF4EB428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9562DB4-0D76-1A23-2F9E-FD3EB18D6B01}"/>
              </a:ext>
            </a:extLst>
          </p:cNvPr>
          <p:cNvSpPr txBox="1"/>
          <p:nvPr/>
        </p:nvSpPr>
        <p:spPr>
          <a:xfrm>
            <a:off x="575187" y="0"/>
            <a:ext cx="11041625" cy="7078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  <a:sym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IN" dirty="0"/>
              <a:t>EXPLORATORY DATA ANALYSIS-4(5/2)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B93A3A-4759-426D-D795-56F0049A6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87" y="1061885"/>
            <a:ext cx="11041625" cy="498495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0311CD7-EDC2-1812-F6FB-9526B6F32373}"/>
              </a:ext>
            </a:extLst>
          </p:cNvPr>
          <p:cNvSpPr/>
          <p:nvPr/>
        </p:nvSpPr>
        <p:spPr>
          <a:xfrm>
            <a:off x="3188108" y="1111048"/>
            <a:ext cx="5815782" cy="344876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Total Sold Quantity Category wise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107594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5746588-6657-66CA-742D-D0F17C629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BAC33EE9-53BA-A20D-CE6B-D678C12A90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8202846-B7F5-A294-4369-4F27A88F05AA}"/>
              </a:ext>
            </a:extLst>
          </p:cNvPr>
          <p:cNvSpPr txBox="1"/>
          <p:nvPr/>
        </p:nvSpPr>
        <p:spPr>
          <a:xfrm>
            <a:off x="575187" y="0"/>
            <a:ext cx="11041625" cy="7078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  <a:sym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IN" dirty="0"/>
              <a:t>EXPLORATORY DATA ANALYSIS-4(5/3)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0B9FA5-B208-18F8-C76B-7843FFD217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87" y="955172"/>
            <a:ext cx="11041625" cy="514083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205B947-6C34-ECBD-3D18-319ED986D2AA}"/>
              </a:ext>
            </a:extLst>
          </p:cNvPr>
          <p:cNvSpPr/>
          <p:nvPr/>
        </p:nvSpPr>
        <p:spPr>
          <a:xfrm>
            <a:off x="3188108" y="1010625"/>
            <a:ext cx="5815782" cy="344876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Sales and Quantity By Channel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654697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5046210-213E-E5FB-1643-31A04687B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9556EE54-17C8-849A-F3CC-A53220588E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6B2BDCC-7467-DC0C-337B-73A22EA9D351}"/>
              </a:ext>
            </a:extLst>
          </p:cNvPr>
          <p:cNvSpPr txBox="1"/>
          <p:nvPr/>
        </p:nvSpPr>
        <p:spPr>
          <a:xfrm>
            <a:off x="575187" y="0"/>
            <a:ext cx="11041625" cy="7078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  <a:sym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IN" dirty="0"/>
              <a:t>EXPLORATORY DATA ANALYSIS-4(5/4)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F771ED-BDE1-7EAE-C5C0-79F92DB174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86" y="966312"/>
            <a:ext cx="11041625" cy="507069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6DEFF46-347F-5C07-8418-394D105C9ACD}"/>
              </a:ext>
            </a:extLst>
          </p:cNvPr>
          <p:cNvSpPr/>
          <p:nvPr/>
        </p:nvSpPr>
        <p:spPr>
          <a:xfrm>
            <a:off x="3188107" y="1005640"/>
            <a:ext cx="5815782" cy="344876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Total Sales Store Wise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429624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48F311E-D0D7-3206-4240-27DEF6198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BB592BDD-3091-3C0F-A198-982755B1AF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DDE9EB5-8290-A902-834E-1CC1A2DC4075}"/>
              </a:ext>
            </a:extLst>
          </p:cNvPr>
          <p:cNvSpPr txBox="1"/>
          <p:nvPr/>
        </p:nvSpPr>
        <p:spPr>
          <a:xfrm>
            <a:off x="575187" y="0"/>
            <a:ext cx="11041625" cy="7078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  <a:sym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IN" dirty="0"/>
              <a:t>EXPLORATORY DATA ANALYSIS-4(5/5)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F6B57E-626E-CDBD-53EF-2D0BCE1B1E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87" y="1042219"/>
            <a:ext cx="11041625" cy="492596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96B7975-92D8-30CC-F475-50EECB3616C4}"/>
              </a:ext>
            </a:extLst>
          </p:cNvPr>
          <p:cNvSpPr/>
          <p:nvPr/>
        </p:nvSpPr>
        <p:spPr>
          <a:xfrm>
            <a:off x="3188108" y="1090636"/>
            <a:ext cx="5815782" cy="344876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Total Sales State Wise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489655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6687CC6-EB71-7297-D924-6893E1138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4942E14E-D801-4793-1CF3-095DAB5FD9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2AAF4DE-3031-DAB6-0DC5-53C97EC3E337}"/>
              </a:ext>
            </a:extLst>
          </p:cNvPr>
          <p:cNvSpPr txBox="1"/>
          <p:nvPr/>
        </p:nvSpPr>
        <p:spPr>
          <a:xfrm>
            <a:off x="575187" y="0"/>
            <a:ext cx="11041625" cy="7078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  <a:sym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IN" dirty="0"/>
              <a:t>EXPLORATORY DATA ANALYSIS-5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770F72-EE9F-8E06-9BA5-DEE6C50CB1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87" y="864698"/>
            <a:ext cx="11041625" cy="524113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12AAB1A-B0D7-6DA8-4389-D1247F779BC4}"/>
              </a:ext>
            </a:extLst>
          </p:cNvPr>
          <p:cNvSpPr/>
          <p:nvPr/>
        </p:nvSpPr>
        <p:spPr>
          <a:xfrm>
            <a:off x="3188108" y="904026"/>
            <a:ext cx="5815782" cy="344876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Popular Category by State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837884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DC69E8C-F10F-60DE-1AE9-B29A7BB00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11AC76E6-D475-4FC3-3D5B-677BEF4671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FEB0401-FF70-9635-6BC8-769A0E6A3FAD}"/>
              </a:ext>
            </a:extLst>
          </p:cNvPr>
          <p:cNvSpPr txBox="1"/>
          <p:nvPr/>
        </p:nvSpPr>
        <p:spPr>
          <a:xfrm>
            <a:off x="575187" y="0"/>
            <a:ext cx="11041625" cy="7078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  <a:sym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IN" dirty="0"/>
              <a:t>EXPLORATORY DATA ANALYSIS-6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0493CA-0555-55E4-BB0C-8955033F03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87" y="924231"/>
            <a:ext cx="11041625" cy="517176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509B690-EFB1-7519-0E56-FDB19222ABFD}"/>
              </a:ext>
            </a:extLst>
          </p:cNvPr>
          <p:cNvSpPr/>
          <p:nvPr/>
        </p:nvSpPr>
        <p:spPr>
          <a:xfrm>
            <a:off x="3188108" y="963559"/>
            <a:ext cx="5815782" cy="344876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Top 10 Most Expensive Products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938604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1C6221A-D64E-E5E4-8610-67B4DD211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92795667-0EC1-D393-CDBE-9C7A327AA6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19814F4-BF78-00E9-74D2-AFA6CFBA4BA5}"/>
              </a:ext>
            </a:extLst>
          </p:cNvPr>
          <p:cNvSpPr txBox="1"/>
          <p:nvPr/>
        </p:nvSpPr>
        <p:spPr>
          <a:xfrm>
            <a:off x="575187" y="0"/>
            <a:ext cx="11041625" cy="7078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  <a:sym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IN" dirty="0"/>
              <a:t>EXPLORATORY DATA ANALYSIS-7 (2/1)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670135-1104-DB31-C4C6-5942F8EA3D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86" y="901726"/>
            <a:ext cx="11041625" cy="522377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473DC7A-EB61-6E3C-466A-2BA607D3BD81}"/>
              </a:ext>
            </a:extLst>
          </p:cNvPr>
          <p:cNvSpPr/>
          <p:nvPr/>
        </p:nvSpPr>
        <p:spPr>
          <a:xfrm>
            <a:off x="3188107" y="943895"/>
            <a:ext cx="5815782" cy="344876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Top 10 Profitable Stores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287699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87E6E3D-CAE5-C53A-4B1C-BC35288F6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BCC2E9C1-68CB-BCD9-A170-A47C7CEC99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C2AF679-38DD-BBC2-2172-8785F2219B21}"/>
              </a:ext>
            </a:extLst>
          </p:cNvPr>
          <p:cNvSpPr txBox="1"/>
          <p:nvPr/>
        </p:nvSpPr>
        <p:spPr>
          <a:xfrm>
            <a:off x="575187" y="0"/>
            <a:ext cx="11041625" cy="7078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  <a:sym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IN" dirty="0"/>
              <a:t>EXPLORATORY DATA ANALYSIS-7 (2/2)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77309A-74F8-2491-FB1C-29FE5DB74C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86" y="903430"/>
            <a:ext cx="11041625" cy="517290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5E0D144-3BEA-8591-15F9-7BB3B9AC26A6}"/>
              </a:ext>
            </a:extLst>
          </p:cNvPr>
          <p:cNvSpPr/>
          <p:nvPr/>
        </p:nvSpPr>
        <p:spPr>
          <a:xfrm>
            <a:off x="3188107" y="953727"/>
            <a:ext cx="5815782" cy="344876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Bottom 10 Profitable Stores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847387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3906675-F2A0-6293-4BA5-2B71A8787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B5AD615D-821F-6FE7-1076-1F0E2ED626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5865D4D-1737-208A-7731-573FB92E2CBF}"/>
              </a:ext>
            </a:extLst>
          </p:cNvPr>
          <p:cNvSpPr txBox="1"/>
          <p:nvPr/>
        </p:nvSpPr>
        <p:spPr>
          <a:xfrm>
            <a:off x="575187" y="0"/>
            <a:ext cx="11041625" cy="7078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  <a:sym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IN" dirty="0"/>
              <a:t>EXPLORATORY DATA ANALYSIS-3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D7D9B1-EBA0-6849-1A19-0E9C98D2DB05}"/>
              </a:ext>
            </a:extLst>
          </p:cNvPr>
          <p:cNvSpPr txBox="1"/>
          <p:nvPr/>
        </p:nvSpPr>
        <p:spPr>
          <a:xfrm>
            <a:off x="575187" y="1130710"/>
            <a:ext cx="1104162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spc="-10" dirty="0">
                <a:latin typeface="Calibri"/>
                <a:cs typeface="Calibri"/>
              </a:rPr>
              <a:t>Observations</a:t>
            </a:r>
            <a:r>
              <a:rPr lang="en-IN" b="1" spc="60" dirty="0">
                <a:latin typeface="Calibri"/>
                <a:cs typeface="Calibri"/>
              </a:rPr>
              <a:t> </a:t>
            </a:r>
            <a:r>
              <a:rPr lang="en-IN" b="1" spc="-50" dirty="0">
                <a:latin typeface="Calibri"/>
                <a:cs typeface="Calibri"/>
              </a:rPr>
              <a:t>:</a:t>
            </a:r>
            <a:endParaRPr lang="en-IN" dirty="0">
              <a:latin typeface="Calibri"/>
              <a:cs typeface="Calibri"/>
            </a:endParaRPr>
          </a:p>
          <a:p>
            <a:endParaRPr lang="en-IN" dirty="0"/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alibri"/>
                <a:cs typeface="Calibri"/>
              </a:rPr>
              <a:t>The</a:t>
            </a:r>
            <a:r>
              <a:rPr lang="en-US" spc="-1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number of</a:t>
            </a:r>
            <a:r>
              <a:rPr lang="en-US" spc="-2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new</a:t>
            </a:r>
            <a:r>
              <a:rPr lang="en-US" spc="-1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customers</a:t>
            </a:r>
            <a:r>
              <a:rPr lang="en-US" spc="-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were</a:t>
            </a:r>
            <a:r>
              <a:rPr lang="en-US" spc="-1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significantly</a:t>
            </a:r>
            <a:r>
              <a:rPr lang="en-US" spc="3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low</a:t>
            </a:r>
            <a:r>
              <a:rPr lang="en-US" spc="-1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in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2021,</a:t>
            </a:r>
            <a:r>
              <a:rPr lang="en-US" spc="-1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after</a:t>
            </a:r>
            <a:r>
              <a:rPr lang="en-US" spc="-1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which</a:t>
            </a:r>
            <a:r>
              <a:rPr lang="en-US" spc="-1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the</a:t>
            </a:r>
            <a:r>
              <a:rPr lang="en-US" spc="-10" dirty="0">
                <a:latin typeface="Calibri"/>
                <a:cs typeface="Calibri"/>
              </a:rPr>
              <a:t> business</a:t>
            </a:r>
            <a:r>
              <a:rPr lang="en-US" spc="50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started</a:t>
            </a:r>
            <a:r>
              <a:rPr lang="en-US" spc="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to</a:t>
            </a:r>
            <a:r>
              <a:rPr lang="en-US" spc="-2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acquire</a:t>
            </a:r>
            <a:r>
              <a:rPr lang="en-US" spc="-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</a:t>
            </a:r>
            <a:r>
              <a:rPr lang="en-US" spc="-3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greater</a:t>
            </a:r>
            <a:r>
              <a:rPr lang="en-US" spc="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number</a:t>
            </a:r>
            <a:r>
              <a:rPr lang="en-US" spc="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of</a:t>
            </a:r>
            <a:r>
              <a:rPr lang="en-US" spc="-3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new</a:t>
            </a:r>
            <a:r>
              <a:rPr lang="en-US" spc="-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customers</a:t>
            </a:r>
            <a:r>
              <a:rPr lang="en-US" spc="-1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which</a:t>
            </a:r>
            <a:r>
              <a:rPr lang="en-US" spc="-1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peaked</a:t>
            </a:r>
            <a:r>
              <a:rPr lang="en-US" spc="-1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in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2022</a:t>
            </a:r>
            <a:r>
              <a:rPr lang="en-US" spc="-10" dirty="0">
                <a:latin typeface="Calibri"/>
                <a:cs typeface="Calibri"/>
              </a:rPr>
              <a:t>.</a:t>
            </a:r>
            <a:endParaRPr lang="en-US" dirty="0">
              <a:latin typeface="Calibri"/>
              <a:cs typeface="Calibri"/>
            </a:endParaRP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alibri"/>
                <a:cs typeface="Calibri"/>
              </a:rPr>
              <a:t>Revenue generation</a:t>
            </a:r>
            <a:r>
              <a:rPr lang="en-US" spc="1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increased</a:t>
            </a:r>
            <a:r>
              <a:rPr lang="en-US" spc="1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after</a:t>
            </a:r>
            <a:r>
              <a:rPr lang="en-US" spc="-1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December</a:t>
            </a:r>
            <a:r>
              <a:rPr lang="en-US" spc="-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2021</a:t>
            </a:r>
            <a:r>
              <a:rPr lang="en-US" spc="-1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and</a:t>
            </a:r>
            <a:r>
              <a:rPr lang="en-US" spc="-1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kept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on</a:t>
            </a:r>
            <a:r>
              <a:rPr lang="en-US" spc="-1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escalating till</a:t>
            </a:r>
            <a:r>
              <a:rPr lang="en-US" spc="17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August ,</a:t>
            </a:r>
            <a:r>
              <a:rPr lang="en-US" spc="-20" dirty="0">
                <a:latin typeface="Calibri"/>
                <a:cs typeface="Calibri"/>
              </a:rPr>
              <a:t> 2023</a:t>
            </a:r>
            <a:r>
              <a:rPr lang="en-US" spc="50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followed</a:t>
            </a:r>
            <a:r>
              <a:rPr lang="en-US" spc="-3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by</a:t>
            </a:r>
            <a:r>
              <a:rPr lang="en-US" spc="-2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</a:t>
            </a:r>
            <a:r>
              <a:rPr lang="en-US" spc="-4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sudden</a:t>
            </a:r>
            <a:r>
              <a:rPr lang="en-US" spc="-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decline</a:t>
            </a:r>
            <a:r>
              <a:rPr lang="en-US" spc="-1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in</a:t>
            </a:r>
            <a:r>
              <a:rPr lang="en-US" spc="-3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September </a:t>
            </a:r>
            <a:r>
              <a:rPr lang="en-US" spc="-10" dirty="0">
                <a:latin typeface="Calibri"/>
                <a:cs typeface="Calibri"/>
              </a:rPr>
              <a:t>2023.</a:t>
            </a:r>
            <a:endParaRPr lang="en-US" dirty="0">
              <a:latin typeface="Calibri"/>
              <a:cs typeface="Calibri"/>
            </a:endParaRP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alibri"/>
                <a:cs typeface="Calibri"/>
              </a:rPr>
              <a:t>By</a:t>
            </a:r>
            <a:r>
              <a:rPr lang="en-US" spc="-2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region</a:t>
            </a:r>
            <a:r>
              <a:rPr lang="en-US" spc="-1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the</a:t>
            </a:r>
            <a:r>
              <a:rPr lang="en-US" spc="-1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highest</a:t>
            </a:r>
            <a:r>
              <a:rPr lang="en-US" spc="1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sales</a:t>
            </a:r>
            <a:r>
              <a:rPr lang="en-US" spc="-1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were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seen</a:t>
            </a:r>
            <a:r>
              <a:rPr lang="en-US" spc="-1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in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South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and</a:t>
            </a:r>
            <a:r>
              <a:rPr lang="en-US" spc="-1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North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,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while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the</a:t>
            </a:r>
            <a:r>
              <a:rPr lang="en-US" spc="-1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least</a:t>
            </a:r>
            <a:r>
              <a:rPr lang="en-US" spc="-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in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East.</a:t>
            </a:r>
            <a:endParaRPr lang="en-US" dirty="0">
              <a:latin typeface="Calibri"/>
              <a:cs typeface="Calibri"/>
            </a:endParaRP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alibri"/>
                <a:cs typeface="Calibri"/>
              </a:rPr>
              <a:t>By</a:t>
            </a:r>
            <a:r>
              <a:rPr lang="en-US" spc="-2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state</a:t>
            </a:r>
            <a:r>
              <a:rPr lang="en-US" spc="-1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the</a:t>
            </a:r>
            <a:r>
              <a:rPr lang="en-US" spc="-1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highest</a:t>
            </a:r>
            <a:r>
              <a:rPr lang="en-US" spc="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sales</a:t>
            </a:r>
            <a:r>
              <a:rPr lang="en-US" spc="-1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were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seen</a:t>
            </a:r>
            <a:r>
              <a:rPr lang="en-US" spc="-1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Andhra</a:t>
            </a:r>
            <a:r>
              <a:rPr lang="en-US" spc="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Pradesh</a:t>
            </a:r>
            <a:r>
              <a:rPr lang="en-US" spc="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and</a:t>
            </a:r>
            <a:r>
              <a:rPr lang="en-US" spc="-1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Gujarat,</a:t>
            </a:r>
            <a:r>
              <a:rPr lang="en-US" spc="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while</a:t>
            </a:r>
            <a:r>
              <a:rPr lang="en-US" spc="-1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the</a:t>
            </a:r>
            <a:r>
              <a:rPr lang="en-US" spc="-1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least</a:t>
            </a:r>
            <a:r>
              <a:rPr lang="en-US" spc="-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in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West</a:t>
            </a:r>
            <a:r>
              <a:rPr lang="en-US" spc="-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Bengal.</a:t>
            </a:r>
            <a:endParaRPr lang="en-US" dirty="0">
              <a:latin typeface="Calibri"/>
              <a:cs typeface="Calibri"/>
            </a:endParaRP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alibri"/>
                <a:cs typeface="Calibri"/>
              </a:rPr>
              <a:t>Toys</a:t>
            </a:r>
            <a:r>
              <a:rPr lang="en-US" spc="-3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&amp;</a:t>
            </a:r>
            <a:r>
              <a:rPr lang="en-US" spc="-3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Gifts</a:t>
            </a:r>
            <a:r>
              <a:rPr lang="en-US" spc="-1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,</a:t>
            </a:r>
            <a:r>
              <a:rPr lang="en-US" spc="-2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Home</a:t>
            </a:r>
            <a:r>
              <a:rPr lang="en-US" spc="-4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appliances</a:t>
            </a:r>
            <a:r>
              <a:rPr lang="en-US" spc="1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and</a:t>
            </a:r>
            <a:r>
              <a:rPr lang="en-US" spc="-1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Baby</a:t>
            </a:r>
            <a:r>
              <a:rPr lang="en-US" spc="-1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category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product</a:t>
            </a:r>
            <a:r>
              <a:rPr lang="en-US" spc="-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contribute to</a:t>
            </a:r>
            <a:r>
              <a:rPr lang="en-US" spc="-2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the</a:t>
            </a:r>
            <a:r>
              <a:rPr lang="en-US" spc="-1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highest</a:t>
            </a:r>
            <a:r>
              <a:rPr lang="en-US" spc="1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sales</a:t>
            </a:r>
            <a:r>
              <a:rPr lang="en-US" spc="-1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amount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spc="-50" dirty="0">
                <a:latin typeface="Calibri"/>
                <a:cs typeface="Calibri"/>
              </a:rPr>
              <a:t>.</a:t>
            </a:r>
            <a:endParaRPr lang="en-US" dirty="0">
              <a:latin typeface="Calibri"/>
              <a:cs typeface="Calibri"/>
            </a:endParaRP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Calibri"/>
                <a:cs typeface="Calibri"/>
              </a:rPr>
              <a:t>The</a:t>
            </a:r>
            <a:r>
              <a:rPr lang="en-US" spc="-3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stores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in</a:t>
            </a:r>
            <a:r>
              <a:rPr lang="en-US" spc="-2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southern</a:t>
            </a:r>
            <a:r>
              <a:rPr lang="en-US" spc="-1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region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especially</a:t>
            </a:r>
            <a:r>
              <a:rPr lang="en-US" spc="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in</a:t>
            </a:r>
            <a:r>
              <a:rPr lang="en-US" spc="-2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Andhra</a:t>
            </a:r>
            <a:r>
              <a:rPr lang="en-US" spc="-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Pradesh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have</a:t>
            </a:r>
            <a:r>
              <a:rPr lang="en-US" spc="-1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the</a:t>
            </a:r>
            <a:r>
              <a:rPr lang="en-US" spc="-1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most</a:t>
            </a:r>
            <a:r>
              <a:rPr lang="en-US" spc="-3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bought</a:t>
            </a:r>
            <a:r>
              <a:rPr lang="en-US" spc="-1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products</a:t>
            </a:r>
            <a:r>
              <a:rPr lang="en-US" spc="-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which</a:t>
            </a:r>
            <a:r>
              <a:rPr lang="en-US" spc="50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has</a:t>
            </a:r>
            <a:r>
              <a:rPr lang="en-US" spc="-15" dirty="0">
                <a:latin typeface="Calibri"/>
                <a:cs typeface="Calibri"/>
              </a:rPr>
              <a:t> </a:t>
            </a:r>
          </a:p>
          <a:p>
            <a:r>
              <a:rPr lang="en-US" dirty="0">
                <a:latin typeface="Calibri"/>
                <a:cs typeface="Calibri"/>
              </a:rPr>
              <a:t>      Toys</a:t>
            </a:r>
            <a:r>
              <a:rPr lang="en-US" spc="-1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&amp;</a:t>
            </a:r>
            <a:r>
              <a:rPr lang="en-US" spc="-3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Gifts</a:t>
            </a:r>
            <a:r>
              <a:rPr lang="en-US" spc="-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,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Home</a:t>
            </a:r>
            <a:r>
              <a:rPr lang="en-US" spc="-2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appliances</a:t>
            </a:r>
            <a:r>
              <a:rPr lang="en-US" spc="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and</a:t>
            </a:r>
            <a:r>
              <a:rPr lang="en-US" spc="-1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Food</a:t>
            </a:r>
            <a:r>
              <a:rPr lang="en-US" spc="-2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&amp;</a:t>
            </a:r>
            <a:r>
              <a:rPr lang="en-US" spc="-2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Beverages</a:t>
            </a:r>
            <a:r>
              <a:rPr lang="en-US" spc="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categories</a:t>
            </a:r>
            <a:r>
              <a:rPr lang="en-US" spc="-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that</a:t>
            </a:r>
            <a:r>
              <a:rPr lang="en-US" spc="-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are</a:t>
            </a:r>
            <a:r>
              <a:rPr lang="en-US" spc="-1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most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sought</a:t>
            </a:r>
            <a:r>
              <a:rPr lang="en-US" spc="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after.</a:t>
            </a:r>
            <a:endParaRPr lang="en-US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4585609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8BA6232-4F6B-D6F1-989E-8992F762A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0FCF8B3E-F127-91A7-7F44-5B19A1770C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96F45D8-614E-D706-DF8F-0166F87BB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0601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4B87845-4B14-7989-053D-70BA5A5D10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0601" cy="632905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991DD16-3FD3-CC9B-16E3-4F66E4A3F532}"/>
              </a:ext>
            </a:extLst>
          </p:cNvPr>
          <p:cNvSpPr/>
          <p:nvPr/>
        </p:nvSpPr>
        <p:spPr>
          <a:xfrm>
            <a:off x="0" y="6329057"/>
            <a:ext cx="12190601" cy="528943"/>
          </a:xfrm>
          <a:prstGeom prst="rect">
            <a:avLst/>
          </a:prstGeom>
          <a:solidFill>
            <a:srgbClr val="348E90"/>
          </a:solidFill>
          <a:ln>
            <a:solidFill>
              <a:srgbClr val="348E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487691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EA54BAB-2B99-FD6E-801B-0C51E8C06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82F20562-E7DE-729C-B244-DE453DE99E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86E0E0A-0493-C643-030A-F49F99F5A8DB}"/>
              </a:ext>
            </a:extLst>
          </p:cNvPr>
          <p:cNvSpPr txBox="1"/>
          <p:nvPr/>
        </p:nvSpPr>
        <p:spPr>
          <a:xfrm>
            <a:off x="575187" y="0"/>
            <a:ext cx="11041625" cy="7078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  <a:sym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IN" dirty="0"/>
              <a:t>Customer Behaviour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539A3FD-BF53-883A-58D2-2AF7F61151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7665" y="944332"/>
            <a:ext cx="5088193" cy="5053345"/>
          </a:xfrm>
          <a:prstGeom prst="rect">
            <a:avLst/>
          </a:prstGeom>
        </p:spPr>
      </p:pic>
      <p:graphicFrame>
        <p:nvGraphicFramePr>
          <p:cNvPr id="12" name="object 49">
            <a:extLst>
              <a:ext uri="{FF2B5EF4-FFF2-40B4-BE49-F238E27FC236}">
                <a16:creationId xmlns:a16="http://schemas.microsoft.com/office/drawing/2014/main" id="{72F86C7E-0640-CE70-2F5F-6FE9785A3C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4634942"/>
              </p:ext>
            </p:extLst>
          </p:nvPr>
        </p:nvGraphicFramePr>
        <p:xfrm>
          <a:off x="226142" y="1651819"/>
          <a:ext cx="6567947" cy="22370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64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97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38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6214">
                <a:tc>
                  <a:txBody>
                    <a:bodyPr/>
                    <a:lstStyle/>
                    <a:p>
                      <a:pPr marL="59055" algn="ctr">
                        <a:lnSpc>
                          <a:spcPct val="200000"/>
                        </a:lnSpc>
                        <a:spcBef>
                          <a:spcPts val="200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Types</a:t>
                      </a:r>
                      <a:r>
                        <a:rPr sz="20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 </a:t>
                      </a: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Customers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solidFill>
                      <a:srgbClr val="348E90"/>
                    </a:solidFill>
                  </a:tcPr>
                </a:tc>
                <a:tc>
                  <a:txBody>
                    <a:bodyPr/>
                    <a:lstStyle/>
                    <a:p>
                      <a:pPr marL="59055" marR="256540" algn="ctr">
                        <a:lnSpc>
                          <a:spcPct val="101400"/>
                        </a:lnSpc>
                        <a:spcBef>
                          <a:spcPts val="185"/>
                        </a:spcBef>
                      </a:pPr>
                      <a:endParaRPr lang="en-US" sz="1200" b="1" dirty="0">
                        <a:solidFill>
                          <a:srgbClr val="FFFFFF"/>
                        </a:solidFill>
                        <a:latin typeface="Calibri"/>
                        <a:cs typeface="Calibri"/>
                      </a:endParaRPr>
                    </a:p>
                    <a:p>
                      <a:pPr marL="59055" marR="256540" algn="ctr">
                        <a:lnSpc>
                          <a:spcPct val="101400"/>
                        </a:lnSpc>
                        <a:spcBef>
                          <a:spcPts val="185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</a:t>
                      </a:r>
                      <a:r>
                        <a:rPr sz="2000" b="1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2000" b="1" spc="5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Customers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solidFill>
                      <a:srgbClr val="348E90"/>
                    </a:solidFill>
                  </a:tcPr>
                </a:tc>
                <a:tc>
                  <a:txBody>
                    <a:bodyPr/>
                    <a:lstStyle/>
                    <a:p>
                      <a:pPr marL="59055">
                        <a:lnSpc>
                          <a:spcPct val="200000"/>
                        </a:lnSpc>
                        <a:spcBef>
                          <a:spcPts val="200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Percentage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solidFill>
                      <a:srgbClr val="348E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889">
                <a:tc>
                  <a:txBody>
                    <a:bodyPr/>
                    <a:lstStyle/>
                    <a:p>
                      <a:pPr marL="59055" algn="ctr">
                        <a:lnSpc>
                          <a:spcPct val="150000"/>
                        </a:lnSpc>
                        <a:spcBef>
                          <a:spcPts val="20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High</a:t>
                      </a:r>
                      <a:r>
                        <a:rPr sz="18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Revenue</a:t>
                      </a:r>
                      <a:r>
                        <a:rPr sz="18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Customers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solidFill>
                      <a:schemeClr val="bg1">
                        <a:lumMod val="85000"/>
                        <a:alpha val="3999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9055" algn="ctr">
                        <a:lnSpc>
                          <a:spcPct val="150000"/>
                        </a:lnSpc>
                        <a:spcBef>
                          <a:spcPts val="200"/>
                        </a:spcBef>
                      </a:pPr>
                      <a:r>
                        <a:rPr lang="en-US" sz="1800" spc="-25" dirty="0">
                          <a:latin typeface="Calibri"/>
                          <a:cs typeface="Calibri"/>
                        </a:rPr>
                        <a:t>7</a:t>
                      </a:r>
                      <a:endParaRPr sz="900" dirty="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solidFill>
                      <a:schemeClr val="bg1">
                        <a:lumMod val="85000"/>
                        <a:alpha val="3999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9055" algn="ctr">
                        <a:lnSpc>
                          <a:spcPct val="150000"/>
                        </a:lnSpc>
                        <a:spcBef>
                          <a:spcPts val="200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0. </a:t>
                      </a:r>
                      <a:r>
                        <a:rPr lang="en-US" sz="1600" spc="-10" dirty="0">
                          <a:latin typeface="Calibri"/>
                          <a:cs typeface="Calibri"/>
                        </a:rPr>
                        <a:t>33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%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solidFill>
                      <a:schemeClr val="bg1">
                        <a:lumMod val="85000"/>
                        <a:alpha val="3999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889">
                <a:tc>
                  <a:txBody>
                    <a:bodyPr/>
                    <a:lstStyle/>
                    <a:p>
                      <a:pPr marL="59055" marR="450215" algn="ctr">
                        <a:lnSpc>
                          <a:spcPct val="150000"/>
                        </a:lnSpc>
                        <a:spcBef>
                          <a:spcPts val="185"/>
                        </a:spcBef>
                      </a:pPr>
                      <a:r>
                        <a:rPr sz="18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Medium</a:t>
                      </a:r>
                      <a:r>
                        <a:rPr sz="1600" spc="5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Revenue</a:t>
                      </a:r>
                      <a:r>
                        <a:rPr sz="1600" spc="50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Customers</a:t>
                      </a:r>
                      <a:endParaRPr sz="1600" dirty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59055" algn="ctr">
                        <a:lnSpc>
                          <a:spcPct val="150000"/>
                        </a:lnSpc>
                        <a:spcBef>
                          <a:spcPts val="200"/>
                        </a:spcBef>
                      </a:pPr>
                      <a:r>
                        <a:rPr lang="en-US" sz="1800" spc="-25" dirty="0">
                          <a:latin typeface="Calibri"/>
                          <a:cs typeface="Calibri"/>
                        </a:rPr>
                        <a:t>66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59055" algn="ctr">
                        <a:lnSpc>
                          <a:spcPct val="150000"/>
                        </a:lnSpc>
                        <a:spcBef>
                          <a:spcPts val="200"/>
                        </a:spcBef>
                      </a:pPr>
                      <a:r>
                        <a:rPr lang="en-US" sz="1600" spc="-10" dirty="0">
                          <a:latin typeface="Calibri"/>
                          <a:cs typeface="Calibri"/>
                        </a:rPr>
                        <a:t>1.25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%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889">
                <a:tc>
                  <a:txBody>
                    <a:bodyPr/>
                    <a:lstStyle/>
                    <a:p>
                      <a:pPr marL="59055" marR="608965" algn="ctr">
                        <a:lnSpc>
                          <a:spcPct val="101400"/>
                        </a:lnSpc>
                        <a:spcBef>
                          <a:spcPts val="18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Low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Revenue</a:t>
                      </a:r>
                      <a:r>
                        <a:rPr lang="en-US" sz="18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Customers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23495" marB="0">
                    <a:solidFill>
                      <a:schemeClr val="bg1">
                        <a:lumMod val="85000"/>
                        <a:alpha val="3999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9055" algn="ctr">
                        <a:lnSpc>
                          <a:spcPct val="150000"/>
                        </a:lnSpc>
                        <a:spcBef>
                          <a:spcPts val="200"/>
                        </a:spcBef>
                      </a:pPr>
                      <a:r>
                        <a:rPr lang="en-US" sz="1800" spc="-10" dirty="0">
                          <a:latin typeface="Calibri"/>
                          <a:cs typeface="Calibri"/>
                        </a:rPr>
                        <a:t>98508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solidFill>
                      <a:schemeClr val="bg1">
                        <a:lumMod val="85000"/>
                        <a:alpha val="39999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9055" algn="ctr">
                        <a:lnSpc>
                          <a:spcPct val="150000"/>
                        </a:lnSpc>
                        <a:spcBef>
                          <a:spcPts val="200"/>
                        </a:spcBef>
                      </a:pPr>
                      <a:r>
                        <a:rPr lang="en-US" sz="1600" spc="-10" dirty="0">
                          <a:latin typeface="Calibri"/>
                          <a:cs typeface="Calibri"/>
                        </a:rPr>
                        <a:t>98.37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%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25400" marB="0">
                    <a:solidFill>
                      <a:schemeClr val="bg1">
                        <a:lumMod val="85000"/>
                        <a:alpha val="39999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C35CA476-82EC-BD8E-1C10-2FF5963D75FD}"/>
              </a:ext>
            </a:extLst>
          </p:cNvPr>
          <p:cNvSpPr txBox="1"/>
          <p:nvPr/>
        </p:nvSpPr>
        <p:spPr>
          <a:xfrm>
            <a:off x="226142" y="4011561"/>
            <a:ext cx="6567947" cy="1921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98450" indent="-285750" algn="ctr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196850" algn="l"/>
              </a:tabLst>
            </a:pPr>
            <a:r>
              <a:rPr lang="en-US" sz="2000" dirty="0">
                <a:latin typeface="Calibri"/>
                <a:cs typeface="Calibri"/>
              </a:rPr>
              <a:t>High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Revenue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Customers</a:t>
            </a:r>
            <a:r>
              <a:rPr lang="en-US" sz="2000" spc="1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Having</a:t>
            </a:r>
            <a:r>
              <a:rPr lang="en-US" sz="2000" spc="-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Revenue</a:t>
            </a:r>
            <a:r>
              <a:rPr lang="en-US" sz="2000" spc="1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(&gt;=6</a:t>
            </a:r>
            <a:r>
              <a:rPr lang="en-US" sz="2000" spc="-1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K)</a:t>
            </a:r>
          </a:p>
          <a:p>
            <a:pPr marL="298450" indent="-285750" algn="ctr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196850" algn="l"/>
              </a:tabLst>
            </a:pPr>
            <a:endParaRPr lang="en-US" sz="2000" dirty="0">
              <a:latin typeface="Calibri"/>
              <a:cs typeface="Calibri"/>
            </a:endParaRPr>
          </a:p>
          <a:p>
            <a:pPr marL="298450" indent="-285750" algn="ctr">
              <a:lnSpc>
                <a:spcPct val="100000"/>
              </a:lnSpc>
              <a:spcBef>
                <a:spcPts val="10"/>
              </a:spcBef>
              <a:buFont typeface="Wingdings" panose="05000000000000000000" pitchFamily="2" charset="2"/>
              <a:buChar char="Ø"/>
              <a:tabLst>
                <a:tab pos="196850" algn="l"/>
              </a:tabLst>
            </a:pPr>
            <a:r>
              <a:rPr lang="en-US" sz="2000" dirty="0">
                <a:latin typeface="Calibri"/>
                <a:cs typeface="Calibri"/>
              </a:rPr>
              <a:t>Medium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Revenue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Customers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Having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Revenue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(&gt;=3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K)</a:t>
            </a:r>
          </a:p>
          <a:p>
            <a:pPr marL="298450" indent="-285750" algn="ctr">
              <a:lnSpc>
                <a:spcPct val="100000"/>
              </a:lnSpc>
              <a:spcBef>
                <a:spcPts val="10"/>
              </a:spcBef>
              <a:buFont typeface="Wingdings" panose="05000000000000000000" pitchFamily="2" charset="2"/>
              <a:buChar char="Ø"/>
              <a:tabLst>
                <a:tab pos="196850" algn="l"/>
              </a:tabLst>
            </a:pPr>
            <a:endParaRPr lang="en-US" sz="2000" dirty="0">
              <a:latin typeface="Calibri"/>
              <a:cs typeface="Calibri"/>
            </a:endParaRPr>
          </a:p>
          <a:p>
            <a:pPr marL="298450" indent="-285750" algn="ctr">
              <a:lnSpc>
                <a:spcPct val="100000"/>
              </a:lnSpc>
              <a:buFont typeface="Wingdings" panose="05000000000000000000" pitchFamily="2" charset="2"/>
              <a:buChar char="Ø"/>
              <a:tabLst>
                <a:tab pos="196850" algn="l"/>
              </a:tabLst>
            </a:pPr>
            <a:r>
              <a:rPr lang="en-US" sz="2000" dirty="0">
                <a:latin typeface="Calibri"/>
                <a:cs typeface="Calibri"/>
              </a:rPr>
              <a:t>Low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revenue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customers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Having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Revenue (&lt;3</a:t>
            </a:r>
            <a:r>
              <a:rPr lang="en-US" sz="2000" spc="-25" dirty="0">
                <a:latin typeface="Calibri"/>
                <a:cs typeface="Calibri"/>
              </a:rPr>
              <a:t> K)</a:t>
            </a:r>
            <a:endParaRPr lang="en-US" sz="2000" dirty="0">
              <a:latin typeface="Calibri"/>
              <a:cs typeface="Calibri"/>
            </a:endParaRPr>
          </a:p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ED9C75-FC74-8309-3D4A-58F888319E8C}"/>
              </a:ext>
            </a:extLst>
          </p:cNvPr>
          <p:cNvSpPr txBox="1"/>
          <p:nvPr/>
        </p:nvSpPr>
        <p:spPr>
          <a:xfrm>
            <a:off x="226142" y="1005931"/>
            <a:ext cx="64745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0"/>
              </a:spcBef>
            </a:pPr>
            <a:r>
              <a:rPr lang="en-US" sz="2800" b="1" dirty="0">
                <a:latin typeface="Calibri"/>
                <a:cs typeface="Calibri"/>
              </a:rPr>
              <a:t>Type of Customers</a:t>
            </a:r>
            <a:r>
              <a:rPr lang="en-US" sz="2800" b="1" spc="-10" dirty="0">
                <a:latin typeface="Calibri"/>
                <a:cs typeface="Calibri"/>
              </a:rPr>
              <a:t> </a:t>
            </a:r>
            <a:r>
              <a:rPr lang="en-US" sz="2800" b="1" dirty="0">
                <a:latin typeface="Calibri"/>
                <a:cs typeface="Calibri"/>
              </a:rPr>
              <a:t>Based</a:t>
            </a:r>
            <a:r>
              <a:rPr lang="en-US" sz="2800" b="1" spc="10" dirty="0">
                <a:latin typeface="Calibri"/>
                <a:cs typeface="Calibri"/>
              </a:rPr>
              <a:t> </a:t>
            </a:r>
            <a:r>
              <a:rPr lang="en-US" sz="2800" b="1" dirty="0">
                <a:latin typeface="Calibri"/>
                <a:cs typeface="Calibri"/>
              </a:rPr>
              <a:t>On</a:t>
            </a:r>
            <a:r>
              <a:rPr lang="en-US" sz="2800" b="1" spc="15" dirty="0">
                <a:latin typeface="Calibri"/>
                <a:cs typeface="Calibri"/>
              </a:rPr>
              <a:t> </a:t>
            </a:r>
            <a:r>
              <a:rPr lang="en-US" sz="2800" b="1" dirty="0">
                <a:latin typeface="Calibri"/>
                <a:cs typeface="Calibri"/>
              </a:rPr>
              <a:t>The</a:t>
            </a:r>
            <a:r>
              <a:rPr lang="en-US" sz="2800" b="1" spc="15" dirty="0">
                <a:latin typeface="Calibri"/>
                <a:cs typeface="Calibri"/>
              </a:rPr>
              <a:t> </a:t>
            </a:r>
            <a:r>
              <a:rPr lang="en-US" sz="2800" b="1" spc="-10" dirty="0">
                <a:latin typeface="Calibri"/>
                <a:cs typeface="Calibri"/>
              </a:rPr>
              <a:t>Revenue</a:t>
            </a:r>
            <a:endParaRPr lang="en-US" sz="2800" dirty="0">
              <a:latin typeface="Calibri"/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01562A-0E90-D42E-E384-632645494D1D}"/>
              </a:ext>
            </a:extLst>
          </p:cNvPr>
          <p:cNvSpPr/>
          <p:nvPr/>
        </p:nvSpPr>
        <p:spPr>
          <a:xfrm>
            <a:off x="7531508" y="989308"/>
            <a:ext cx="3785420" cy="269221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marL="12700" algn="ctr">
              <a:lnSpc>
                <a:spcPct val="100000"/>
              </a:lnSpc>
              <a:spcBef>
                <a:spcPts val="110"/>
              </a:spcBef>
            </a:pPr>
            <a:r>
              <a:rPr lang="en-US" sz="1600" b="1" dirty="0">
                <a:latin typeface="Calibri"/>
                <a:cs typeface="Calibri"/>
              </a:rPr>
              <a:t>Type of Customers</a:t>
            </a:r>
            <a:r>
              <a:rPr lang="en-US" sz="1600" b="1" spc="-10" dirty="0">
                <a:latin typeface="Calibri"/>
                <a:cs typeface="Calibri"/>
              </a:rPr>
              <a:t> </a:t>
            </a:r>
            <a:r>
              <a:rPr lang="en-US" sz="1600" b="1" dirty="0">
                <a:latin typeface="Calibri"/>
                <a:cs typeface="Calibri"/>
              </a:rPr>
              <a:t>Based</a:t>
            </a:r>
            <a:r>
              <a:rPr lang="en-US" sz="1600" b="1" spc="10" dirty="0">
                <a:latin typeface="Calibri"/>
                <a:cs typeface="Calibri"/>
              </a:rPr>
              <a:t> </a:t>
            </a:r>
            <a:r>
              <a:rPr lang="en-US" sz="1600" b="1" dirty="0">
                <a:latin typeface="Calibri"/>
                <a:cs typeface="Calibri"/>
              </a:rPr>
              <a:t>On</a:t>
            </a:r>
            <a:r>
              <a:rPr lang="en-US" sz="1600" b="1" spc="15" dirty="0">
                <a:latin typeface="Calibri"/>
                <a:cs typeface="Calibri"/>
              </a:rPr>
              <a:t> </a:t>
            </a:r>
            <a:r>
              <a:rPr lang="en-US" sz="1600" b="1" dirty="0">
                <a:latin typeface="Calibri"/>
                <a:cs typeface="Calibri"/>
              </a:rPr>
              <a:t>The</a:t>
            </a:r>
            <a:r>
              <a:rPr lang="en-US" sz="1600" b="1" spc="15" dirty="0">
                <a:latin typeface="Calibri"/>
                <a:cs typeface="Calibri"/>
              </a:rPr>
              <a:t> </a:t>
            </a:r>
            <a:r>
              <a:rPr lang="en-US" sz="1600" b="1" spc="-10" dirty="0">
                <a:latin typeface="Calibri"/>
                <a:cs typeface="Calibri"/>
              </a:rPr>
              <a:t>Revenue</a:t>
            </a:r>
            <a:endParaRPr lang="en-US" sz="16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730311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FEECD25-2E3F-C83A-5252-136EF9D98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B03278B0-F970-1C10-3912-E078805B2F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B999BC5-BD87-0D04-23EB-8704A9BDC72D}"/>
              </a:ext>
            </a:extLst>
          </p:cNvPr>
          <p:cNvSpPr txBox="1"/>
          <p:nvPr/>
        </p:nvSpPr>
        <p:spPr>
          <a:xfrm>
            <a:off x="575187" y="0"/>
            <a:ext cx="11041625" cy="7078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  <a:sym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IN"/>
              <a:t>Customer Behaviour</a:t>
            </a:r>
            <a:endParaRPr lang="en-IN" dirty="0"/>
          </a:p>
        </p:txBody>
      </p:sp>
      <p:sp>
        <p:nvSpPr>
          <p:cNvPr id="2" name="object 7">
            <a:extLst>
              <a:ext uri="{FF2B5EF4-FFF2-40B4-BE49-F238E27FC236}">
                <a16:creationId xmlns:a16="http://schemas.microsoft.com/office/drawing/2014/main" id="{AAFE0A7B-5147-9AD6-8F19-D6EE5DA1A88E}"/>
              </a:ext>
            </a:extLst>
          </p:cNvPr>
          <p:cNvSpPr txBox="1"/>
          <p:nvPr/>
        </p:nvSpPr>
        <p:spPr>
          <a:xfrm>
            <a:off x="575187" y="1231106"/>
            <a:ext cx="11041625" cy="48408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0" indent="-18415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196850" algn="l"/>
              </a:tabLst>
            </a:pPr>
            <a:r>
              <a:rPr sz="2000" b="1" dirty="0">
                <a:latin typeface="Calibri"/>
                <a:cs typeface="Calibri"/>
              </a:rPr>
              <a:t>Recency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(R)</a:t>
            </a:r>
            <a:r>
              <a:rPr sz="2000" dirty="0">
                <a:latin typeface="Calibri"/>
                <a:cs typeface="Calibri"/>
              </a:rPr>
              <a:t>: How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recently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customer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made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purchase.</a:t>
            </a:r>
            <a:endParaRPr sz="2000" dirty="0">
              <a:latin typeface="Calibri"/>
              <a:cs typeface="Calibri"/>
            </a:endParaRPr>
          </a:p>
          <a:p>
            <a:pPr marL="196850" indent="-184150">
              <a:lnSpc>
                <a:spcPct val="100000"/>
              </a:lnSpc>
              <a:spcBef>
                <a:spcPts val="10"/>
              </a:spcBef>
              <a:buFont typeface="Wingdings"/>
              <a:buChar char=""/>
              <a:tabLst>
                <a:tab pos="196850" algn="l"/>
              </a:tabLst>
            </a:pPr>
            <a:r>
              <a:rPr sz="2000" b="1" spc="-10" dirty="0">
                <a:latin typeface="Calibri"/>
                <a:cs typeface="Calibri"/>
              </a:rPr>
              <a:t>Frequency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(F)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How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often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customer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makes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purchase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over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certain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period.</a:t>
            </a:r>
            <a:endParaRPr sz="2000" dirty="0">
              <a:latin typeface="Calibri"/>
              <a:cs typeface="Calibri"/>
            </a:endParaRPr>
          </a:p>
          <a:p>
            <a:pPr marL="196850" indent="-184150">
              <a:lnSpc>
                <a:spcPct val="100000"/>
              </a:lnSpc>
              <a:buFont typeface="Wingdings"/>
              <a:buChar char=""/>
              <a:tabLst>
                <a:tab pos="196850" algn="l"/>
              </a:tabLst>
            </a:pPr>
            <a:r>
              <a:rPr sz="2000" b="1" spc="-10" dirty="0">
                <a:latin typeface="Calibri"/>
                <a:cs typeface="Calibri"/>
              </a:rPr>
              <a:t>Monetary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(M)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How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much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money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customer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spends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purchases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over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certain </a:t>
            </a:r>
            <a:r>
              <a:rPr sz="2000" spc="-10" dirty="0">
                <a:latin typeface="Calibri"/>
                <a:cs typeface="Calibri"/>
              </a:rPr>
              <a:t>period.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60"/>
              </a:spcBef>
              <a:buFont typeface="Wingdings"/>
              <a:buChar char=""/>
            </a:pPr>
            <a:endParaRPr sz="2000" dirty="0">
              <a:latin typeface="Calibri"/>
              <a:cs typeface="Calibri"/>
            </a:endParaRPr>
          </a:p>
          <a:p>
            <a:pPr marL="196850" marR="689610" indent="-184785">
              <a:lnSpc>
                <a:spcPct val="101099"/>
              </a:lnSpc>
              <a:buFont typeface="Wingdings"/>
              <a:buChar char=""/>
              <a:tabLst>
                <a:tab pos="196850" algn="l"/>
              </a:tabLst>
            </a:pPr>
            <a:r>
              <a:rPr sz="2000" dirty="0">
                <a:latin typeface="Calibri"/>
                <a:cs typeface="Calibri"/>
              </a:rPr>
              <a:t>Each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customer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assigned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score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Recency,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Frequency,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and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Monetary</a:t>
            </a:r>
            <a:r>
              <a:rPr sz="2000" b="1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using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NTILE(4)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function,</a:t>
            </a:r>
            <a:r>
              <a:rPr sz="2000" spc="5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divides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customers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quartiles (groups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4).</a:t>
            </a:r>
            <a:endParaRPr sz="2000" dirty="0">
              <a:latin typeface="Calibri"/>
              <a:cs typeface="Calibri"/>
            </a:endParaRPr>
          </a:p>
          <a:p>
            <a:pPr marL="196850" indent="-184150">
              <a:lnSpc>
                <a:spcPct val="100000"/>
              </a:lnSpc>
              <a:buFont typeface="Wingdings"/>
              <a:buChar char=""/>
              <a:tabLst>
                <a:tab pos="196850" algn="l"/>
              </a:tabLst>
            </a:pPr>
            <a:r>
              <a:rPr sz="2000" b="1" dirty="0">
                <a:latin typeface="Calibri"/>
                <a:cs typeface="Calibri"/>
              </a:rPr>
              <a:t>R_Score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score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recency,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where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most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recent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buyers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get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higher </a:t>
            </a:r>
            <a:r>
              <a:rPr sz="2000" spc="-10" dirty="0">
                <a:latin typeface="Calibri"/>
                <a:cs typeface="Calibri"/>
              </a:rPr>
              <a:t>scores.</a:t>
            </a:r>
            <a:endParaRPr sz="2000" dirty="0">
              <a:latin typeface="Calibri"/>
              <a:cs typeface="Calibri"/>
            </a:endParaRPr>
          </a:p>
          <a:p>
            <a:pPr marL="196850" indent="-184150">
              <a:lnSpc>
                <a:spcPct val="100000"/>
              </a:lnSpc>
              <a:buFont typeface="Wingdings"/>
              <a:buChar char=""/>
              <a:tabLst>
                <a:tab pos="196850" algn="l"/>
              </a:tabLst>
            </a:pPr>
            <a:r>
              <a:rPr sz="2000" b="1" dirty="0">
                <a:latin typeface="Calibri"/>
                <a:cs typeface="Calibri"/>
              </a:rPr>
              <a:t>F_Score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score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frequency, where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customers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have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made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more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purchases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get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higher </a:t>
            </a:r>
            <a:r>
              <a:rPr sz="2000" spc="-10" dirty="0">
                <a:latin typeface="Calibri"/>
                <a:cs typeface="Calibri"/>
              </a:rPr>
              <a:t>scores.</a:t>
            </a:r>
            <a:endParaRPr sz="2000" dirty="0">
              <a:latin typeface="Calibri"/>
              <a:cs typeface="Calibri"/>
            </a:endParaRPr>
          </a:p>
          <a:p>
            <a:pPr marL="196850" indent="-184150">
              <a:lnSpc>
                <a:spcPct val="100000"/>
              </a:lnSpc>
              <a:spcBef>
                <a:spcPts val="15"/>
              </a:spcBef>
              <a:buFont typeface="Wingdings"/>
              <a:buChar char=""/>
              <a:tabLst>
                <a:tab pos="196850" algn="l"/>
              </a:tabLst>
            </a:pPr>
            <a:r>
              <a:rPr sz="2000" b="1" dirty="0">
                <a:latin typeface="Calibri"/>
                <a:cs typeface="Calibri"/>
              </a:rPr>
              <a:t>M_Score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score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monetary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value,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where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customers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who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have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spent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more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money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get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higher </a:t>
            </a:r>
            <a:r>
              <a:rPr sz="2000" spc="-10" dirty="0">
                <a:latin typeface="Calibri"/>
                <a:cs typeface="Calibri"/>
              </a:rPr>
              <a:t>scores.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85"/>
              </a:spcBef>
              <a:buFont typeface="Wingdings"/>
              <a:buChar char=""/>
            </a:pPr>
            <a:endParaRPr sz="2000" dirty="0">
              <a:latin typeface="Calibri"/>
              <a:cs typeface="Calibri"/>
            </a:endParaRPr>
          </a:p>
          <a:p>
            <a:pPr marL="196850" indent="-184150">
              <a:lnSpc>
                <a:spcPct val="100000"/>
              </a:lnSpc>
              <a:buFont typeface="Wingdings"/>
              <a:buChar char=""/>
              <a:tabLst>
                <a:tab pos="196850" algn="l"/>
              </a:tabLst>
            </a:pPr>
            <a:r>
              <a:rPr sz="2000" b="1" spc="-10" dirty="0">
                <a:latin typeface="Calibri"/>
                <a:cs typeface="Calibri"/>
              </a:rPr>
              <a:t>Total_scoring:</a:t>
            </a:r>
            <a:endParaRPr sz="2000" dirty="0">
              <a:latin typeface="Calibri"/>
              <a:cs typeface="Calibri"/>
            </a:endParaRPr>
          </a:p>
          <a:p>
            <a:pPr marL="196850" indent="-184150">
              <a:lnSpc>
                <a:spcPct val="100000"/>
              </a:lnSpc>
              <a:spcBef>
                <a:spcPts val="15"/>
              </a:spcBef>
              <a:buFont typeface="Wingdings"/>
              <a:buChar char=""/>
              <a:tabLst>
                <a:tab pos="196850" algn="l"/>
              </a:tabLst>
            </a:pPr>
            <a:r>
              <a:rPr sz="2000" dirty="0">
                <a:latin typeface="Calibri"/>
                <a:cs typeface="Calibri"/>
              </a:rPr>
              <a:t>This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step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combines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R,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F,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scores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into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Total_score</a:t>
            </a:r>
            <a:r>
              <a:rPr sz="2000" b="1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summing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R_Score,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F_Score,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10" dirty="0">
                <a:latin typeface="Calibri"/>
                <a:cs typeface="Calibri"/>
              </a:rPr>
              <a:t> M_Score.</a:t>
            </a:r>
            <a:endParaRPr sz="2000" dirty="0">
              <a:latin typeface="Calibri"/>
              <a:cs typeface="Calibri"/>
            </a:endParaRPr>
          </a:p>
          <a:p>
            <a:pPr marL="196850" marR="5080" indent="-184785">
              <a:lnSpc>
                <a:spcPct val="100000"/>
              </a:lnSpc>
              <a:buFont typeface="Wingdings"/>
              <a:buChar char=""/>
              <a:tabLst>
                <a:tab pos="196850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customer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lowest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scores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recency,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frequency,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 monetary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will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have 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total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score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3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(1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+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+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1),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while</a:t>
            </a:r>
            <a:r>
              <a:rPr sz="2000" spc="5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customer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 the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highest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scores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three categories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will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have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total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score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12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(4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+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4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+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4).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3B39AA-62BD-43E5-40E3-DE8883204530}"/>
              </a:ext>
            </a:extLst>
          </p:cNvPr>
          <p:cNvSpPr txBox="1"/>
          <p:nvPr/>
        </p:nvSpPr>
        <p:spPr>
          <a:xfrm>
            <a:off x="4001729" y="707886"/>
            <a:ext cx="41295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6075" algn="ctr">
              <a:lnSpc>
                <a:spcPct val="100000"/>
              </a:lnSpc>
              <a:spcBef>
                <a:spcPts val="1180"/>
              </a:spcBef>
            </a:pPr>
            <a:r>
              <a:rPr lang="en-IN" sz="2800" b="1" dirty="0">
                <a:latin typeface="Calibri"/>
                <a:cs typeface="Calibri"/>
              </a:rPr>
              <a:t>RFM</a:t>
            </a:r>
            <a:r>
              <a:rPr lang="en-IN" sz="2800" b="1" spc="5" dirty="0">
                <a:latin typeface="Calibri"/>
                <a:cs typeface="Calibri"/>
              </a:rPr>
              <a:t> </a:t>
            </a:r>
            <a:r>
              <a:rPr lang="en-IN" sz="2800" b="1" spc="-10" dirty="0">
                <a:latin typeface="Calibri"/>
                <a:cs typeface="Calibri"/>
              </a:rPr>
              <a:t>SEGMENTATION</a:t>
            </a:r>
            <a:endParaRPr lang="en-IN" sz="2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8387021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E3AEAB6-E673-F498-5987-12E6FEDA0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2122058D-3F1F-B40D-38AC-7FB42B32AC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7CAB4B7-0F29-D0C1-2AB4-61F66CDF6AEB}"/>
              </a:ext>
            </a:extLst>
          </p:cNvPr>
          <p:cNvSpPr txBox="1"/>
          <p:nvPr/>
        </p:nvSpPr>
        <p:spPr>
          <a:xfrm>
            <a:off x="575187" y="0"/>
            <a:ext cx="11041625" cy="7078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  <a:sym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IN"/>
              <a:t>Customer Behaviour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FDD158-EA21-8DCE-E9EE-88732C6A1E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86" y="812127"/>
            <a:ext cx="11041625" cy="3083400"/>
          </a:xfrm>
          <a:prstGeom prst="rect">
            <a:avLst/>
          </a:prstGeom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E316E4F-753E-45FA-8F6C-5813802885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1310773"/>
              </p:ext>
            </p:extLst>
          </p:nvPr>
        </p:nvGraphicFramePr>
        <p:xfrm>
          <a:off x="575186" y="3999767"/>
          <a:ext cx="5422491" cy="2214220"/>
        </p:xfrm>
        <a:graphic>
          <a:graphicData uri="http://schemas.openxmlformats.org/drawingml/2006/table">
            <a:tbl>
              <a:tblPr firstRow="1" bandRow="1"/>
              <a:tblGrid>
                <a:gridCol w="2128685">
                  <a:extLst>
                    <a:ext uri="{9D8B030D-6E8A-4147-A177-3AD203B41FA5}">
                      <a16:colId xmlns:a16="http://schemas.microsoft.com/office/drawing/2014/main" val="2653085426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164067803"/>
                    </a:ext>
                  </a:extLst>
                </a:gridCol>
                <a:gridCol w="1465006">
                  <a:extLst>
                    <a:ext uri="{9D8B030D-6E8A-4147-A177-3AD203B41FA5}">
                      <a16:colId xmlns:a16="http://schemas.microsoft.com/office/drawing/2014/main" val="2955117125"/>
                    </a:ext>
                  </a:extLst>
                </a:gridCol>
              </a:tblGrid>
              <a:tr h="4428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Customers</a:t>
                      </a:r>
                      <a:r>
                        <a:rPr lang="en-IN" sz="1600" b="1" spc="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IN"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Segments</a:t>
                      </a:r>
                      <a:endParaRPr lang="en-IN" sz="1600" dirty="0">
                        <a:latin typeface="Calibri"/>
                        <a:cs typeface="Calibri"/>
                      </a:endParaRPr>
                    </a:p>
                  </a:txBody>
                  <a:tcPr>
                    <a:solidFill>
                      <a:srgbClr val="348E9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 Of</a:t>
                      </a:r>
                      <a:r>
                        <a:rPr lang="en-IN" sz="1600" b="1" spc="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IN"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Customers</a:t>
                      </a:r>
                      <a:endParaRPr lang="en-IN" sz="1600" dirty="0">
                        <a:latin typeface="Calibri"/>
                        <a:cs typeface="Calibri"/>
                      </a:endParaRPr>
                    </a:p>
                  </a:txBody>
                  <a:tcPr>
                    <a:solidFill>
                      <a:srgbClr val="348E9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Percentage</a:t>
                      </a:r>
                      <a:endParaRPr lang="en-IN" sz="4400" dirty="0"/>
                    </a:p>
                  </a:txBody>
                  <a:tcPr>
                    <a:solidFill>
                      <a:srgbClr val="348E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7119347"/>
                  </a:ext>
                </a:extLst>
              </a:tr>
              <a:tr h="44284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Gold</a:t>
                      </a:r>
                      <a:endParaRPr lang="en-IN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53077</a:t>
                      </a:r>
                      <a:endParaRPr lang="en-IN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53.85</a:t>
                      </a:r>
                      <a:endParaRPr lang="en-IN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620528"/>
                  </a:ext>
                </a:extLst>
              </a:tr>
              <a:tr h="44284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Premium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dirty="0"/>
                        <a:t>13823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14.02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4130216"/>
                  </a:ext>
                </a:extLst>
              </a:tr>
              <a:tr h="44284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Silver</a:t>
                      </a:r>
                      <a:endParaRPr lang="en-IN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31649</a:t>
                      </a:r>
                      <a:endParaRPr lang="en-IN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dirty="0"/>
                        <a:t>32.11</a:t>
                      </a:r>
                      <a:endParaRPr lang="en-IN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6533344"/>
                  </a:ext>
                </a:extLst>
              </a:tr>
              <a:tr h="44284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Standard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0.02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1165484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D8887190-7DDE-D2CC-AB45-0A030DB6D17E}"/>
              </a:ext>
            </a:extLst>
          </p:cNvPr>
          <p:cNvSpPr txBox="1"/>
          <p:nvPr/>
        </p:nvSpPr>
        <p:spPr>
          <a:xfrm>
            <a:off x="6194320" y="4037353"/>
            <a:ext cx="5422491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00" dirty="0">
                <a:latin typeface="Calibri"/>
                <a:cs typeface="Calibri"/>
              </a:rPr>
              <a:t>Based</a:t>
            </a:r>
            <a:r>
              <a:rPr lang="en-US" sz="1900" spc="-10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on</a:t>
            </a:r>
            <a:r>
              <a:rPr lang="en-US" sz="1900" spc="-25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the</a:t>
            </a:r>
            <a:r>
              <a:rPr lang="en-US" sz="1900" spc="-5" dirty="0">
                <a:latin typeface="Calibri"/>
                <a:cs typeface="Calibri"/>
              </a:rPr>
              <a:t> </a:t>
            </a:r>
            <a:r>
              <a:rPr lang="en-US" sz="1900" b="1" dirty="0">
                <a:latin typeface="Calibri"/>
                <a:cs typeface="Calibri"/>
              </a:rPr>
              <a:t>Total</a:t>
            </a:r>
            <a:r>
              <a:rPr lang="en-US" sz="1900" b="1" spc="-20" dirty="0">
                <a:latin typeface="Calibri"/>
                <a:cs typeface="Calibri"/>
              </a:rPr>
              <a:t> </a:t>
            </a:r>
            <a:r>
              <a:rPr lang="en-US" sz="1900" b="1" dirty="0">
                <a:latin typeface="Calibri"/>
                <a:cs typeface="Calibri"/>
              </a:rPr>
              <a:t>score</a:t>
            </a:r>
            <a:r>
              <a:rPr lang="en-US" sz="1900" dirty="0">
                <a:latin typeface="Calibri"/>
                <a:cs typeface="Calibri"/>
              </a:rPr>
              <a:t>,</a:t>
            </a:r>
            <a:r>
              <a:rPr lang="en-US" sz="1900" spc="-20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customers</a:t>
            </a:r>
            <a:r>
              <a:rPr lang="en-US" sz="1900" spc="-10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are</a:t>
            </a:r>
            <a:r>
              <a:rPr lang="en-US" sz="1900" spc="-15" dirty="0">
                <a:latin typeface="Calibri"/>
                <a:cs typeface="Calibri"/>
              </a:rPr>
              <a:t> </a:t>
            </a:r>
            <a:r>
              <a:rPr lang="en-US" sz="1900" spc="-10" dirty="0">
                <a:latin typeface="Calibri"/>
                <a:cs typeface="Calibri"/>
              </a:rPr>
              <a:t>classified</a:t>
            </a:r>
            <a:r>
              <a:rPr lang="en-IN" sz="1900" spc="-10" dirty="0">
                <a:latin typeface="Calibri"/>
                <a:cs typeface="Calibri"/>
              </a:rPr>
              <a:t> </a:t>
            </a:r>
            <a:r>
              <a:rPr lang="en-IN" sz="1900" dirty="0">
                <a:latin typeface="Calibri"/>
                <a:cs typeface="Calibri"/>
              </a:rPr>
              <a:t>into</a:t>
            </a:r>
            <a:r>
              <a:rPr lang="en-IN" sz="1900" spc="-40" dirty="0">
                <a:latin typeface="Calibri"/>
                <a:cs typeface="Calibri"/>
              </a:rPr>
              <a:t> </a:t>
            </a:r>
            <a:r>
              <a:rPr lang="en-IN" sz="1900" dirty="0">
                <a:latin typeface="Calibri"/>
                <a:cs typeface="Calibri"/>
              </a:rPr>
              <a:t>different</a:t>
            </a:r>
            <a:r>
              <a:rPr lang="en-IN" sz="1900" spc="-15" dirty="0">
                <a:latin typeface="Calibri"/>
                <a:cs typeface="Calibri"/>
              </a:rPr>
              <a:t> </a:t>
            </a:r>
            <a:r>
              <a:rPr lang="en-IN" sz="1900" spc="-10" dirty="0">
                <a:latin typeface="Calibri"/>
                <a:cs typeface="Calibri"/>
              </a:rPr>
              <a:t>segments:</a:t>
            </a:r>
          </a:p>
          <a:p>
            <a:endParaRPr lang="en-IN" sz="1900" dirty="0">
              <a:latin typeface="Calibri"/>
              <a:cs typeface="Calibri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900" b="1" dirty="0">
                <a:latin typeface="Calibri"/>
                <a:cs typeface="Calibri"/>
              </a:rPr>
              <a:t>Premium</a:t>
            </a:r>
            <a:r>
              <a:rPr lang="en-US" sz="1900" dirty="0">
                <a:latin typeface="Calibri"/>
                <a:cs typeface="Calibri"/>
              </a:rPr>
              <a:t>:</a:t>
            </a:r>
            <a:r>
              <a:rPr lang="en-US" sz="1900" spc="-10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Total</a:t>
            </a:r>
            <a:r>
              <a:rPr lang="en-US" sz="1900" spc="-15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score</a:t>
            </a:r>
            <a:r>
              <a:rPr lang="en-US" sz="1900" spc="-25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between</a:t>
            </a:r>
            <a:r>
              <a:rPr lang="en-US" sz="1900" spc="10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10</a:t>
            </a:r>
            <a:r>
              <a:rPr lang="en-US" sz="1900" spc="-10" dirty="0">
                <a:latin typeface="Calibri"/>
                <a:cs typeface="Calibri"/>
              </a:rPr>
              <a:t> to </a:t>
            </a:r>
            <a:r>
              <a:rPr lang="en-US" sz="1900" spc="-25" dirty="0">
                <a:latin typeface="Calibri"/>
                <a:cs typeface="Calibri"/>
              </a:rPr>
              <a:t>12.</a:t>
            </a:r>
            <a:endParaRPr lang="en-US" sz="1900" dirty="0">
              <a:latin typeface="Calibri"/>
              <a:cs typeface="Calibri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900" b="1" dirty="0">
                <a:latin typeface="Calibri"/>
                <a:cs typeface="Calibri"/>
              </a:rPr>
              <a:t>Gold</a:t>
            </a:r>
            <a:r>
              <a:rPr lang="en-US" sz="1900" dirty="0">
                <a:latin typeface="Calibri"/>
                <a:cs typeface="Calibri"/>
              </a:rPr>
              <a:t>:</a:t>
            </a:r>
            <a:r>
              <a:rPr lang="en-US" sz="1900" spc="-10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Total</a:t>
            </a:r>
            <a:r>
              <a:rPr lang="en-US" sz="1900" spc="-10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score</a:t>
            </a:r>
            <a:r>
              <a:rPr lang="en-US" sz="1900" spc="-25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between</a:t>
            </a:r>
            <a:r>
              <a:rPr lang="en-US" sz="1900" spc="10" dirty="0">
                <a:latin typeface="Calibri"/>
                <a:cs typeface="Calibri"/>
              </a:rPr>
              <a:t> 7</a:t>
            </a:r>
            <a:r>
              <a:rPr lang="en-US" sz="1900" spc="-5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To</a:t>
            </a:r>
            <a:r>
              <a:rPr lang="en-US" sz="1900" spc="-10" dirty="0">
                <a:latin typeface="Calibri"/>
                <a:cs typeface="Calibri"/>
              </a:rPr>
              <a:t> </a:t>
            </a:r>
            <a:r>
              <a:rPr lang="en-US" sz="1900" spc="-25" dirty="0">
                <a:latin typeface="Calibri"/>
                <a:cs typeface="Calibri"/>
              </a:rPr>
              <a:t>9.</a:t>
            </a:r>
            <a:endParaRPr lang="en-US" sz="1900" dirty="0">
              <a:latin typeface="Calibri"/>
              <a:cs typeface="Calibri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900" b="1" dirty="0">
                <a:latin typeface="Calibri"/>
                <a:cs typeface="Calibri"/>
              </a:rPr>
              <a:t>Silver</a:t>
            </a:r>
            <a:r>
              <a:rPr lang="en-US" sz="1900" dirty="0">
                <a:latin typeface="Calibri"/>
                <a:cs typeface="Calibri"/>
              </a:rPr>
              <a:t>:</a:t>
            </a:r>
            <a:r>
              <a:rPr lang="en-US" sz="1900" spc="5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Total</a:t>
            </a:r>
            <a:r>
              <a:rPr lang="en-US" sz="1900" spc="-10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score</a:t>
            </a:r>
            <a:r>
              <a:rPr lang="en-US" sz="1900" spc="-25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between</a:t>
            </a:r>
            <a:r>
              <a:rPr lang="en-US" sz="1900" spc="204" dirty="0">
                <a:latin typeface="Calibri"/>
                <a:cs typeface="Calibri"/>
              </a:rPr>
              <a:t> 4</a:t>
            </a:r>
            <a:r>
              <a:rPr lang="en-US" sz="1900" spc="-5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and</a:t>
            </a:r>
            <a:r>
              <a:rPr lang="en-US" sz="1900" spc="175" dirty="0">
                <a:latin typeface="Calibri"/>
                <a:cs typeface="Calibri"/>
              </a:rPr>
              <a:t> </a:t>
            </a:r>
            <a:r>
              <a:rPr lang="en-US" sz="1900" spc="-25" dirty="0">
                <a:latin typeface="Calibri"/>
                <a:cs typeface="Calibri"/>
              </a:rPr>
              <a:t>6.</a:t>
            </a:r>
            <a:endParaRPr lang="en-US" sz="1900" dirty="0">
              <a:latin typeface="Calibri"/>
              <a:cs typeface="Calibri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900" b="1" spc="-10" dirty="0">
                <a:latin typeface="Calibri"/>
                <a:cs typeface="Calibri"/>
              </a:rPr>
              <a:t>Standard</a:t>
            </a:r>
            <a:r>
              <a:rPr lang="en-US" sz="1900" spc="-10" dirty="0">
                <a:latin typeface="Calibri"/>
                <a:cs typeface="Calibri"/>
              </a:rPr>
              <a:t>:</a:t>
            </a:r>
            <a:r>
              <a:rPr lang="en-US" sz="1900" dirty="0">
                <a:latin typeface="Calibri"/>
                <a:cs typeface="Calibri"/>
              </a:rPr>
              <a:t> Total score</a:t>
            </a:r>
            <a:r>
              <a:rPr lang="en-US" sz="1900" spc="-5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between</a:t>
            </a:r>
            <a:r>
              <a:rPr lang="en-US" sz="1900" spc="25" dirty="0">
                <a:latin typeface="Calibri"/>
                <a:cs typeface="Calibri"/>
              </a:rPr>
              <a:t> 3.</a:t>
            </a:r>
            <a:endParaRPr lang="en-US" sz="19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6050777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B7473D6-9337-85CD-B06E-70F59F36B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50E525F3-47F6-A8BC-E310-318CD444A6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7602FC0-3780-0E32-D652-D3AB04B7319D}"/>
              </a:ext>
            </a:extLst>
          </p:cNvPr>
          <p:cNvSpPr txBox="1"/>
          <p:nvPr/>
        </p:nvSpPr>
        <p:spPr>
          <a:xfrm>
            <a:off x="575187" y="0"/>
            <a:ext cx="11041625" cy="7078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  <a:sym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IN"/>
              <a:t>Customer Behaviour</a:t>
            </a:r>
            <a:endParaRPr lang="en-IN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7862E03-C0A7-58F1-7B25-66EBFE239C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5271772"/>
              </p:ext>
            </p:extLst>
          </p:nvPr>
        </p:nvGraphicFramePr>
        <p:xfrm>
          <a:off x="575187" y="876980"/>
          <a:ext cx="11041626" cy="52375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0542">
                  <a:extLst>
                    <a:ext uri="{9D8B030D-6E8A-4147-A177-3AD203B41FA5}">
                      <a16:colId xmlns:a16="http://schemas.microsoft.com/office/drawing/2014/main" val="1727704668"/>
                    </a:ext>
                  </a:extLst>
                </a:gridCol>
                <a:gridCol w="3680542">
                  <a:extLst>
                    <a:ext uri="{9D8B030D-6E8A-4147-A177-3AD203B41FA5}">
                      <a16:colId xmlns:a16="http://schemas.microsoft.com/office/drawing/2014/main" val="2125134215"/>
                    </a:ext>
                  </a:extLst>
                </a:gridCol>
                <a:gridCol w="3680542">
                  <a:extLst>
                    <a:ext uri="{9D8B030D-6E8A-4147-A177-3AD203B41FA5}">
                      <a16:colId xmlns:a16="http://schemas.microsoft.com/office/drawing/2014/main" val="344954603"/>
                    </a:ext>
                  </a:extLst>
                </a:gridCol>
              </a:tblGrid>
              <a:tr h="64825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Type Of Customers</a:t>
                      </a:r>
                      <a:endParaRPr lang="en-IN" dirty="0"/>
                    </a:p>
                  </a:txBody>
                  <a:tcPr>
                    <a:solidFill>
                      <a:srgbClr val="348E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of Customers</a:t>
                      </a:r>
                      <a:endParaRPr lang="en-IN" dirty="0"/>
                    </a:p>
                  </a:txBody>
                  <a:tcPr>
                    <a:solidFill>
                      <a:srgbClr val="348E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Percentage</a:t>
                      </a:r>
                      <a:endParaRPr lang="en-IN" dirty="0"/>
                    </a:p>
                  </a:txBody>
                  <a:tcPr>
                    <a:solidFill>
                      <a:srgbClr val="348E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7016425"/>
                  </a:ext>
                </a:extLst>
              </a:tr>
              <a:tr h="1459448">
                <a:tc>
                  <a:txBody>
                    <a:bodyPr/>
                    <a:lstStyle/>
                    <a:p>
                      <a:pPr marL="59055" marR="113030">
                        <a:lnSpc>
                          <a:spcPct val="100699"/>
                        </a:lnSpc>
                        <a:spcBef>
                          <a:spcPts val="165"/>
                        </a:spcBef>
                      </a:pPr>
                      <a:r>
                        <a:rPr lang="en-US" sz="2000" dirty="0">
                          <a:latin typeface="Calibri"/>
                          <a:cs typeface="Calibri"/>
                        </a:rPr>
                        <a:t>Customers</a:t>
                      </a:r>
                      <a:r>
                        <a:rPr lang="en-US" sz="20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2000" dirty="0">
                          <a:latin typeface="Calibri"/>
                          <a:cs typeface="Calibri"/>
                        </a:rPr>
                        <a:t>who</a:t>
                      </a:r>
                      <a:r>
                        <a:rPr lang="en-US" sz="20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2000" dirty="0">
                          <a:latin typeface="Calibri"/>
                          <a:cs typeface="Calibri"/>
                        </a:rPr>
                        <a:t>made</a:t>
                      </a:r>
                      <a:r>
                        <a:rPr lang="en-US" sz="2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2000" dirty="0">
                          <a:latin typeface="Calibri"/>
                          <a:cs typeface="Calibri"/>
                        </a:rPr>
                        <a:t>purchases </a:t>
                      </a:r>
                      <a:r>
                        <a:rPr lang="en-US" sz="2000" spc="-10" dirty="0">
                          <a:latin typeface="Calibri"/>
                          <a:cs typeface="Calibri"/>
                        </a:rPr>
                        <a:t>across</a:t>
                      </a:r>
                      <a:r>
                        <a:rPr lang="en-US" sz="2000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2000" dirty="0">
                          <a:latin typeface="Calibri"/>
                          <a:cs typeface="Calibri"/>
                        </a:rPr>
                        <a:t>all</a:t>
                      </a:r>
                      <a:r>
                        <a:rPr lang="en-US" sz="20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2000" dirty="0">
                          <a:latin typeface="Calibri"/>
                          <a:cs typeface="Calibri"/>
                        </a:rPr>
                        <a:t>available channels:</a:t>
                      </a:r>
                      <a:r>
                        <a:rPr lang="en-US" sz="20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2000" b="1" dirty="0">
                          <a:latin typeface="Calibri"/>
                          <a:cs typeface="Calibri"/>
                        </a:rPr>
                        <a:t>Online,</a:t>
                      </a:r>
                      <a:r>
                        <a:rPr lang="en-US" sz="20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2000" b="1" spc="-10" dirty="0">
                          <a:latin typeface="Calibri"/>
                          <a:cs typeface="Calibri"/>
                        </a:rPr>
                        <a:t>Instore,</a:t>
                      </a:r>
                      <a:r>
                        <a:rPr lang="en-US" sz="200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2000" b="1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lang="en-US" sz="20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2000" b="1" dirty="0">
                          <a:latin typeface="Calibri"/>
                          <a:cs typeface="Calibri"/>
                        </a:rPr>
                        <a:t>Phone</a:t>
                      </a:r>
                      <a:r>
                        <a:rPr lang="en-US" sz="20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lang="en-US" sz="2000" b="1" spc="-10" dirty="0">
                          <a:latin typeface="Calibri"/>
                          <a:cs typeface="Calibri"/>
                        </a:rPr>
                        <a:t>Delivery</a:t>
                      </a:r>
                      <a:endParaRPr lang="en-US" sz="2000" dirty="0">
                        <a:latin typeface="Calibri"/>
                        <a:cs typeface="Calibri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IN" dirty="0"/>
                        <a:t>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300000"/>
                        </a:lnSpc>
                      </a:pPr>
                      <a:r>
                        <a:rPr lang="en-US" dirty="0"/>
                        <a:t>0000.1</a:t>
                      </a:r>
                      <a:endParaRPr lang="en-IN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4904686"/>
                  </a:ext>
                </a:extLst>
              </a:tr>
              <a:tr h="491409">
                <a:tc>
                  <a:txBody>
                    <a:bodyPr/>
                    <a:lstStyle/>
                    <a:p>
                      <a:r>
                        <a:rPr lang="en-IN" dirty="0"/>
                        <a:t>One-time Buyer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dirty="0"/>
                        <a:t>98537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99.9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3797325"/>
                  </a:ext>
                </a:extLst>
              </a:tr>
              <a:tr h="525642">
                <a:tc>
                  <a:txBody>
                    <a:bodyPr/>
                    <a:lstStyle/>
                    <a:p>
                      <a:r>
                        <a:rPr lang="en-IN" dirty="0"/>
                        <a:t>Repeat Buyer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dirty="0"/>
                        <a:t>35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00.1</a:t>
                      </a:r>
                      <a:endParaRPr lang="en-IN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1587975"/>
                  </a:ext>
                </a:extLst>
              </a:tr>
              <a:tr h="502759">
                <a:tc>
                  <a:txBody>
                    <a:bodyPr/>
                    <a:lstStyle/>
                    <a:p>
                      <a:r>
                        <a:rPr lang="en-IN" dirty="0"/>
                        <a:t>Non-Discount Seeker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58387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57.67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7674269"/>
                  </a:ext>
                </a:extLst>
              </a:tr>
              <a:tr h="48842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Discount Seeker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40185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dirty="0"/>
                        <a:t>42.33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2851364"/>
                  </a:ext>
                </a:extLst>
              </a:tr>
              <a:tr h="473377">
                <a:tc>
                  <a:txBody>
                    <a:bodyPr/>
                    <a:lstStyle/>
                    <a:p>
                      <a:r>
                        <a:rPr lang="en-IN" dirty="0"/>
                        <a:t>Single Category Buyers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dirty="0"/>
                        <a:t>97823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dirty="0"/>
                        <a:t>99.24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0902194"/>
                  </a:ext>
                </a:extLst>
              </a:tr>
              <a:tr h="64825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dirty="0"/>
                        <a:t>Multi Category Buyers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749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IN" dirty="0"/>
                        <a:t>00.76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53668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883349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5F511A8-0A17-8A72-3DFE-6A7858DF6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43CE62EA-0C81-0B49-E45A-BCCE43FCFD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8015E3C-5BEF-97A7-18FA-0705539B16D1}"/>
              </a:ext>
            </a:extLst>
          </p:cNvPr>
          <p:cNvSpPr txBox="1"/>
          <p:nvPr/>
        </p:nvSpPr>
        <p:spPr>
          <a:xfrm>
            <a:off x="575187" y="0"/>
            <a:ext cx="11041625" cy="7078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  <a:sym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r>
              <a:rPr lang="en-IN"/>
              <a:t>Customer Behaviour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6D6EB6-3DEE-9194-C7A3-C7E32D84B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87" y="851954"/>
            <a:ext cx="11041624" cy="533253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0A54D81-860C-0C4E-7BE7-B84D57DB222C}"/>
              </a:ext>
            </a:extLst>
          </p:cNvPr>
          <p:cNvSpPr/>
          <p:nvPr/>
        </p:nvSpPr>
        <p:spPr>
          <a:xfrm>
            <a:off x="3188108" y="881450"/>
            <a:ext cx="5815782" cy="344876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pc="-10" dirty="0">
                <a:solidFill>
                  <a:schemeClr val="tx1"/>
                </a:solidFill>
                <a:latin typeface="Calibri"/>
                <a:cs typeface="Calibri"/>
              </a:rPr>
              <a:t>Revenue Generated</a:t>
            </a:r>
            <a:r>
              <a:rPr lang="en-US" spc="15" dirty="0">
                <a:solidFill>
                  <a:schemeClr val="tx1"/>
                </a:solidFill>
                <a:latin typeface="Calibri"/>
                <a:cs typeface="Calibri"/>
              </a:rPr>
              <a:t> O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ver</a:t>
            </a:r>
            <a:r>
              <a:rPr lang="en-US" spc="-10" dirty="0">
                <a:solidFill>
                  <a:schemeClr val="tx1"/>
                </a:solidFill>
                <a:latin typeface="Calibri"/>
                <a:cs typeface="Calibri"/>
              </a:rPr>
              <a:t> T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ime</a:t>
            </a:r>
            <a:r>
              <a:rPr lang="en-US" spc="-1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by</a:t>
            </a:r>
            <a:r>
              <a:rPr lang="en-US" spc="-25" dirty="0">
                <a:solidFill>
                  <a:schemeClr val="tx1"/>
                </a:solidFill>
                <a:latin typeface="Calibri"/>
                <a:cs typeface="Calibri"/>
              </a:rPr>
              <a:t> O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ne</a:t>
            </a:r>
            <a:r>
              <a:rPr lang="en-US" spc="-15" dirty="0">
                <a:solidFill>
                  <a:schemeClr val="tx1"/>
                </a:solidFill>
                <a:latin typeface="Calibri"/>
                <a:cs typeface="Calibri"/>
              </a:rPr>
              <a:t> T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ime</a:t>
            </a:r>
            <a:r>
              <a:rPr lang="en-US" spc="-1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pc="-10" dirty="0">
                <a:solidFill>
                  <a:schemeClr val="tx1"/>
                </a:solidFill>
                <a:latin typeface="Calibri"/>
                <a:cs typeface="Calibri"/>
              </a:rPr>
              <a:t>Buyers</a:t>
            </a:r>
            <a:endParaRPr lang="en-US" dirty="0">
              <a:solidFill>
                <a:schemeClr val="tx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5123706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5D4CA77-7D23-E6A9-9501-5D5675AF3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6957D74A-3EC0-8471-3645-18DC2A2C85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613370D-4BAE-A30A-DD9D-2FEC2BF6CEC9}"/>
              </a:ext>
            </a:extLst>
          </p:cNvPr>
          <p:cNvSpPr txBox="1"/>
          <p:nvPr/>
        </p:nvSpPr>
        <p:spPr>
          <a:xfrm>
            <a:off x="575187" y="0"/>
            <a:ext cx="11041625" cy="7078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9pPr>
          </a:lstStyle>
          <a:p>
            <a:r>
              <a:rPr lang="en-IN"/>
              <a:t>Customer Behaviour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0F8F2BE-CEED-2F28-358E-9D771822F254}"/>
              </a:ext>
            </a:extLst>
          </p:cNvPr>
          <p:cNvSpPr/>
          <p:nvPr/>
        </p:nvSpPr>
        <p:spPr>
          <a:xfrm>
            <a:off x="3178275" y="1076240"/>
            <a:ext cx="5815782" cy="344876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pc="-10" dirty="0">
                <a:solidFill>
                  <a:schemeClr val="tx1"/>
                </a:solidFill>
                <a:latin typeface="Calibri"/>
                <a:cs typeface="Calibri"/>
              </a:rPr>
              <a:t>Revenue Generated</a:t>
            </a:r>
            <a:r>
              <a:rPr lang="en-US" spc="15" dirty="0">
                <a:solidFill>
                  <a:schemeClr val="tx1"/>
                </a:solidFill>
                <a:latin typeface="Calibri"/>
                <a:cs typeface="Calibri"/>
              </a:rPr>
              <a:t> O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ver</a:t>
            </a:r>
            <a:r>
              <a:rPr lang="en-US" spc="-10" dirty="0">
                <a:solidFill>
                  <a:schemeClr val="tx1"/>
                </a:solidFill>
                <a:latin typeface="Calibri"/>
                <a:cs typeface="Calibri"/>
              </a:rPr>
              <a:t> T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ime</a:t>
            </a:r>
            <a:r>
              <a:rPr lang="en-US" spc="-1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by</a:t>
            </a:r>
            <a:r>
              <a:rPr lang="en-US" spc="-25" dirty="0">
                <a:solidFill>
                  <a:schemeClr val="tx1"/>
                </a:solidFill>
                <a:latin typeface="Calibri"/>
                <a:cs typeface="Calibri"/>
              </a:rPr>
              <a:t> O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ne</a:t>
            </a:r>
            <a:r>
              <a:rPr lang="en-US" spc="-15" dirty="0">
                <a:solidFill>
                  <a:schemeClr val="tx1"/>
                </a:solidFill>
                <a:latin typeface="Calibri"/>
                <a:cs typeface="Calibri"/>
              </a:rPr>
              <a:t> T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ime</a:t>
            </a:r>
            <a:r>
              <a:rPr lang="en-US" spc="-1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pc="-10" dirty="0">
                <a:solidFill>
                  <a:schemeClr val="tx1"/>
                </a:solidFill>
                <a:latin typeface="Calibri"/>
                <a:cs typeface="Calibri"/>
              </a:rPr>
              <a:t>Buyers</a:t>
            </a:r>
            <a:endParaRPr lang="en-US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3910B0-FF92-D791-9CCA-F730B4F7E4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354" y="869727"/>
            <a:ext cx="11041625" cy="5304931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50BC65A-BA82-59B3-C618-9A26119F7F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548420"/>
              </p:ext>
            </p:extLst>
          </p:nvPr>
        </p:nvGraphicFramePr>
        <p:xfrm>
          <a:off x="6184491" y="3659510"/>
          <a:ext cx="5422488" cy="2515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1244">
                  <a:extLst>
                    <a:ext uri="{9D8B030D-6E8A-4147-A177-3AD203B41FA5}">
                      <a16:colId xmlns:a16="http://schemas.microsoft.com/office/drawing/2014/main" val="4200061377"/>
                    </a:ext>
                  </a:extLst>
                </a:gridCol>
                <a:gridCol w="2711244">
                  <a:extLst>
                    <a:ext uri="{9D8B030D-6E8A-4147-A177-3AD203B41FA5}">
                      <a16:colId xmlns:a16="http://schemas.microsoft.com/office/drawing/2014/main" val="2358263634"/>
                    </a:ext>
                  </a:extLst>
                </a:gridCol>
              </a:tblGrid>
              <a:tr h="50303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Region</a:t>
                      </a:r>
                      <a:endParaRPr lang="en-IN" dirty="0"/>
                    </a:p>
                  </a:txBody>
                  <a:tcPr>
                    <a:solidFill>
                      <a:srgbClr val="348E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No. Of Customer</a:t>
                      </a:r>
                      <a:endParaRPr lang="en-IN" dirty="0"/>
                    </a:p>
                  </a:txBody>
                  <a:tcPr>
                    <a:solidFill>
                      <a:srgbClr val="348E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366927"/>
                  </a:ext>
                </a:extLst>
              </a:tr>
              <a:tr h="50303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South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75853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3151274"/>
                  </a:ext>
                </a:extLst>
              </a:tr>
              <a:tr h="50303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West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10833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149177"/>
                  </a:ext>
                </a:extLst>
              </a:tr>
              <a:tr h="50303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North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10071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2349120"/>
                  </a:ext>
                </a:extLst>
              </a:tr>
              <a:tr h="50303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East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1822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0668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171531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269B623-808C-0878-130F-5E1DDC867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0FAFF34A-603E-D1E5-669C-BD4925A7CC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B33992E-D881-DCC8-41D2-1661ADDB0D1D}"/>
              </a:ext>
            </a:extLst>
          </p:cNvPr>
          <p:cNvSpPr txBox="1"/>
          <p:nvPr/>
        </p:nvSpPr>
        <p:spPr>
          <a:xfrm>
            <a:off x="575187" y="0"/>
            <a:ext cx="11041625" cy="7078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9pPr>
          </a:lstStyle>
          <a:p>
            <a:r>
              <a:rPr lang="en-IN"/>
              <a:t>Customer Behaviour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AF3493-0E2E-395C-6A39-48A6785F55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86" y="822457"/>
            <a:ext cx="11041625" cy="5381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68496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19AEB89-99F0-7E1E-826A-264970940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DB60CF46-8ACD-5929-452B-C291780EC6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E7088A5-6A94-030E-C75F-B6A91712C53C}"/>
              </a:ext>
            </a:extLst>
          </p:cNvPr>
          <p:cNvSpPr txBox="1"/>
          <p:nvPr/>
        </p:nvSpPr>
        <p:spPr>
          <a:xfrm>
            <a:off x="575187" y="0"/>
            <a:ext cx="11041625" cy="7078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9pPr>
          </a:lstStyle>
          <a:p>
            <a:r>
              <a:rPr lang="en-IN"/>
              <a:t>Customer Behaviour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1DC961-CD1D-25BB-DDE9-B86DBABAF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86" y="846380"/>
            <a:ext cx="11041624" cy="5342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07480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49A85C5-F559-C84F-A890-1218D31EB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500B09DC-F390-42A6-EF77-4ECC309A11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4589844-3373-EFFC-9C46-1067C524012E}"/>
              </a:ext>
            </a:extLst>
          </p:cNvPr>
          <p:cNvSpPr txBox="1"/>
          <p:nvPr/>
        </p:nvSpPr>
        <p:spPr>
          <a:xfrm>
            <a:off x="575187" y="0"/>
            <a:ext cx="11041625" cy="7078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9pPr>
          </a:lstStyle>
          <a:p>
            <a:r>
              <a:rPr lang="en-IN"/>
              <a:t>Customer Behaviour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C6F580-CCB7-245A-EDED-0479AF2C08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86" y="891283"/>
            <a:ext cx="11041625" cy="5253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10815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BC8520D-79E2-3180-3673-AC6070A75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49FB322F-E680-AE70-EFFA-4C7D900FD3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2AE7A31-28B7-B709-6BC8-528B70FAB26C}"/>
              </a:ext>
            </a:extLst>
          </p:cNvPr>
          <p:cNvSpPr txBox="1"/>
          <p:nvPr/>
        </p:nvSpPr>
        <p:spPr>
          <a:xfrm>
            <a:off x="575187" y="0"/>
            <a:ext cx="11041625" cy="7078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9pPr>
          </a:lstStyle>
          <a:p>
            <a:r>
              <a:rPr lang="en-IN"/>
              <a:t>Customer Behaviour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0DD312-161B-F8DF-EDF0-B77BBE36D1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87" y="978110"/>
            <a:ext cx="5468113" cy="508839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31631BF-73A0-8167-6A58-44704FE5015B}"/>
              </a:ext>
            </a:extLst>
          </p:cNvPr>
          <p:cNvSpPr/>
          <p:nvPr/>
        </p:nvSpPr>
        <p:spPr>
          <a:xfrm>
            <a:off x="753397" y="1017438"/>
            <a:ext cx="5111692" cy="389132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spc="-10" dirty="0">
                <a:solidFill>
                  <a:schemeClr val="tx1"/>
                </a:solidFill>
                <a:latin typeface="Calibri"/>
                <a:cs typeface="Calibri"/>
              </a:rPr>
              <a:t>Sum of </a:t>
            </a:r>
            <a:r>
              <a:rPr lang="en-US" spc="-10" dirty="0" err="1">
                <a:solidFill>
                  <a:schemeClr val="tx1"/>
                </a:solidFill>
                <a:latin typeface="Calibri"/>
                <a:cs typeface="Calibri"/>
              </a:rPr>
              <a:t>Total_Sales</a:t>
            </a:r>
            <a:r>
              <a:rPr lang="en-US" spc="-10" dirty="0">
                <a:solidFill>
                  <a:schemeClr val="tx1"/>
                </a:solidFill>
                <a:latin typeface="Calibri"/>
                <a:cs typeface="Calibri"/>
              </a:rPr>
              <a:t> By Discount Seeker</a:t>
            </a:r>
            <a:endParaRPr lang="en-US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E56A5B7-C787-F16C-24B0-422E8D0B66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4687812"/>
              </p:ext>
            </p:extLst>
          </p:nvPr>
        </p:nvGraphicFramePr>
        <p:xfrm>
          <a:off x="6272980" y="2356827"/>
          <a:ext cx="5343832" cy="2144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1916">
                  <a:extLst>
                    <a:ext uri="{9D8B030D-6E8A-4147-A177-3AD203B41FA5}">
                      <a16:colId xmlns:a16="http://schemas.microsoft.com/office/drawing/2014/main" val="2176015373"/>
                    </a:ext>
                  </a:extLst>
                </a:gridCol>
                <a:gridCol w="2671916">
                  <a:extLst>
                    <a:ext uri="{9D8B030D-6E8A-4147-A177-3AD203B41FA5}">
                      <a16:colId xmlns:a16="http://schemas.microsoft.com/office/drawing/2014/main" val="226310798"/>
                    </a:ext>
                  </a:extLst>
                </a:gridCol>
              </a:tblGrid>
              <a:tr h="65063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/>
                        <a:t>Customers</a:t>
                      </a:r>
                      <a:endParaRPr lang="en-IN" dirty="0"/>
                    </a:p>
                  </a:txBody>
                  <a:tcPr>
                    <a:solidFill>
                      <a:srgbClr val="348E9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2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Average</a:t>
                      </a:r>
                      <a:r>
                        <a:rPr lang="en-IN" sz="20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IN" sz="20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order</a:t>
                      </a:r>
                      <a:r>
                        <a:rPr lang="en-IN" sz="2000" b="1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lang="en-IN" sz="20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value</a:t>
                      </a:r>
                      <a:endParaRPr lang="en-IN" sz="2000" dirty="0">
                        <a:latin typeface="Calibri"/>
                        <a:cs typeface="Calibri"/>
                      </a:endParaRPr>
                    </a:p>
                    <a:p>
                      <a:endParaRPr lang="en-IN" dirty="0"/>
                    </a:p>
                  </a:txBody>
                  <a:tcPr>
                    <a:solidFill>
                      <a:srgbClr val="348E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7290955"/>
                  </a:ext>
                </a:extLst>
              </a:tr>
              <a:tr h="650634">
                <a:tc>
                  <a:txBody>
                    <a:bodyPr/>
                    <a:lstStyle/>
                    <a:p>
                      <a:pPr algn="ctr"/>
                      <a:r>
                        <a:rPr lang="en-US" sz="20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Discount Seeker</a:t>
                      </a:r>
                      <a:endParaRPr lang="en-IN" sz="20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161.52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790759"/>
                  </a:ext>
                </a:extLst>
              </a:tr>
              <a:tr h="650634">
                <a:tc>
                  <a:txBody>
                    <a:bodyPr/>
                    <a:lstStyle/>
                    <a:p>
                      <a:pPr algn="ctr"/>
                      <a:r>
                        <a:rPr lang="en-US" sz="2000" spc="-10" dirty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Non-Discount Seeker</a:t>
                      </a:r>
                      <a:endParaRPr lang="en-IN" sz="20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172.24</a:t>
                      </a:r>
                    </a:p>
                    <a:p>
                      <a:endParaRPr lang="en-IN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5516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477074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F5CF1C1-6975-E332-539D-CEC6F97EE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C6357DD1-B7D1-10EC-321F-F885CEF2E1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A676411-76F7-C862-7956-336B2213C7B3}"/>
              </a:ext>
            </a:extLst>
          </p:cNvPr>
          <p:cNvSpPr txBox="1"/>
          <p:nvPr/>
        </p:nvSpPr>
        <p:spPr>
          <a:xfrm>
            <a:off x="575187" y="0"/>
            <a:ext cx="11041625" cy="7078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9pPr>
          </a:lstStyle>
          <a:p>
            <a:r>
              <a:rPr lang="en-IN"/>
              <a:t>Customer Behaviour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5FCF71-704C-ADBF-28A0-62E040FEF8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88" y="859079"/>
            <a:ext cx="11041624" cy="532615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F61B3B0-BB27-5B48-B8C7-DACC9A10DE02}"/>
              </a:ext>
            </a:extLst>
          </p:cNvPr>
          <p:cNvSpPr/>
          <p:nvPr/>
        </p:nvSpPr>
        <p:spPr>
          <a:xfrm>
            <a:off x="3291672" y="888575"/>
            <a:ext cx="5815782" cy="344876"/>
          </a:xfrm>
          <a:prstGeom prst="rect">
            <a:avLst/>
          </a:prstGeom>
          <a:ln>
            <a:noFill/>
          </a:ln>
        </p:spPr>
        <p:style>
          <a:lnRef idx="0">
            <a:scrgbClr r="0" g="0" b="0"/>
          </a:lnRef>
          <a:fillRef idx="1001">
            <a:schemeClr val="lt1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No OF Discount Seeker </a:t>
            </a:r>
            <a:r>
              <a:rPr lang="en-US" spc="-10" dirty="0">
                <a:solidFill>
                  <a:schemeClr val="tx1"/>
                </a:solidFill>
                <a:latin typeface="Calibri"/>
                <a:cs typeface="Calibri"/>
              </a:rPr>
              <a:t>Customers</a:t>
            </a:r>
            <a:r>
              <a:rPr lang="en-US" spc="1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dirty="0">
                <a:solidFill>
                  <a:schemeClr val="tx1"/>
                </a:solidFill>
                <a:latin typeface="Calibri"/>
                <a:cs typeface="Calibri"/>
              </a:rPr>
              <a:t>By</a:t>
            </a:r>
            <a:r>
              <a:rPr lang="en-US" spc="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pc="-10" dirty="0">
                <a:solidFill>
                  <a:schemeClr val="tx1"/>
                </a:solidFill>
                <a:latin typeface="Calibri"/>
                <a:cs typeface="Calibri"/>
              </a:rPr>
              <a:t>Stores</a:t>
            </a:r>
            <a:endParaRPr lang="en-US" dirty="0">
              <a:solidFill>
                <a:schemeClr val="tx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2430219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A24F75A-43E4-53FE-CF51-5C4209332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12A7035D-7CCC-44B5-68AD-9400CA306E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22BC03B-5FD1-9CC1-626C-22D40F8D0CB2}"/>
              </a:ext>
            </a:extLst>
          </p:cNvPr>
          <p:cNvSpPr txBox="1"/>
          <p:nvPr/>
        </p:nvSpPr>
        <p:spPr>
          <a:xfrm>
            <a:off x="575187" y="0"/>
            <a:ext cx="11041625" cy="7078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9pPr>
          </a:lstStyle>
          <a:p>
            <a:r>
              <a:rPr lang="en-IN"/>
              <a:t>Customer Behaviour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E293DB-B1DC-721C-EF21-C9267876C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87" y="874852"/>
            <a:ext cx="11041625" cy="5270310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F92B7C6-2CB7-635A-9949-88B38A54C7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5860875"/>
              </p:ext>
            </p:extLst>
          </p:nvPr>
        </p:nvGraphicFramePr>
        <p:xfrm>
          <a:off x="6253316" y="3806994"/>
          <a:ext cx="5363496" cy="2338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1748">
                  <a:extLst>
                    <a:ext uri="{9D8B030D-6E8A-4147-A177-3AD203B41FA5}">
                      <a16:colId xmlns:a16="http://schemas.microsoft.com/office/drawing/2014/main" val="815920076"/>
                    </a:ext>
                  </a:extLst>
                </a:gridCol>
                <a:gridCol w="2681748">
                  <a:extLst>
                    <a:ext uri="{9D8B030D-6E8A-4147-A177-3AD203B41FA5}">
                      <a16:colId xmlns:a16="http://schemas.microsoft.com/office/drawing/2014/main" val="4138644858"/>
                    </a:ext>
                  </a:extLst>
                </a:gridCol>
              </a:tblGrid>
              <a:tr h="467634">
                <a:tc>
                  <a:txBody>
                    <a:bodyPr/>
                    <a:lstStyle/>
                    <a:p>
                      <a:r>
                        <a:rPr lang="en-US" dirty="0"/>
                        <a:t>Region</a:t>
                      </a:r>
                      <a:endParaRPr lang="en-IN" dirty="0"/>
                    </a:p>
                  </a:txBody>
                  <a:tcPr>
                    <a:solidFill>
                      <a:srgbClr val="348E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No. Of Customers</a:t>
                      </a:r>
                      <a:endParaRPr lang="en-IN" dirty="0"/>
                    </a:p>
                  </a:txBody>
                  <a:tcPr>
                    <a:solidFill>
                      <a:srgbClr val="348E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9749568"/>
                  </a:ext>
                </a:extLst>
              </a:tr>
              <a:tr h="46763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South</a:t>
                      </a:r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29997</a:t>
                      </a:r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516548"/>
                  </a:ext>
                </a:extLst>
              </a:tr>
              <a:tr h="46763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West</a:t>
                      </a:r>
                      <a:endParaRPr lang="en-IN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4934</a:t>
                      </a:r>
                      <a:endParaRPr lang="en-IN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2359763"/>
                  </a:ext>
                </a:extLst>
              </a:tr>
              <a:tr h="46763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North</a:t>
                      </a:r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4373</a:t>
                      </a:r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2707937"/>
                  </a:ext>
                </a:extLst>
              </a:tr>
              <a:tr h="46763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East</a:t>
                      </a:r>
                      <a:endParaRPr lang="en-IN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893</a:t>
                      </a:r>
                      <a:endParaRPr lang="en-IN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79919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3747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73F5830-F483-1B7F-5B63-32D14885F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48020A4A-7A16-7103-A470-862BD1A9F2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075CF6E-3EF8-8339-1E2E-65A150C68F41}"/>
              </a:ext>
            </a:extLst>
          </p:cNvPr>
          <p:cNvSpPr txBox="1"/>
          <p:nvPr/>
        </p:nvSpPr>
        <p:spPr>
          <a:xfrm>
            <a:off x="575187" y="0"/>
            <a:ext cx="11041625" cy="7078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9pPr>
          </a:lstStyle>
          <a:p>
            <a:r>
              <a:rPr lang="en-IN"/>
              <a:t>Customer Behaviour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89F225-039B-2C42-E3C7-80D06C43E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87" y="850423"/>
            <a:ext cx="11041625" cy="5353797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419E998-6376-51B7-14B6-0B309B444B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1007993"/>
              </p:ext>
            </p:extLst>
          </p:nvPr>
        </p:nvGraphicFramePr>
        <p:xfrm>
          <a:off x="6213986" y="3787330"/>
          <a:ext cx="5402826" cy="24168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1413">
                  <a:extLst>
                    <a:ext uri="{9D8B030D-6E8A-4147-A177-3AD203B41FA5}">
                      <a16:colId xmlns:a16="http://schemas.microsoft.com/office/drawing/2014/main" val="3166058897"/>
                    </a:ext>
                  </a:extLst>
                </a:gridCol>
                <a:gridCol w="2701413">
                  <a:extLst>
                    <a:ext uri="{9D8B030D-6E8A-4147-A177-3AD203B41FA5}">
                      <a16:colId xmlns:a16="http://schemas.microsoft.com/office/drawing/2014/main" val="1980751724"/>
                    </a:ext>
                  </a:extLst>
                </a:gridCol>
              </a:tblGrid>
              <a:tr h="483378">
                <a:tc>
                  <a:txBody>
                    <a:bodyPr/>
                    <a:lstStyle/>
                    <a:p>
                      <a:r>
                        <a:rPr lang="en-US" dirty="0"/>
                        <a:t>Region</a:t>
                      </a:r>
                      <a:endParaRPr lang="en-IN" dirty="0"/>
                    </a:p>
                  </a:txBody>
                  <a:tcPr>
                    <a:solidFill>
                      <a:srgbClr val="348E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No. Of Customers</a:t>
                      </a:r>
                      <a:endParaRPr lang="en-IN" dirty="0"/>
                    </a:p>
                  </a:txBody>
                  <a:tcPr>
                    <a:solidFill>
                      <a:srgbClr val="348E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108943"/>
                  </a:ext>
                </a:extLst>
              </a:tr>
              <a:tr h="4833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South</a:t>
                      </a:r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46994</a:t>
                      </a:r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9013529"/>
                  </a:ext>
                </a:extLst>
              </a:tr>
              <a:tr h="4833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West</a:t>
                      </a:r>
                      <a:endParaRPr lang="en-IN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6240</a:t>
                      </a:r>
                      <a:endParaRPr lang="en-IN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4890709"/>
                  </a:ext>
                </a:extLst>
              </a:tr>
              <a:tr h="4833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North</a:t>
                      </a:r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5828</a:t>
                      </a:r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7215989"/>
                  </a:ext>
                </a:extLst>
              </a:tr>
              <a:tr h="4833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East</a:t>
                      </a:r>
                      <a:endParaRPr lang="en-IN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950</a:t>
                      </a:r>
                      <a:endParaRPr lang="en-IN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899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124151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E6C2405-99D1-DCD7-7C0F-6E5FA27C3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6615D299-4613-841F-E106-2BDA77834C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D9B4156-5A61-7C1B-C882-4996FAA8C259}"/>
              </a:ext>
            </a:extLst>
          </p:cNvPr>
          <p:cNvSpPr txBox="1"/>
          <p:nvPr/>
        </p:nvSpPr>
        <p:spPr>
          <a:xfrm>
            <a:off x="575187" y="0"/>
            <a:ext cx="11041625" cy="7078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9pPr>
          </a:lstStyle>
          <a:p>
            <a:r>
              <a:rPr lang="en-IN"/>
              <a:t>Customer Behaviour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F37C05-0EDA-8AFE-1D77-F8BE14E49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87" y="874848"/>
            <a:ext cx="11041625" cy="5270311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05521D6-D343-C5FA-DBB6-44FF2E272F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913295"/>
              </p:ext>
            </p:extLst>
          </p:nvPr>
        </p:nvGraphicFramePr>
        <p:xfrm>
          <a:off x="6263148" y="3757833"/>
          <a:ext cx="5353664" cy="23873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6832">
                  <a:extLst>
                    <a:ext uri="{9D8B030D-6E8A-4147-A177-3AD203B41FA5}">
                      <a16:colId xmlns:a16="http://schemas.microsoft.com/office/drawing/2014/main" val="916068055"/>
                    </a:ext>
                  </a:extLst>
                </a:gridCol>
                <a:gridCol w="2676832">
                  <a:extLst>
                    <a:ext uri="{9D8B030D-6E8A-4147-A177-3AD203B41FA5}">
                      <a16:colId xmlns:a16="http://schemas.microsoft.com/office/drawing/2014/main" val="3702353349"/>
                    </a:ext>
                  </a:extLst>
                </a:gridCol>
              </a:tblGrid>
              <a:tr h="598182">
                <a:tc>
                  <a:txBody>
                    <a:bodyPr/>
                    <a:lstStyle/>
                    <a:p>
                      <a:r>
                        <a:rPr lang="en-US" dirty="0"/>
                        <a:t>Channel</a:t>
                      </a:r>
                      <a:endParaRPr lang="en-IN" dirty="0"/>
                    </a:p>
                  </a:txBody>
                  <a:tcPr>
                    <a:solidFill>
                      <a:srgbClr val="348E9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rgbClr val="348E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7463897"/>
                  </a:ext>
                </a:extLst>
              </a:tr>
              <a:tr h="59818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Instore</a:t>
                      </a:r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86725</a:t>
                      </a:r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8203706"/>
                  </a:ext>
                </a:extLst>
              </a:tr>
              <a:tr h="59818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Phone Delivery</a:t>
                      </a:r>
                      <a:endParaRPr lang="en-IN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10284</a:t>
                      </a:r>
                      <a:endParaRPr lang="en-IN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868408"/>
                  </a:ext>
                </a:extLst>
              </a:tr>
              <a:tr h="5927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Online</a:t>
                      </a:r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1573</a:t>
                      </a:r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89194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20861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2FDFDEE-114A-0F1A-70A7-1C38E92AA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381CBF5D-27C5-BD76-45E4-BCB70120AF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22472F3-2998-877A-69DB-7DF9D933264B}"/>
              </a:ext>
            </a:extLst>
          </p:cNvPr>
          <p:cNvSpPr txBox="1"/>
          <p:nvPr/>
        </p:nvSpPr>
        <p:spPr>
          <a:xfrm>
            <a:off x="575187" y="0"/>
            <a:ext cx="11041625" cy="7078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9pPr>
          </a:lstStyle>
          <a:p>
            <a:r>
              <a:rPr lang="en-IN"/>
              <a:t>Customer Behaviour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090B50-2E8A-874E-A897-935B276F92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86" y="840591"/>
            <a:ext cx="11041625" cy="5353797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706D29D-F0E6-D1D6-B8E4-7A196794D4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691288"/>
              </p:ext>
            </p:extLst>
          </p:nvPr>
        </p:nvGraphicFramePr>
        <p:xfrm>
          <a:off x="6253315" y="3757834"/>
          <a:ext cx="5363496" cy="24365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1748">
                  <a:extLst>
                    <a:ext uri="{9D8B030D-6E8A-4147-A177-3AD203B41FA5}">
                      <a16:colId xmlns:a16="http://schemas.microsoft.com/office/drawing/2014/main" val="2492829562"/>
                    </a:ext>
                  </a:extLst>
                </a:gridCol>
                <a:gridCol w="2681748">
                  <a:extLst>
                    <a:ext uri="{9D8B030D-6E8A-4147-A177-3AD203B41FA5}">
                      <a16:colId xmlns:a16="http://schemas.microsoft.com/office/drawing/2014/main" val="3721478583"/>
                    </a:ext>
                  </a:extLst>
                </a:gridCol>
              </a:tblGrid>
              <a:tr h="48731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Payment </a:t>
                      </a:r>
                      <a:r>
                        <a:rPr lang="en-US" dirty="0" err="1"/>
                        <a:t>Mathod</a:t>
                      </a:r>
                      <a:endParaRPr lang="en-IN" dirty="0"/>
                    </a:p>
                  </a:txBody>
                  <a:tcPr>
                    <a:solidFill>
                      <a:srgbClr val="348E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No.Of</a:t>
                      </a:r>
                      <a:r>
                        <a:rPr lang="en-US" dirty="0"/>
                        <a:t> Customers</a:t>
                      </a:r>
                      <a:endParaRPr lang="en-IN" dirty="0"/>
                    </a:p>
                  </a:txBody>
                  <a:tcPr>
                    <a:solidFill>
                      <a:srgbClr val="348E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1198586"/>
                  </a:ext>
                </a:extLst>
              </a:tr>
              <a:tr h="48731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Credit</a:t>
                      </a:r>
                      <a:r>
                        <a:rPr lang="en-IN" dirty="0"/>
                        <a:t>_Card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75931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2553386"/>
                  </a:ext>
                </a:extLst>
              </a:tr>
              <a:tr h="48731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UPI/Cash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19603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835465"/>
                  </a:ext>
                </a:extLst>
              </a:tr>
              <a:tr h="48731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Voucher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3765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095959"/>
                  </a:ext>
                </a:extLst>
              </a:tr>
              <a:tr h="48731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Debit Card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1521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373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903512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6CEE9A9-A259-D132-F69A-ABC05CBD4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7227E498-5015-C439-CFD4-C6D7E69785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F245FD2-F42B-8AE7-0BF7-950C499799F1}"/>
              </a:ext>
            </a:extLst>
          </p:cNvPr>
          <p:cNvSpPr txBox="1"/>
          <p:nvPr/>
        </p:nvSpPr>
        <p:spPr>
          <a:xfrm>
            <a:off x="575187" y="0"/>
            <a:ext cx="11041625" cy="7078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9pPr>
          </a:lstStyle>
          <a:p>
            <a:r>
              <a:rPr lang="en-IN"/>
              <a:t>Customer Behaviour</a:t>
            </a:r>
            <a:endParaRPr lang="en-IN" dirty="0"/>
          </a:p>
        </p:txBody>
      </p:sp>
      <p:sp>
        <p:nvSpPr>
          <p:cNvPr id="2" name="object 8">
            <a:extLst>
              <a:ext uri="{FF2B5EF4-FFF2-40B4-BE49-F238E27FC236}">
                <a16:creationId xmlns:a16="http://schemas.microsoft.com/office/drawing/2014/main" id="{2EC18D40-8861-C56E-6767-E1199544EB6E}"/>
              </a:ext>
            </a:extLst>
          </p:cNvPr>
          <p:cNvSpPr txBox="1"/>
          <p:nvPr/>
        </p:nvSpPr>
        <p:spPr>
          <a:xfrm>
            <a:off x="575187" y="854647"/>
            <a:ext cx="11041625" cy="529414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3020">
              <a:lnSpc>
                <a:spcPct val="100000"/>
              </a:lnSpc>
              <a:spcBef>
                <a:spcPts val="130"/>
              </a:spcBef>
            </a:pPr>
            <a:r>
              <a:rPr lang="en-US" sz="2000" b="1" dirty="0">
                <a:latin typeface="Calibri"/>
                <a:cs typeface="Calibri"/>
              </a:rPr>
              <a:t>Gender</a:t>
            </a:r>
            <a:r>
              <a:rPr lang="en-US" sz="2000" b="1" spc="100" dirty="0">
                <a:latin typeface="Calibri"/>
                <a:cs typeface="Calibri"/>
              </a:rPr>
              <a:t> </a:t>
            </a:r>
            <a:r>
              <a:rPr lang="en-US" sz="2000" b="1" spc="-10" dirty="0">
                <a:latin typeface="Calibri"/>
                <a:cs typeface="Calibri"/>
              </a:rPr>
              <a:t>Distribution</a:t>
            </a:r>
            <a:endParaRPr lang="en-US" sz="2000" dirty="0">
              <a:latin typeface="Calibri"/>
              <a:cs typeface="Calibri"/>
            </a:endParaRPr>
          </a:p>
          <a:p>
            <a:pPr marL="33020" marR="601980">
              <a:spcBef>
                <a:spcPts val="15"/>
              </a:spcBef>
            </a:pPr>
            <a:r>
              <a:rPr lang="en-US" dirty="0">
                <a:latin typeface="Calibri"/>
                <a:cs typeface="Calibri"/>
              </a:rPr>
              <a:t>Observation:</a:t>
            </a:r>
            <a:r>
              <a:rPr lang="en-US" spc="1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The</a:t>
            </a:r>
            <a:r>
              <a:rPr lang="en-US" spc="-1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customer</a:t>
            </a:r>
            <a:r>
              <a:rPr lang="en-US" spc="-1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base</a:t>
            </a:r>
            <a:r>
              <a:rPr lang="en-US" spc="-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has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more</a:t>
            </a:r>
            <a:r>
              <a:rPr lang="en-US" spc="-3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female</a:t>
            </a:r>
            <a:r>
              <a:rPr lang="en-US" spc="-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customers</a:t>
            </a:r>
            <a:r>
              <a:rPr lang="en-US" spc="-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(</a:t>
            </a:r>
            <a:r>
              <a:rPr lang="en-US" spc="-10" dirty="0">
                <a:latin typeface="Calibri"/>
                <a:cs typeface="Calibri"/>
              </a:rPr>
              <a:t>69462</a:t>
            </a:r>
            <a:r>
              <a:rPr lang="en-US" dirty="0">
                <a:latin typeface="Calibri"/>
                <a:cs typeface="Calibri"/>
              </a:rPr>
              <a:t>)</a:t>
            </a:r>
            <a:r>
              <a:rPr lang="en-US" spc="-2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than</a:t>
            </a:r>
            <a:r>
              <a:rPr lang="en-US" spc="-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male</a:t>
            </a:r>
            <a:r>
              <a:rPr lang="en-US" spc="-1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(</a:t>
            </a:r>
            <a:r>
              <a:rPr lang="en-US" spc="-10" dirty="0">
                <a:latin typeface="Calibri"/>
                <a:cs typeface="Calibri"/>
              </a:rPr>
              <a:t>29979</a:t>
            </a:r>
            <a:r>
              <a:rPr lang="en-US" dirty="0">
                <a:latin typeface="Calibri"/>
                <a:cs typeface="Calibri"/>
              </a:rPr>
              <a:t>).</a:t>
            </a:r>
            <a:r>
              <a:rPr lang="en-US" spc="-2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Female</a:t>
            </a:r>
            <a:r>
              <a:rPr lang="en-US" spc="-10" dirty="0">
                <a:latin typeface="Calibri"/>
                <a:cs typeface="Calibri"/>
              </a:rPr>
              <a:t> customers</a:t>
            </a:r>
            <a:r>
              <a:rPr lang="en-US" spc="50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contributed</a:t>
            </a:r>
            <a:r>
              <a:rPr lang="en-US" spc="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to</a:t>
            </a:r>
            <a:r>
              <a:rPr lang="en-US" spc="-2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</a:t>
            </a:r>
            <a:r>
              <a:rPr lang="en-US" spc="-3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higher sales</a:t>
            </a:r>
            <a:r>
              <a:rPr lang="en-US" spc="-1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percentage</a:t>
            </a:r>
            <a:r>
              <a:rPr lang="en-US" spc="1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than</a:t>
            </a:r>
            <a:r>
              <a:rPr lang="en-US" spc="-1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males. </a:t>
            </a:r>
          </a:p>
          <a:p>
            <a:pPr marL="33020" marR="601980">
              <a:lnSpc>
                <a:spcPct val="100000"/>
              </a:lnSpc>
              <a:spcBef>
                <a:spcPts val="15"/>
              </a:spcBef>
            </a:pPr>
            <a:endParaRPr lang="en-US" sz="1100" spc="-10" dirty="0">
              <a:latin typeface="Calibri"/>
              <a:cs typeface="Calibri"/>
            </a:endParaRPr>
          </a:p>
          <a:p>
            <a:pPr marL="27305">
              <a:lnSpc>
                <a:spcPct val="100000"/>
              </a:lnSpc>
              <a:spcBef>
                <a:spcPts val="365"/>
              </a:spcBef>
            </a:pPr>
            <a:r>
              <a:rPr lang="en-US" sz="2000" b="1" dirty="0">
                <a:latin typeface="Calibri"/>
                <a:cs typeface="Calibri"/>
              </a:rPr>
              <a:t>One-Time</a:t>
            </a:r>
            <a:r>
              <a:rPr lang="en-US" sz="2000" b="1" spc="55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Buyers</a:t>
            </a:r>
            <a:r>
              <a:rPr lang="en-US" sz="2000" b="1" spc="60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vs</a:t>
            </a:r>
            <a:r>
              <a:rPr lang="en-US" sz="2000" b="1" spc="60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Repeat</a:t>
            </a:r>
            <a:r>
              <a:rPr lang="en-US" sz="2000" b="1" spc="65" dirty="0">
                <a:latin typeface="Calibri"/>
                <a:cs typeface="Calibri"/>
              </a:rPr>
              <a:t> </a:t>
            </a:r>
            <a:r>
              <a:rPr lang="en-US" sz="2000" b="1" spc="-10" dirty="0">
                <a:latin typeface="Calibri"/>
                <a:cs typeface="Calibri"/>
              </a:rPr>
              <a:t>Buyers</a:t>
            </a:r>
            <a:endParaRPr lang="en-US" sz="2000" dirty="0">
              <a:latin typeface="Calibri"/>
              <a:cs typeface="Calibri"/>
            </a:endParaRPr>
          </a:p>
          <a:p>
            <a:pPr marL="27305" marR="5080">
              <a:lnSpc>
                <a:spcPct val="100000"/>
              </a:lnSpc>
              <a:spcBef>
                <a:spcPts val="15"/>
              </a:spcBef>
            </a:pPr>
            <a:r>
              <a:rPr lang="en-US" dirty="0">
                <a:latin typeface="Calibri"/>
                <a:cs typeface="Calibri"/>
              </a:rPr>
              <a:t>Observation:</a:t>
            </a:r>
            <a:r>
              <a:rPr lang="en-US" spc="1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The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customer</a:t>
            </a:r>
            <a:r>
              <a:rPr lang="en-US" spc="-1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base</a:t>
            </a:r>
            <a:r>
              <a:rPr lang="en-US" spc="-1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has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significantly</a:t>
            </a:r>
            <a:r>
              <a:rPr lang="en-US" spc="2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high</a:t>
            </a:r>
            <a:r>
              <a:rPr lang="en-US" spc="-1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number</a:t>
            </a:r>
            <a:r>
              <a:rPr lang="en-US" spc="-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of</a:t>
            </a:r>
            <a:r>
              <a:rPr lang="en-US" spc="-3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one-</a:t>
            </a:r>
            <a:r>
              <a:rPr lang="en-US" dirty="0">
                <a:latin typeface="Calibri"/>
                <a:cs typeface="Calibri"/>
              </a:rPr>
              <a:t>time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buyers</a:t>
            </a:r>
            <a:r>
              <a:rPr lang="en-US" spc="-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(98537)</a:t>
            </a:r>
            <a:r>
              <a:rPr lang="en-US" spc="-2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compared</a:t>
            </a:r>
            <a:r>
              <a:rPr lang="en-US" spc="-1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to</a:t>
            </a:r>
            <a:r>
              <a:rPr lang="en-US" spc="-2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repeat</a:t>
            </a:r>
            <a:r>
              <a:rPr lang="en-US" spc="-1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buyers </a:t>
            </a:r>
            <a:r>
              <a:rPr lang="en-US" spc="-20" dirty="0">
                <a:latin typeface="Calibri"/>
                <a:cs typeface="Calibri"/>
              </a:rPr>
              <a:t>(35)</a:t>
            </a:r>
            <a:r>
              <a:rPr lang="en-US" spc="50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Recommendation</a:t>
            </a:r>
            <a:r>
              <a:rPr lang="en-US" b="1" spc="-10" dirty="0">
                <a:latin typeface="Calibri"/>
                <a:cs typeface="Calibri"/>
              </a:rPr>
              <a:t>:</a:t>
            </a:r>
            <a:r>
              <a:rPr lang="en-US" b="1" spc="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Introduce</a:t>
            </a:r>
            <a:r>
              <a:rPr lang="en-US" spc="-1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loyalty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programs</a:t>
            </a:r>
            <a:r>
              <a:rPr lang="en-US" spc="-1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or</a:t>
            </a:r>
            <a:r>
              <a:rPr lang="en-US" spc="-2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personalized</a:t>
            </a:r>
            <a:r>
              <a:rPr lang="en-US" spc="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marketing to</a:t>
            </a:r>
            <a:r>
              <a:rPr lang="en-US" spc="-2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encourage repeat</a:t>
            </a:r>
            <a:r>
              <a:rPr lang="en-US" spc="-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purchases.</a:t>
            </a:r>
            <a:endParaRPr lang="en-US" dirty="0">
              <a:latin typeface="Calibri"/>
              <a:cs typeface="Calibri"/>
            </a:endParaRPr>
          </a:p>
          <a:p>
            <a:pPr marL="33020" marR="601980">
              <a:lnSpc>
                <a:spcPct val="100000"/>
              </a:lnSpc>
              <a:spcBef>
                <a:spcPts val="15"/>
              </a:spcBef>
            </a:pPr>
            <a:endParaRPr lang="en-IN" sz="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lang="en-US" sz="2000" b="1" dirty="0">
                <a:latin typeface="Calibri"/>
                <a:cs typeface="Calibri"/>
              </a:rPr>
              <a:t>Customer</a:t>
            </a:r>
            <a:r>
              <a:rPr lang="en-US" sz="2000" b="1" spc="95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Segmentation</a:t>
            </a:r>
            <a:r>
              <a:rPr lang="en-US" sz="2000" b="1" spc="75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by</a:t>
            </a:r>
            <a:r>
              <a:rPr lang="en-US" sz="2000" b="1" spc="90" dirty="0">
                <a:latin typeface="Calibri"/>
                <a:cs typeface="Calibri"/>
              </a:rPr>
              <a:t> </a:t>
            </a:r>
            <a:r>
              <a:rPr lang="en-US" sz="2000" b="1" spc="-10" dirty="0">
                <a:latin typeface="Calibri"/>
                <a:cs typeface="Calibri"/>
              </a:rPr>
              <a:t>Revenue</a:t>
            </a:r>
            <a:endParaRPr lang="en-US"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n-US" spc="-10" dirty="0">
                <a:latin typeface="Calibri"/>
                <a:cs typeface="Calibri"/>
              </a:rPr>
              <a:t>Observation:</a:t>
            </a:r>
            <a:endParaRPr lang="en-US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majority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customers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fall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into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low-revenue segment,</a:t>
            </a:r>
            <a:r>
              <a:rPr lang="en-US" sz="2000" spc="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generating</a:t>
            </a:r>
            <a:r>
              <a:rPr lang="en-US" sz="2000" spc="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less</a:t>
            </a:r>
            <a:r>
              <a:rPr lang="en-US" sz="2000" spc="-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than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3K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revenue.</a:t>
            </a:r>
          </a:p>
          <a:p>
            <a:pPr marL="12700">
              <a:lnSpc>
                <a:spcPct val="100000"/>
              </a:lnSpc>
            </a:pPr>
            <a:endParaRPr lang="en-US" sz="600" dirty="0">
              <a:latin typeface="Calibri"/>
              <a:cs typeface="Calibri"/>
            </a:endParaRPr>
          </a:p>
          <a:p>
            <a:pPr marL="12700" marR="642620">
              <a:lnSpc>
                <a:spcPts val="1090"/>
              </a:lnSpc>
              <a:spcBef>
                <a:spcPts val="30"/>
              </a:spcBef>
            </a:pPr>
            <a:r>
              <a:rPr lang="en-US" sz="2000" spc="-10" dirty="0">
                <a:latin typeface="Calibri"/>
                <a:cs typeface="Calibri"/>
              </a:rPr>
              <a:t>Medium-</a:t>
            </a:r>
            <a:r>
              <a:rPr lang="en-US" sz="2000" dirty="0">
                <a:latin typeface="Calibri"/>
                <a:cs typeface="Calibri"/>
              </a:rPr>
              <a:t>revenue</a:t>
            </a:r>
            <a:r>
              <a:rPr lang="en-US" sz="2000" spc="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customers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(3K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6K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revenue)</a:t>
            </a:r>
            <a:r>
              <a:rPr lang="en-US" sz="2000" spc="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are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fewer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number compared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low-revenue</a:t>
            </a:r>
          </a:p>
          <a:p>
            <a:pPr marL="12700" marR="642620">
              <a:lnSpc>
                <a:spcPts val="1090"/>
              </a:lnSpc>
              <a:spcBef>
                <a:spcPts val="30"/>
              </a:spcBef>
            </a:pPr>
            <a:endParaRPr lang="en-US" sz="1100" dirty="0">
              <a:latin typeface="Calibri"/>
              <a:cs typeface="Calibri"/>
            </a:endParaRPr>
          </a:p>
          <a:p>
            <a:pPr marL="12700" marR="642620">
              <a:lnSpc>
                <a:spcPts val="1090"/>
              </a:lnSpc>
              <a:spcBef>
                <a:spcPts val="30"/>
              </a:spcBef>
            </a:pPr>
            <a:r>
              <a:rPr lang="en-US" sz="2000" spc="-10" dirty="0">
                <a:latin typeface="Calibri"/>
                <a:cs typeface="Calibri"/>
              </a:rPr>
              <a:t>customers.</a:t>
            </a:r>
            <a:r>
              <a:rPr lang="en-US" sz="2000" spc="50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High-</a:t>
            </a:r>
            <a:r>
              <a:rPr lang="en-US" sz="2000" dirty="0">
                <a:latin typeface="Calibri"/>
                <a:cs typeface="Calibri"/>
              </a:rPr>
              <a:t>revenue</a:t>
            </a:r>
            <a:r>
              <a:rPr lang="en-US" sz="2000" spc="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customers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are</a:t>
            </a:r>
            <a:r>
              <a:rPr lang="en-US" sz="2000" spc="1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significantly</a:t>
            </a:r>
            <a:r>
              <a:rPr lang="en-US" sz="2000" spc="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lower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than</a:t>
            </a:r>
            <a:r>
              <a:rPr lang="en-US" sz="2000" spc="-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above.</a:t>
            </a:r>
          </a:p>
          <a:p>
            <a:pPr marL="12700" marR="642620">
              <a:lnSpc>
                <a:spcPts val="1090"/>
              </a:lnSpc>
              <a:spcBef>
                <a:spcPts val="30"/>
              </a:spcBef>
            </a:pPr>
            <a:endParaRPr lang="en-US" sz="900" spc="-1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lang="en-US" sz="2000" b="1" spc="-10" dirty="0">
                <a:latin typeface="Calibri"/>
                <a:cs typeface="Calibri"/>
              </a:rPr>
              <a:t>Recommendations</a:t>
            </a:r>
          </a:p>
          <a:p>
            <a:pPr marL="12700">
              <a:lnSpc>
                <a:spcPct val="100000"/>
              </a:lnSpc>
              <a:spcBef>
                <a:spcPts val="1040"/>
              </a:spcBef>
            </a:pPr>
            <a:endParaRPr lang="en-US" sz="400" b="1" dirty="0">
              <a:latin typeface="Calibri"/>
              <a:cs typeface="Calibri"/>
            </a:endParaRPr>
          </a:p>
          <a:p>
            <a:pPr marL="12700" marR="213360">
              <a:lnSpc>
                <a:spcPts val="1090"/>
              </a:lnSpc>
              <a:spcBef>
                <a:spcPts val="30"/>
              </a:spcBef>
            </a:pPr>
            <a:r>
              <a:rPr lang="en-US" sz="2000" dirty="0">
                <a:latin typeface="Calibri"/>
                <a:cs typeface="Calibri"/>
              </a:rPr>
              <a:t>Targeted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Marketing:</a:t>
            </a:r>
            <a:r>
              <a:rPr lang="en-US" sz="2000" spc="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Focus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marketing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efforts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on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converting </a:t>
            </a:r>
            <a:r>
              <a:rPr lang="en-US" sz="2000" spc="-10" dirty="0">
                <a:latin typeface="Calibri"/>
                <a:cs typeface="Calibri"/>
              </a:rPr>
              <a:t>low-</a:t>
            </a:r>
            <a:r>
              <a:rPr lang="en-US" sz="2000" dirty="0">
                <a:latin typeface="Calibri"/>
                <a:cs typeface="Calibri"/>
              </a:rPr>
              <a:t>revenue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customers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medium-</a:t>
            </a:r>
            <a:r>
              <a:rPr lang="en-US" sz="2000" dirty="0">
                <a:latin typeface="Calibri"/>
                <a:cs typeface="Calibri"/>
              </a:rPr>
              <a:t>revenue</a:t>
            </a:r>
          </a:p>
          <a:p>
            <a:pPr marL="12700" marR="213360">
              <a:lnSpc>
                <a:spcPts val="1090"/>
              </a:lnSpc>
              <a:spcBef>
                <a:spcPts val="30"/>
              </a:spcBef>
            </a:pPr>
            <a:endParaRPr lang="en-US" sz="2000" dirty="0">
              <a:latin typeface="Calibri"/>
              <a:cs typeface="Calibri"/>
            </a:endParaRPr>
          </a:p>
          <a:p>
            <a:pPr marL="12700" marR="213360">
              <a:lnSpc>
                <a:spcPts val="1090"/>
              </a:lnSpc>
              <a:spcBef>
                <a:spcPts val="30"/>
              </a:spcBef>
            </a:pPr>
            <a:r>
              <a:rPr lang="en-US" sz="2000" dirty="0">
                <a:latin typeface="Calibri"/>
                <a:cs typeface="Calibri"/>
              </a:rPr>
              <a:t>customers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by</a:t>
            </a:r>
            <a:r>
              <a:rPr lang="en-US" sz="2000" spc="50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offering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personalized</a:t>
            </a:r>
            <a:r>
              <a:rPr lang="en-US" sz="2000" spc="-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promotions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loyalty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programs.</a:t>
            </a:r>
          </a:p>
          <a:p>
            <a:pPr marL="12700" marR="213360">
              <a:lnSpc>
                <a:spcPts val="1090"/>
              </a:lnSpc>
              <a:spcBef>
                <a:spcPts val="30"/>
              </a:spcBef>
            </a:pPr>
            <a:endParaRPr lang="en-US" sz="2000" dirty="0">
              <a:latin typeface="Calibri"/>
              <a:cs typeface="Calibri"/>
            </a:endParaRPr>
          </a:p>
          <a:p>
            <a:pPr marL="12700" marR="227965">
              <a:lnSpc>
                <a:spcPts val="1080"/>
              </a:lnSpc>
            </a:pPr>
            <a:r>
              <a:rPr lang="en-US" sz="2000" dirty="0">
                <a:latin typeface="Calibri"/>
                <a:cs typeface="Calibri"/>
              </a:rPr>
              <a:t>Customer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Retention:</a:t>
            </a:r>
            <a:r>
              <a:rPr lang="en-US" sz="2000" spc="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Implement</a:t>
            </a:r>
            <a:r>
              <a:rPr lang="en-US" sz="2000" spc="-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strategies</a:t>
            </a:r>
            <a:r>
              <a:rPr lang="en-US" sz="2000" spc="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retain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medium-</a:t>
            </a:r>
            <a:r>
              <a:rPr lang="en-US" sz="2000" dirty="0">
                <a:latin typeface="Calibri"/>
                <a:cs typeface="Calibri"/>
              </a:rPr>
              <a:t>revenue</a:t>
            </a:r>
            <a:r>
              <a:rPr lang="en-US" sz="2000" spc="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customers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encourage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them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</a:p>
          <a:p>
            <a:pPr marL="12700" marR="227965">
              <a:lnSpc>
                <a:spcPts val="1080"/>
              </a:lnSpc>
            </a:pPr>
            <a:endParaRPr lang="en-US" sz="2000" spc="-25" dirty="0">
              <a:latin typeface="Calibri"/>
              <a:cs typeface="Calibri"/>
            </a:endParaRPr>
          </a:p>
          <a:p>
            <a:pPr marL="12700" marR="227965">
              <a:lnSpc>
                <a:spcPts val="1080"/>
              </a:lnSpc>
            </a:pP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move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-25" dirty="0">
                <a:latin typeface="Calibri"/>
                <a:cs typeface="Calibri"/>
              </a:rPr>
              <a:t> the</a:t>
            </a:r>
            <a:r>
              <a:rPr lang="en-US" sz="2000" spc="50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high-</a:t>
            </a:r>
            <a:r>
              <a:rPr lang="en-US" sz="2000" dirty="0">
                <a:latin typeface="Calibri"/>
                <a:cs typeface="Calibri"/>
              </a:rPr>
              <a:t>revenue</a:t>
            </a:r>
            <a:r>
              <a:rPr lang="en-US" sz="2000" spc="1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segment.</a:t>
            </a:r>
            <a:endParaRPr lang="en-US"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0430312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05ED94D-8353-BF66-155A-86082D086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5E3BB54B-F524-6805-D08B-847AB4D040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84696E2-39D9-54F7-5A4D-5F8C7687DFEA}"/>
              </a:ext>
            </a:extLst>
          </p:cNvPr>
          <p:cNvSpPr txBox="1"/>
          <p:nvPr/>
        </p:nvSpPr>
        <p:spPr>
          <a:xfrm>
            <a:off x="575187" y="0"/>
            <a:ext cx="11041625" cy="7078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9pPr>
          </a:lstStyle>
          <a:p>
            <a:r>
              <a:rPr lang="en-IN"/>
              <a:t>Customer Behaviour</a:t>
            </a:r>
            <a:endParaRPr lang="en-IN" dirty="0"/>
          </a:p>
        </p:txBody>
      </p:sp>
      <p:sp>
        <p:nvSpPr>
          <p:cNvPr id="2" name="object 14">
            <a:extLst>
              <a:ext uri="{FF2B5EF4-FFF2-40B4-BE49-F238E27FC236}">
                <a16:creationId xmlns:a16="http://schemas.microsoft.com/office/drawing/2014/main" id="{D50FF92A-FF98-F9DB-13D2-D5CD777272CE}"/>
              </a:ext>
            </a:extLst>
          </p:cNvPr>
          <p:cNvSpPr txBox="1"/>
          <p:nvPr/>
        </p:nvSpPr>
        <p:spPr>
          <a:xfrm>
            <a:off x="575186" y="908860"/>
            <a:ext cx="11041625" cy="51110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00" b="1" dirty="0">
                <a:latin typeface="Calibri"/>
                <a:cs typeface="Calibri"/>
              </a:rPr>
              <a:t>RFM</a:t>
            </a:r>
            <a:r>
              <a:rPr sz="2400" b="1" spc="5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Segmentation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1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000" b="1" spc="-10" dirty="0">
                <a:latin typeface="Calibri"/>
                <a:cs typeface="Calibri"/>
              </a:rPr>
              <a:t>Observations:</a:t>
            </a:r>
            <a:endParaRPr sz="2000" dirty="0">
              <a:latin typeface="Calibri"/>
              <a:cs typeface="Calibri"/>
            </a:endParaRPr>
          </a:p>
          <a:p>
            <a:pPr marL="196850" indent="-184150">
              <a:lnSpc>
                <a:spcPct val="100000"/>
              </a:lnSpc>
              <a:spcBef>
                <a:spcPts val="1085"/>
              </a:spcBef>
              <a:buFont typeface="Arial"/>
              <a:buChar char="•"/>
              <a:tabLst>
                <a:tab pos="196850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majority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customers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fall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into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 Standard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segment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lang="en-IN" sz="2000" dirty="0">
                <a:latin typeface="Calibri"/>
                <a:cs typeface="Calibri"/>
              </a:rPr>
              <a:t>53077</a:t>
            </a:r>
            <a:r>
              <a:rPr sz="2000" dirty="0">
                <a:latin typeface="Calibri"/>
                <a:cs typeface="Calibri"/>
              </a:rPr>
              <a:t>K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lang="en-IN" sz="2000" dirty="0">
                <a:latin typeface="Calibri"/>
                <a:cs typeface="Calibri"/>
              </a:rPr>
              <a:t>53.85</a:t>
            </a:r>
            <a:r>
              <a:rPr sz="2000" dirty="0">
                <a:latin typeface="Calibri"/>
                <a:cs typeface="Calibri"/>
              </a:rPr>
              <a:t>%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)</a:t>
            </a:r>
            <a:endParaRPr sz="2000" dirty="0">
              <a:latin typeface="Calibri"/>
              <a:cs typeface="Calibri"/>
            </a:endParaRPr>
          </a:p>
          <a:p>
            <a:pPr marL="196850" marR="265430" indent="-184785">
              <a:lnSpc>
                <a:spcPct val="100000"/>
              </a:lnSpc>
              <a:spcBef>
                <a:spcPts val="10"/>
              </a:spcBef>
              <a:buFont typeface="Arial"/>
              <a:buChar char="•"/>
              <a:tabLst>
                <a:tab pos="196850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distribution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indicates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large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portion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customers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lang="en-IN" sz="2000" spc="-10" dirty="0">
                <a:latin typeface="Calibri"/>
                <a:cs typeface="Calibri"/>
              </a:rPr>
              <a:t>Gold </a:t>
            </a:r>
            <a:r>
              <a:rPr sz="2000" dirty="0">
                <a:latin typeface="Calibri"/>
                <a:cs typeface="Calibri"/>
              </a:rPr>
              <a:t>segment,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with</a:t>
            </a:r>
            <a:r>
              <a:rPr sz="2000" spc="5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few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customers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higher-</a:t>
            </a:r>
            <a:r>
              <a:rPr sz="2000" dirty="0">
                <a:latin typeface="Calibri"/>
                <a:cs typeface="Calibri"/>
              </a:rPr>
              <a:t>value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lang="en-IN" sz="2000" dirty="0">
                <a:latin typeface="Calibri"/>
                <a:cs typeface="Calibri"/>
              </a:rPr>
              <a:t>Silver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Platinum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segments.</a:t>
            </a: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2000" b="1" spc="-10" dirty="0">
                <a:latin typeface="Calibri"/>
                <a:cs typeface="Calibri"/>
              </a:rPr>
              <a:t>Recommendations:</a:t>
            </a:r>
            <a:endParaRPr sz="2000" dirty="0">
              <a:latin typeface="Calibri"/>
              <a:cs typeface="Calibri"/>
            </a:endParaRPr>
          </a:p>
          <a:p>
            <a:pPr marL="196850" marR="31750" indent="-184785">
              <a:lnSpc>
                <a:spcPct val="101099"/>
              </a:lnSpc>
              <a:spcBef>
                <a:spcPts val="1065"/>
              </a:spcBef>
              <a:buFont typeface="Arial"/>
              <a:buChar char="•"/>
              <a:tabLst>
                <a:tab pos="196850" algn="l"/>
              </a:tabLst>
            </a:pPr>
            <a:r>
              <a:rPr sz="2000" dirty="0">
                <a:latin typeface="Calibri"/>
                <a:cs typeface="Calibri"/>
              </a:rPr>
              <a:t>Develop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targeted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strategies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move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customers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lang="en-IN" sz="2000" dirty="0">
                <a:latin typeface="Calibri"/>
                <a:cs typeface="Calibri"/>
              </a:rPr>
              <a:t>Gold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segment to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higher-</a:t>
            </a:r>
            <a:r>
              <a:rPr sz="2000" dirty="0">
                <a:latin typeface="Calibri"/>
                <a:cs typeface="Calibri"/>
              </a:rPr>
              <a:t>value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segments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like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Gold</a:t>
            </a:r>
            <a:r>
              <a:rPr sz="2000" spc="5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Platinum.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This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could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include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personalized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offers,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exclusive deals,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enhanced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customer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service.</a:t>
            </a:r>
            <a:endParaRPr sz="2000" dirty="0">
              <a:latin typeface="Calibri"/>
              <a:cs typeface="Calibri"/>
            </a:endParaRPr>
          </a:p>
          <a:p>
            <a:pPr marL="196850" marR="5080" indent="-184785">
              <a:lnSpc>
                <a:spcPct val="100000"/>
              </a:lnSpc>
              <a:buFont typeface="Arial"/>
              <a:buChar char="•"/>
              <a:tabLst>
                <a:tab pos="196850" algn="l"/>
              </a:tabLst>
            </a:pPr>
            <a:r>
              <a:rPr sz="2000" dirty="0">
                <a:latin typeface="Calibri"/>
                <a:cs typeface="Calibri"/>
              </a:rPr>
              <a:t>Implement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retention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programs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Gold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Platinum customers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maintain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their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loyalty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encourage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higher</a:t>
            </a:r>
            <a:r>
              <a:rPr sz="2000" spc="5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spending.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Offer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exclusive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benefits and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rewards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these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high-</a:t>
            </a:r>
            <a:r>
              <a:rPr sz="2000" dirty="0">
                <a:latin typeface="Calibri"/>
                <a:cs typeface="Calibri"/>
              </a:rPr>
              <a:t>value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customers.</a:t>
            </a:r>
            <a:endParaRPr lang="en-IN" sz="2000" spc="-10" dirty="0">
              <a:latin typeface="Calibri"/>
              <a:cs typeface="Calibri"/>
            </a:endParaRPr>
          </a:p>
          <a:p>
            <a:pPr marL="196850" marR="5080" indent="-184785">
              <a:lnSpc>
                <a:spcPct val="100000"/>
              </a:lnSpc>
              <a:buFont typeface="Arial"/>
              <a:buChar char="•"/>
              <a:tabLst>
                <a:tab pos="196850" algn="l"/>
              </a:tabLst>
            </a:pPr>
            <a:endParaRPr sz="2000" dirty="0">
              <a:latin typeface="Calibri"/>
              <a:cs typeface="Calibri"/>
            </a:endParaRPr>
          </a:p>
          <a:p>
            <a:pPr marL="196850" marR="86995" indent="-184785">
              <a:lnSpc>
                <a:spcPts val="1090"/>
              </a:lnSpc>
              <a:spcBef>
                <a:spcPts val="30"/>
              </a:spcBef>
              <a:buFont typeface="Arial"/>
              <a:buChar char="•"/>
              <a:tabLst>
                <a:tab pos="196850" algn="l"/>
              </a:tabLst>
            </a:pPr>
            <a:r>
              <a:rPr sz="2000" dirty="0">
                <a:latin typeface="Calibri"/>
                <a:cs typeface="Calibri"/>
              </a:rPr>
              <a:t>Educate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customers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Standard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segment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about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benefits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moving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higher-</a:t>
            </a:r>
            <a:r>
              <a:rPr sz="2000" dirty="0">
                <a:latin typeface="Calibri"/>
                <a:cs typeface="Calibri"/>
              </a:rPr>
              <a:t>value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segments.</a:t>
            </a:r>
            <a:endParaRPr lang="en-IN" sz="2000" dirty="0">
              <a:latin typeface="Calibri"/>
              <a:cs typeface="Calibri"/>
            </a:endParaRPr>
          </a:p>
          <a:p>
            <a:pPr marL="196850" marR="86995" indent="-184785">
              <a:lnSpc>
                <a:spcPts val="1090"/>
              </a:lnSpc>
              <a:spcBef>
                <a:spcPts val="30"/>
              </a:spcBef>
              <a:buFont typeface="Arial"/>
              <a:buChar char="•"/>
              <a:tabLst>
                <a:tab pos="196850" algn="l"/>
              </a:tabLst>
            </a:pPr>
            <a:endParaRPr lang="en-IN" sz="2000" spc="15" dirty="0">
              <a:latin typeface="Calibri"/>
              <a:cs typeface="Calibri"/>
            </a:endParaRPr>
          </a:p>
          <a:p>
            <a:pPr marL="12065" marR="86995">
              <a:lnSpc>
                <a:spcPts val="1090"/>
              </a:lnSpc>
              <a:spcBef>
                <a:spcPts val="30"/>
              </a:spcBef>
              <a:tabLst>
                <a:tab pos="196850" algn="l"/>
              </a:tabLst>
            </a:pPr>
            <a:r>
              <a:rPr lang="en-IN" sz="2000" spc="-10" dirty="0">
                <a:latin typeface="Calibri"/>
                <a:cs typeface="Calibri"/>
              </a:rPr>
              <a:t>   </a:t>
            </a:r>
            <a:r>
              <a:rPr sz="2000" spc="-10" dirty="0">
                <a:latin typeface="Calibri"/>
                <a:cs typeface="Calibri"/>
              </a:rPr>
              <a:t>Highlight</a:t>
            </a:r>
            <a:r>
              <a:rPr sz="2000" spc="5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advantages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frequent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purchases and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higher spending,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such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access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premium</a:t>
            </a:r>
            <a:endParaRPr lang="en-IN" sz="2000" spc="-10" dirty="0">
              <a:latin typeface="Calibri"/>
              <a:cs typeface="Calibri"/>
            </a:endParaRPr>
          </a:p>
          <a:p>
            <a:pPr marL="196850" marR="86995" indent="-184785">
              <a:lnSpc>
                <a:spcPts val="1090"/>
              </a:lnSpc>
              <a:spcBef>
                <a:spcPts val="30"/>
              </a:spcBef>
              <a:buFont typeface="Arial"/>
              <a:buChar char="•"/>
              <a:tabLst>
                <a:tab pos="196850" algn="l"/>
              </a:tabLst>
            </a:pPr>
            <a:endParaRPr lang="en-IN" sz="2000" spc="-10" dirty="0">
              <a:latin typeface="Calibri"/>
              <a:cs typeface="Calibri"/>
            </a:endParaRPr>
          </a:p>
          <a:p>
            <a:pPr marL="12065" marR="86995">
              <a:lnSpc>
                <a:spcPts val="1090"/>
              </a:lnSpc>
              <a:spcBef>
                <a:spcPts val="30"/>
              </a:spcBef>
              <a:tabLst>
                <a:tab pos="196850" algn="l"/>
              </a:tabLst>
            </a:pPr>
            <a:r>
              <a:rPr lang="en-IN" sz="2000" spc="-10" dirty="0">
                <a:latin typeface="Calibri"/>
                <a:cs typeface="Calibri"/>
              </a:rPr>
              <a:t>  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products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services.</a:t>
            </a:r>
            <a:endParaRPr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8765656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862E862-2276-1747-BB6A-4B9B2673F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BCA96AB0-84D7-4037-3640-A35AE3D294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22D5A83-DF64-CD0E-409A-936F056438B7}"/>
              </a:ext>
            </a:extLst>
          </p:cNvPr>
          <p:cNvSpPr txBox="1"/>
          <p:nvPr/>
        </p:nvSpPr>
        <p:spPr>
          <a:xfrm>
            <a:off x="575187" y="0"/>
            <a:ext cx="11041625" cy="7078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9pPr>
          </a:lstStyle>
          <a:p>
            <a:r>
              <a:rPr lang="en-IN"/>
              <a:t>Customer Behaviour</a:t>
            </a:r>
            <a:endParaRPr lang="en-IN" dirty="0"/>
          </a:p>
        </p:txBody>
      </p:sp>
      <p:sp>
        <p:nvSpPr>
          <p:cNvPr id="2" name="object 7">
            <a:extLst>
              <a:ext uri="{FF2B5EF4-FFF2-40B4-BE49-F238E27FC236}">
                <a16:creationId xmlns:a16="http://schemas.microsoft.com/office/drawing/2014/main" id="{E5CCB425-381A-C8DE-5484-7CD42F7012DB}"/>
              </a:ext>
            </a:extLst>
          </p:cNvPr>
          <p:cNvSpPr txBox="1"/>
          <p:nvPr/>
        </p:nvSpPr>
        <p:spPr>
          <a:xfrm>
            <a:off x="575186" y="1258534"/>
            <a:ext cx="11041624" cy="434093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b="1" dirty="0">
                <a:latin typeface="Calibri"/>
                <a:cs typeface="Calibri"/>
              </a:rPr>
              <a:t>Discount</a:t>
            </a:r>
            <a:r>
              <a:rPr sz="2000" b="1" spc="10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Seekers</a:t>
            </a:r>
            <a:r>
              <a:rPr sz="2000" b="1" spc="8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Analysis</a:t>
            </a:r>
            <a:r>
              <a:rPr sz="2000" b="1" spc="80" dirty="0">
                <a:latin typeface="Calibri"/>
                <a:cs typeface="Calibri"/>
              </a:rPr>
              <a:t> </a:t>
            </a:r>
            <a:r>
              <a:rPr sz="2000" b="1" spc="-50" dirty="0">
                <a:latin typeface="Calibri"/>
                <a:cs typeface="Calibri"/>
              </a:rPr>
              <a:t>: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b="1" spc="-10" dirty="0">
                <a:latin typeface="Calibri"/>
                <a:cs typeface="Calibri"/>
              </a:rPr>
              <a:t>Observation</a:t>
            </a:r>
            <a:r>
              <a:rPr b="1" spc="35" dirty="0">
                <a:latin typeface="Calibri"/>
                <a:cs typeface="Calibri"/>
              </a:rPr>
              <a:t> </a:t>
            </a:r>
            <a:r>
              <a:rPr spc="-50" dirty="0">
                <a:latin typeface="Calibri"/>
                <a:cs typeface="Calibri"/>
              </a:rPr>
              <a:t>:</a:t>
            </a:r>
            <a:endParaRPr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dirty="0">
                <a:latin typeface="Calibri"/>
                <a:cs typeface="Calibri"/>
              </a:rPr>
              <a:t>There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are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more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non-</a:t>
            </a:r>
            <a:r>
              <a:rPr dirty="0">
                <a:latin typeface="Calibri"/>
                <a:cs typeface="Calibri"/>
              </a:rPr>
              <a:t>discount seeker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customers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(</a:t>
            </a:r>
            <a:r>
              <a:rPr lang="en-IN" dirty="0">
                <a:latin typeface="Calibri"/>
                <a:cs typeface="Calibri"/>
              </a:rPr>
              <a:t>58387</a:t>
            </a:r>
            <a:r>
              <a:rPr dirty="0">
                <a:latin typeface="Calibri"/>
                <a:cs typeface="Calibri"/>
              </a:rPr>
              <a:t>)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compared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discount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seekers </a:t>
            </a:r>
            <a:r>
              <a:rPr spc="-10" dirty="0">
                <a:latin typeface="Calibri"/>
                <a:cs typeface="Calibri"/>
              </a:rPr>
              <a:t>(</a:t>
            </a:r>
            <a:r>
              <a:rPr lang="en-IN" spc="-10" dirty="0">
                <a:latin typeface="Calibri"/>
                <a:cs typeface="Calibri"/>
              </a:rPr>
              <a:t>40185</a:t>
            </a:r>
            <a:r>
              <a:rPr spc="-10" dirty="0">
                <a:latin typeface="Calibri"/>
                <a:cs typeface="Calibri"/>
              </a:rPr>
              <a:t>).</a:t>
            </a:r>
            <a:endParaRPr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>
                <a:latin typeface="Calibri"/>
                <a:cs typeface="Calibri"/>
              </a:rPr>
              <a:t>Discount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seeking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customer’s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mostly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preferred stores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States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like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Andhra Pradesh (Store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: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ST1</a:t>
            </a:r>
            <a:r>
              <a:rPr lang="en-IN" dirty="0">
                <a:latin typeface="Calibri"/>
                <a:cs typeface="Calibri"/>
              </a:rPr>
              <a:t>43</a:t>
            </a:r>
            <a:r>
              <a:rPr dirty="0">
                <a:latin typeface="Calibri"/>
                <a:cs typeface="Calibri"/>
              </a:rPr>
              <a:t>)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Gujarat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are</a:t>
            </a:r>
            <a:endParaRPr lang="en-IN" spc="-25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endParaRPr sz="600" dirty="0">
              <a:latin typeface="Calibri"/>
              <a:cs typeface="Calibri"/>
            </a:endParaRPr>
          </a:p>
          <a:p>
            <a:pPr marL="12700" marR="838200">
              <a:lnSpc>
                <a:spcPts val="1090"/>
              </a:lnSpc>
              <a:spcBef>
                <a:spcPts val="25"/>
              </a:spcBef>
            </a:pPr>
            <a:r>
              <a:rPr dirty="0">
                <a:latin typeface="Calibri"/>
                <a:cs typeface="Calibri"/>
              </a:rPr>
              <a:t>(Store: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ST1</a:t>
            </a:r>
            <a:r>
              <a:rPr lang="en-IN" dirty="0">
                <a:latin typeface="Calibri"/>
                <a:cs typeface="Calibri"/>
              </a:rPr>
              <a:t>32</a:t>
            </a:r>
            <a:r>
              <a:rPr dirty="0">
                <a:latin typeface="Calibri"/>
                <a:cs typeface="Calibri"/>
              </a:rPr>
              <a:t>)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indicating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these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stores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have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high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engagement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with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discount seeking</a:t>
            </a:r>
            <a:r>
              <a:rPr spc="16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customer</a:t>
            </a:r>
            <a:r>
              <a:rPr spc="50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South</a:t>
            </a:r>
            <a:endParaRPr lang="en-IN" dirty="0">
              <a:latin typeface="Calibri"/>
              <a:cs typeface="Calibri"/>
            </a:endParaRPr>
          </a:p>
          <a:p>
            <a:pPr marL="12700" marR="838200">
              <a:lnSpc>
                <a:spcPts val="1090"/>
              </a:lnSpc>
              <a:spcBef>
                <a:spcPts val="25"/>
              </a:spcBef>
            </a:pPr>
            <a:endParaRPr lang="en-IN" spc="145" dirty="0">
              <a:latin typeface="Calibri"/>
              <a:cs typeface="Calibri"/>
            </a:endParaRPr>
          </a:p>
          <a:p>
            <a:pPr marL="12700" marR="838200">
              <a:lnSpc>
                <a:spcPts val="1090"/>
              </a:lnSpc>
              <a:spcBef>
                <a:spcPts val="25"/>
              </a:spcBef>
            </a:pPr>
            <a:r>
              <a:rPr lang="en-IN" spc="1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region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was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seen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have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highest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percentage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unique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customers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seeking </a:t>
            </a:r>
            <a:r>
              <a:rPr spc="-10" dirty="0">
                <a:latin typeface="Calibri"/>
                <a:cs typeface="Calibri"/>
              </a:rPr>
              <a:t>discount.</a:t>
            </a:r>
            <a:endParaRPr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b="1" spc="-10" dirty="0">
                <a:latin typeface="Calibri"/>
                <a:cs typeface="Calibri"/>
              </a:rPr>
              <a:t>Recommendations</a:t>
            </a:r>
            <a:r>
              <a:rPr b="1" spc="55" dirty="0">
                <a:latin typeface="Calibri"/>
                <a:cs typeface="Calibri"/>
              </a:rPr>
              <a:t> </a:t>
            </a:r>
            <a:r>
              <a:rPr spc="-50" dirty="0">
                <a:latin typeface="Calibri"/>
                <a:cs typeface="Calibri"/>
              </a:rPr>
              <a:t>:</a:t>
            </a:r>
            <a:endParaRPr dirty="0">
              <a:latin typeface="Calibri"/>
              <a:cs typeface="Calibri"/>
            </a:endParaRPr>
          </a:p>
          <a:p>
            <a:pPr marL="196850" marR="5080" indent="-184785">
              <a:lnSpc>
                <a:spcPct val="100000"/>
              </a:lnSpc>
              <a:spcBef>
                <a:spcPts val="1090"/>
              </a:spcBef>
              <a:buFont typeface="Arial"/>
              <a:buChar char="•"/>
              <a:tabLst>
                <a:tab pos="196850" algn="l"/>
              </a:tabLst>
            </a:pPr>
            <a:r>
              <a:rPr dirty="0">
                <a:latin typeface="Calibri"/>
                <a:cs typeface="Calibri"/>
              </a:rPr>
              <a:t>Analyze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strategies</a:t>
            </a:r>
            <a:r>
              <a:rPr spc="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used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by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top-</a:t>
            </a:r>
            <a:r>
              <a:rPr dirty="0">
                <a:latin typeface="Calibri"/>
                <a:cs typeface="Calibri"/>
              </a:rPr>
              <a:t>performing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stores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(ST1</a:t>
            </a:r>
            <a:r>
              <a:rPr lang="en-IN" dirty="0">
                <a:latin typeface="Calibri"/>
                <a:cs typeface="Calibri"/>
              </a:rPr>
              <a:t>43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ST1</a:t>
            </a:r>
            <a:r>
              <a:rPr lang="en-IN" dirty="0">
                <a:latin typeface="Calibri"/>
                <a:cs typeface="Calibri"/>
              </a:rPr>
              <a:t>32</a:t>
            </a:r>
            <a:r>
              <a:rPr dirty="0">
                <a:latin typeface="Calibri"/>
                <a:cs typeface="Calibri"/>
              </a:rPr>
              <a:t>)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replicate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successful tactics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other</a:t>
            </a:r>
            <a:r>
              <a:rPr spc="50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stores.</a:t>
            </a:r>
            <a:endParaRPr dirty="0">
              <a:latin typeface="Calibri"/>
              <a:cs typeface="Calibri"/>
            </a:endParaRPr>
          </a:p>
          <a:p>
            <a:pPr marL="196850" indent="-184150">
              <a:lnSpc>
                <a:spcPct val="100000"/>
              </a:lnSpc>
              <a:buFont typeface="Arial"/>
              <a:buChar char="•"/>
              <a:tabLst>
                <a:tab pos="196850" algn="l"/>
              </a:tabLst>
            </a:pPr>
            <a:r>
              <a:rPr dirty="0">
                <a:latin typeface="Calibri"/>
                <a:cs typeface="Calibri"/>
              </a:rPr>
              <a:t>Develop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targeted campaigns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for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discount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seekers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non-</a:t>
            </a:r>
            <a:r>
              <a:rPr dirty="0">
                <a:latin typeface="Calibri"/>
                <a:cs typeface="Calibri"/>
              </a:rPr>
              <a:t>discount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seekers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maximize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engagement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sales.</a:t>
            </a:r>
            <a:endParaRPr dirty="0">
              <a:latin typeface="Calibri"/>
              <a:cs typeface="Calibri"/>
            </a:endParaRPr>
          </a:p>
          <a:p>
            <a:pPr marL="196850" indent="-184150">
              <a:lnSpc>
                <a:spcPct val="100000"/>
              </a:lnSpc>
              <a:buFont typeface="Arial"/>
              <a:buChar char="•"/>
              <a:tabLst>
                <a:tab pos="196850" algn="l"/>
              </a:tabLst>
            </a:pPr>
            <a:r>
              <a:rPr dirty="0">
                <a:latin typeface="Calibri"/>
                <a:cs typeface="Calibri"/>
              </a:rPr>
              <a:t>Tailor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discount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promotions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regions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with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higher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engagement,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such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as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South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regions.</a:t>
            </a:r>
            <a:endParaRPr dirty="0">
              <a:latin typeface="Calibri"/>
              <a:cs typeface="Calibri"/>
            </a:endParaRPr>
          </a:p>
          <a:p>
            <a:pPr marL="196850" marR="210820" indent="-184785">
              <a:lnSpc>
                <a:spcPct val="100000"/>
              </a:lnSpc>
              <a:spcBef>
                <a:spcPts val="15"/>
              </a:spcBef>
              <a:buFont typeface="Arial"/>
              <a:buChar char="•"/>
              <a:tabLst>
                <a:tab pos="196850" algn="l"/>
              </a:tabLst>
            </a:pPr>
            <a:r>
              <a:rPr dirty="0">
                <a:latin typeface="Calibri"/>
                <a:cs typeface="Calibri"/>
              </a:rPr>
              <a:t>Focus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on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states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with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high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discounted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customer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counts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for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targeted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marketing campaigns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boost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sales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and</a:t>
            </a:r>
            <a:r>
              <a:rPr spc="50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customer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loyalty.</a:t>
            </a:r>
            <a:endParaRPr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885292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9E30443-0DE6-9778-BC88-9DC6EF88E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CB999E04-001C-D526-D201-5923BC82EB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086469E-CF22-77A0-22BB-E569046339B1}"/>
              </a:ext>
            </a:extLst>
          </p:cNvPr>
          <p:cNvSpPr txBox="1"/>
          <p:nvPr/>
        </p:nvSpPr>
        <p:spPr>
          <a:xfrm>
            <a:off x="575187" y="0"/>
            <a:ext cx="11041625" cy="7078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9pPr>
          </a:lstStyle>
          <a:p>
            <a:r>
              <a:rPr lang="en-IN"/>
              <a:t>Customer Behaviour</a:t>
            </a:r>
            <a:endParaRPr lang="en-IN" dirty="0"/>
          </a:p>
        </p:txBody>
      </p:sp>
      <p:sp>
        <p:nvSpPr>
          <p:cNvPr id="2" name="object 16">
            <a:extLst>
              <a:ext uri="{FF2B5EF4-FFF2-40B4-BE49-F238E27FC236}">
                <a16:creationId xmlns:a16="http://schemas.microsoft.com/office/drawing/2014/main" id="{D5035656-C2ED-00BD-E6A8-7346E7763E5C}"/>
              </a:ext>
            </a:extLst>
          </p:cNvPr>
          <p:cNvSpPr txBox="1"/>
          <p:nvPr/>
        </p:nvSpPr>
        <p:spPr>
          <a:xfrm>
            <a:off x="575186" y="1340319"/>
            <a:ext cx="11041625" cy="417736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67335">
              <a:lnSpc>
                <a:spcPct val="100000"/>
              </a:lnSpc>
              <a:spcBef>
                <a:spcPts val="130"/>
              </a:spcBef>
            </a:pPr>
            <a:r>
              <a:rPr sz="2000" b="1" dirty="0">
                <a:latin typeface="Calibri"/>
                <a:cs typeface="Calibri"/>
              </a:rPr>
              <a:t>Non-Discount</a:t>
            </a:r>
            <a:r>
              <a:rPr sz="2000" b="1" spc="12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Seeker</a:t>
            </a:r>
            <a:r>
              <a:rPr sz="2000" b="1" spc="11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Analysis</a:t>
            </a:r>
            <a:endParaRPr sz="2000" dirty="0">
              <a:latin typeface="Calibri"/>
              <a:cs typeface="Calibri"/>
            </a:endParaRPr>
          </a:p>
          <a:p>
            <a:pPr marL="267335">
              <a:lnSpc>
                <a:spcPct val="100000"/>
              </a:lnSpc>
              <a:spcBef>
                <a:spcPts val="15"/>
              </a:spcBef>
            </a:pPr>
            <a:r>
              <a:rPr b="1" spc="-10" dirty="0">
                <a:latin typeface="Calibri"/>
                <a:cs typeface="Calibri"/>
              </a:rPr>
              <a:t>Observations:</a:t>
            </a:r>
            <a:endParaRPr dirty="0">
              <a:latin typeface="Calibri"/>
              <a:cs typeface="Calibri"/>
            </a:endParaRPr>
          </a:p>
          <a:p>
            <a:pPr marL="451484" marR="146685" indent="-184785">
              <a:lnSpc>
                <a:spcPct val="100600"/>
              </a:lnSpc>
              <a:spcBef>
                <a:spcPts val="1075"/>
              </a:spcBef>
              <a:buFont typeface="Arial"/>
              <a:buChar char="•"/>
              <a:tabLst>
                <a:tab pos="451484" algn="l"/>
              </a:tabLst>
            </a:pPr>
            <a:r>
              <a:rPr dirty="0">
                <a:latin typeface="Calibri"/>
                <a:cs typeface="Calibri"/>
              </a:rPr>
              <a:t>The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southern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region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was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seen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have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highest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number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unique customers(78</a:t>
            </a:r>
            <a:r>
              <a:rPr lang="en-IN" dirty="0">
                <a:latin typeface="Calibri"/>
                <a:cs typeface="Calibri"/>
              </a:rPr>
              <a:t>.31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%)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with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no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preference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on</a:t>
            </a:r>
            <a:r>
              <a:rPr spc="50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discounts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indicating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strong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preference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for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non-</a:t>
            </a:r>
            <a:r>
              <a:rPr dirty="0">
                <a:latin typeface="Calibri"/>
                <a:cs typeface="Calibri"/>
              </a:rPr>
              <a:t>discounted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purchases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this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region.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Out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southern </a:t>
            </a:r>
            <a:r>
              <a:rPr spc="-10" dirty="0">
                <a:latin typeface="Calibri"/>
                <a:cs typeface="Calibri"/>
              </a:rPr>
              <a:t>states</a:t>
            </a:r>
            <a:r>
              <a:rPr spc="50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Andhra Pradesh stands out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with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lang="en-US" dirty="0"/>
              <a:t>46994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unique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customers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with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no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preference on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discounts.</a:t>
            </a:r>
            <a:endParaRPr dirty="0">
              <a:latin typeface="Calibri"/>
              <a:cs typeface="Calibri"/>
            </a:endParaRPr>
          </a:p>
          <a:p>
            <a:pPr marL="267335">
              <a:lnSpc>
                <a:spcPct val="100000"/>
              </a:lnSpc>
              <a:spcBef>
                <a:spcPts val="1095"/>
              </a:spcBef>
            </a:pPr>
            <a:r>
              <a:rPr b="1" spc="-10" dirty="0">
                <a:latin typeface="Calibri"/>
                <a:cs typeface="Calibri"/>
              </a:rPr>
              <a:t>Recommendations</a:t>
            </a:r>
            <a:r>
              <a:rPr spc="-10" dirty="0">
                <a:latin typeface="Calibri"/>
                <a:cs typeface="Calibri"/>
              </a:rPr>
              <a:t>:</a:t>
            </a:r>
            <a:endParaRPr dirty="0">
              <a:latin typeface="Calibri"/>
              <a:cs typeface="Calibri"/>
            </a:endParaRPr>
          </a:p>
          <a:p>
            <a:pPr marL="451484" marR="5080" indent="-184785">
              <a:lnSpc>
                <a:spcPct val="100000"/>
              </a:lnSpc>
              <a:spcBef>
                <a:spcPts val="1090"/>
              </a:spcBef>
              <a:buFont typeface="Arial"/>
              <a:buChar char="•"/>
              <a:tabLst>
                <a:tab pos="451484" algn="l"/>
              </a:tabLst>
            </a:pPr>
            <a:r>
              <a:rPr dirty="0">
                <a:latin typeface="Calibri"/>
                <a:cs typeface="Calibri"/>
              </a:rPr>
              <a:t>Focus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marketing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efforts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on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South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region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Andhra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Pradesh,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as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these areas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have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highest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concentration </a:t>
            </a:r>
            <a:r>
              <a:rPr spc="-25" dirty="0">
                <a:latin typeface="Calibri"/>
                <a:cs typeface="Calibri"/>
              </a:rPr>
              <a:t>of</a:t>
            </a:r>
            <a:r>
              <a:rPr spc="50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non-</a:t>
            </a:r>
            <a:r>
              <a:rPr dirty="0">
                <a:latin typeface="Calibri"/>
                <a:cs typeface="Calibri"/>
              </a:rPr>
              <a:t>discount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seekers.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Tailor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campaigns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highlight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value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exclusivity of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non-discounted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products.</a:t>
            </a:r>
            <a:endParaRPr lang="en-IN" spc="-10" dirty="0">
              <a:latin typeface="Calibri"/>
              <a:cs typeface="Calibri"/>
            </a:endParaRPr>
          </a:p>
          <a:p>
            <a:pPr marL="451484" marR="5080" indent="-184785">
              <a:lnSpc>
                <a:spcPct val="100000"/>
              </a:lnSpc>
              <a:spcBef>
                <a:spcPts val="1090"/>
              </a:spcBef>
              <a:buFont typeface="Arial"/>
              <a:buChar char="•"/>
              <a:tabLst>
                <a:tab pos="451484" algn="l"/>
              </a:tabLst>
            </a:pPr>
            <a:endParaRPr sz="300" dirty="0">
              <a:latin typeface="Calibri"/>
              <a:cs typeface="Calibri"/>
            </a:endParaRPr>
          </a:p>
          <a:p>
            <a:pPr marL="451484" marR="233045" indent="-184785">
              <a:lnSpc>
                <a:spcPts val="1090"/>
              </a:lnSpc>
              <a:spcBef>
                <a:spcPts val="30"/>
              </a:spcBef>
              <a:buFont typeface="Arial"/>
              <a:buChar char="•"/>
              <a:tabLst>
                <a:tab pos="451484" algn="l"/>
              </a:tabLst>
            </a:pPr>
            <a:r>
              <a:rPr dirty="0">
                <a:latin typeface="Calibri"/>
                <a:cs typeface="Calibri"/>
              </a:rPr>
              <a:t>Analyze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strategies</a:t>
            </a:r>
            <a:r>
              <a:rPr spc="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practices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top-</a:t>
            </a:r>
            <a:r>
              <a:rPr dirty="0">
                <a:latin typeface="Calibri"/>
                <a:cs typeface="Calibri"/>
              </a:rPr>
              <a:t>performing stores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identify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key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factors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contributing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to</a:t>
            </a:r>
            <a:endParaRPr lang="en-IN" spc="-25" dirty="0">
              <a:latin typeface="Calibri"/>
              <a:cs typeface="Calibri"/>
            </a:endParaRPr>
          </a:p>
          <a:p>
            <a:pPr marL="266699" marR="233045">
              <a:lnSpc>
                <a:spcPts val="1090"/>
              </a:lnSpc>
              <a:spcBef>
                <a:spcPts val="30"/>
              </a:spcBef>
              <a:tabLst>
                <a:tab pos="451484" algn="l"/>
              </a:tabLst>
            </a:pPr>
            <a:endParaRPr lang="en-IN" spc="-25" dirty="0">
              <a:latin typeface="Calibri"/>
              <a:cs typeface="Calibri"/>
            </a:endParaRPr>
          </a:p>
          <a:p>
            <a:pPr marL="266699" marR="233045">
              <a:lnSpc>
                <a:spcPts val="1090"/>
              </a:lnSpc>
              <a:spcBef>
                <a:spcPts val="30"/>
              </a:spcBef>
              <a:tabLst>
                <a:tab pos="451484" algn="l"/>
              </a:tabLst>
            </a:pPr>
            <a:r>
              <a:rPr lang="en-IN" spc="-25" dirty="0">
                <a:latin typeface="Calibri"/>
                <a:cs typeface="Calibri"/>
              </a:rPr>
              <a:t>    </a:t>
            </a:r>
            <a:r>
              <a:rPr dirty="0">
                <a:latin typeface="Calibri"/>
                <a:cs typeface="Calibri"/>
              </a:rPr>
              <a:t>their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success.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Implement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similar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strategies</a:t>
            </a:r>
            <a:r>
              <a:rPr spc="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other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stores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boost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non-</a:t>
            </a:r>
            <a:r>
              <a:rPr dirty="0">
                <a:latin typeface="Calibri"/>
                <a:cs typeface="Calibri"/>
              </a:rPr>
              <a:t>discounted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sales.</a:t>
            </a:r>
            <a:endParaRPr lang="en-IN" spc="-10" dirty="0">
              <a:latin typeface="Calibri"/>
              <a:cs typeface="Calibri"/>
            </a:endParaRPr>
          </a:p>
          <a:p>
            <a:pPr marL="266699" marR="233045">
              <a:lnSpc>
                <a:spcPts val="1090"/>
              </a:lnSpc>
              <a:spcBef>
                <a:spcPts val="30"/>
              </a:spcBef>
              <a:tabLst>
                <a:tab pos="451484" algn="l"/>
              </a:tabLst>
            </a:pPr>
            <a:endParaRPr dirty="0">
              <a:latin typeface="Calibri"/>
              <a:cs typeface="Calibri"/>
            </a:endParaRPr>
          </a:p>
          <a:p>
            <a:pPr marL="451484" marR="69850" indent="-184785">
              <a:lnSpc>
                <a:spcPts val="1080"/>
              </a:lnSpc>
              <a:buFont typeface="Arial"/>
              <a:buChar char="•"/>
              <a:tabLst>
                <a:tab pos="451484" algn="l"/>
              </a:tabLst>
            </a:pPr>
            <a:r>
              <a:rPr dirty="0">
                <a:latin typeface="Calibri"/>
                <a:cs typeface="Calibri"/>
              </a:rPr>
              <a:t>Develop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loyalty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programs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personalized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offers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for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non-</a:t>
            </a:r>
            <a:r>
              <a:rPr dirty="0">
                <a:latin typeface="Calibri"/>
                <a:cs typeface="Calibri"/>
              </a:rPr>
              <a:t>discount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seekers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enhance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their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shopping </a:t>
            </a:r>
            <a:r>
              <a:rPr spc="-10" dirty="0">
                <a:latin typeface="Calibri"/>
                <a:cs typeface="Calibri"/>
              </a:rPr>
              <a:t>experience</a:t>
            </a:r>
            <a:endParaRPr lang="en-IN" spc="-10" dirty="0">
              <a:latin typeface="Calibri"/>
              <a:cs typeface="Calibri"/>
            </a:endParaRPr>
          </a:p>
          <a:p>
            <a:pPr marL="451484" marR="69850" indent="-184785">
              <a:lnSpc>
                <a:spcPts val="1080"/>
              </a:lnSpc>
              <a:buFont typeface="Arial"/>
              <a:buChar char="•"/>
              <a:tabLst>
                <a:tab pos="451484" algn="l"/>
              </a:tabLst>
            </a:pPr>
            <a:endParaRPr lang="en-IN" spc="-10" dirty="0">
              <a:latin typeface="Calibri"/>
              <a:cs typeface="Calibri"/>
            </a:endParaRPr>
          </a:p>
          <a:p>
            <a:pPr marL="266699" marR="69850">
              <a:lnSpc>
                <a:spcPts val="1080"/>
              </a:lnSpc>
              <a:tabLst>
                <a:tab pos="451484" algn="l"/>
              </a:tabLst>
            </a:pPr>
            <a:r>
              <a:rPr lang="en-IN" spc="500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encourage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repeat purchases. Highlight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benefits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non-</a:t>
            </a:r>
            <a:r>
              <a:rPr dirty="0">
                <a:latin typeface="Calibri"/>
                <a:cs typeface="Calibri"/>
              </a:rPr>
              <a:t>discounted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products, such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as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quality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and</a:t>
            </a:r>
            <a:endParaRPr lang="en-IN" spc="-25" dirty="0">
              <a:latin typeface="Calibri"/>
              <a:cs typeface="Calibri"/>
            </a:endParaRPr>
          </a:p>
          <a:p>
            <a:pPr marL="266699" marR="69850">
              <a:lnSpc>
                <a:spcPts val="1080"/>
              </a:lnSpc>
              <a:tabLst>
                <a:tab pos="451484" algn="l"/>
              </a:tabLst>
            </a:pPr>
            <a:r>
              <a:rPr lang="en-IN" spc="-25" dirty="0">
                <a:latin typeface="Calibri"/>
                <a:cs typeface="Calibri"/>
              </a:rPr>
              <a:t>  </a:t>
            </a:r>
          </a:p>
          <a:p>
            <a:pPr marL="266699" marR="69850">
              <a:lnSpc>
                <a:spcPts val="1080"/>
              </a:lnSpc>
              <a:tabLst>
                <a:tab pos="451484" algn="l"/>
              </a:tabLst>
            </a:pPr>
            <a:r>
              <a:rPr spc="500" dirty="0">
                <a:latin typeface="Calibri"/>
                <a:cs typeface="Calibri"/>
              </a:rPr>
              <a:t> </a:t>
            </a:r>
            <a:r>
              <a:rPr lang="en-IN" spc="50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exclusivity.</a:t>
            </a:r>
            <a:endParaRPr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6155738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AFA43E9-EDA7-D37C-E00F-375E78180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DCBDB124-E149-716F-8B04-3430915396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33F24A0-46A7-16DA-EBCE-D39C68FE5F73}"/>
              </a:ext>
            </a:extLst>
          </p:cNvPr>
          <p:cNvSpPr txBox="1"/>
          <p:nvPr/>
        </p:nvSpPr>
        <p:spPr>
          <a:xfrm>
            <a:off x="575187" y="0"/>
            <a:ext cx="11041625" cy="707886"/>
          </a:xfrm>
          <a:prstGeom prst="rect">
            <a:avLst/>
          </a:prstGeom>
          <a:solidFill>
            <a:srgbClr val="348E90"/>
          </a:solidFill>
        </p:spPr>
        <p:txBody>
          <a:bodyPr wrap="square">
            <a:spAutoFit/>
          </a:bodyPr>
          <a:lstStyle/>
          <a:p>
            <a:pPr algn="ctr"/>
            <a:r>
              <a:rPr lang="en-IN" sz="4000" b="1" spc="41">
                <a:solidFill>
                  <a:schemeClr val="bg1"/>
                </a:solidFill>
                <a:latin typeface="Trebuchet MS"/>
                <a:cs typeface="Trebuchet MS"/>
              </a:rPr>
              <a:t>Customer Behaviour</a:t>
            </a:r>
            <a:endParaRPr lang="en-IN" sz="4000" dirty="0">
              <a:solidFill>
                <a:schemeClr val="bg1"/>
              </a:solidFill>
            </a:endParaRPr>
          </a:p>
        </p:txBody>
      </p:sp>
      <p:grpSp>
        <p:nvGrpSpPr>
          <p:cNvPr id="2" name="object 3">
            <a:extLst>
              <a:ext uri="{FF2B5EF4-FFF2-40B4-BE49-F238E27FC236}">
                <a16:creationId xmlns:a16="http://schemas.microsoft.com/office/drawing/2014/main" id="{3DFBB2AE-AEA3-CEED-A0CD-F853F4BB363D}"/>
              </a:ext>
            </a:extLst>
          </p:cNvPr>
          <p:cNvGrpSpPr/>
          <p:nvPr/>
        </p:nvGrpSpPr>
        <p:grpSpPr>
          <a:xfrm>
            <a:off x="0" y="0"/>
            <a:ext cx="12192000" cy="6331974"/>
            <a:chOff x="480058" y="923544"/>
            <a:chExt cx="8275565" cy="5498078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2EB77113-E94D-7072-EAC1-A4694D44203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34977" y="1186199"/>
              <a:ext cx="2792277" cy="2953717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F8F7E133-6C16-3384-6626-11073CA28D54}"/>
                </a:ext>
              </a:extLst>
            </p:cNvPr>
            <p:cNvSpPr/>
            <p:nvPr/>
          </p:nvSpPr>
          <p:spPr>
            <a:xfrm>
              <a:off x="480059" y="3986631"/>
              <a:ext cx="5897880" cy="254000"/>
            </a:xfrm>
            <a:custGeom>
              <a:avLst/>
              <a:gdLst/>
              <a:ahLst/>
              <a:cxnLst/>
              <a:rect l="l" t="t" r="r" b="b"/>
              <a:pathLst>
                <a:path w="5897880" h="254000">
                  <a:moveTo>
                    <a:pt x="5897880" y="0"/>
                  </a:moveTo>
                  <a:lnTo>
                    <a:pt x="0" y="0"/>
                  </a:lnTo>
                  <a:lnTo>
                    <a:pt x="0" y="253898"/>
                  </a:lnTo>
                  <a:lnTo>
                    <a:pt x="5897880" y="253898"/>
                  </a:lnTo>
                  <a:lnTo>
                    <a:pt x="5897880" y="0"/>
                  </a:lnTo>
                  <a:close/>
                </a:path>
              </a:pathLst>
            </a:custGeom>
            <a:solidFill>
              <a:srgbClr val="348E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6ABDFBDA-E1C3-AF69-D441-28F219F4E19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0059" y="4005884"/>
              <a:ext cx="1044511" cy="235407"/>
            </a:xfrm>
            <a:prstGeom prst="rect">
              <a:avLst/>
            </a:prstGeom>
          </p:spPr>
        </p:pic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F14EBC0E-B0C3-691C-5844-C0E50707696A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0058" y="923544"/>
              <a:ext cx="8275565" cy="5498078"/>
            </a:xfrm>
            <a:prstGeom prst="rect">
              <a:avLst/>
            </a:prstGeom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342F7451-54EA-5CC5-E2F1-57B38CB7D4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" y="9832"/>
            <a:ext cx="12191999" cy="6322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79107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CB6695D-9FFF-8933-78AB-FAD762FD4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1C75C11C-5739-073E-7E1A-BC1E05A50A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30B8DEC-69C1-BFB8-19AF-A7C9CF2A1328}"/>
              </a:ext>
            </a:extLst>
          </p:cNvPr>
          <p:cNvSpPr txBox="1"/>
          <p:nvPr/>
        </p:nvSpPr>
        <p:spPr>
          <a:xfrm>
            <a:off x="575187" y="0"/>
            <a:ext cx="11041625" cy="7078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9pPr>
          </a:lstStyle>
          <a:p>
            <a:r>
              <a:rPr lang="en-IN" dirty="0"/>
              <a:t>CROSS SELLING OF PRODUCTS-1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C23524-116B-0730-2816-355E2428D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87" y="875070"/>
            <a:ext cx="11041625" cy="527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35369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5227FBA-DA33-8CEF-12CD-C737BB94E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D9BB651B-F428-72B5-ECBC-C922B544A8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E1A3D1A-3696-8B7E-04B8-40DEA945E9CE}"/>
              </a:ext>
            </a:extLst>
          </p:cNvPr>
          <p:cNvSpPr txBox="1"/>
          <p:nvPr/>
        </p:nvSpPr>
        <p:spPr>
          <a:xfrm>
            <a:off x="575187" y="0"/>
            <a:ext cx="11041625" cy="7078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9pPr>
          </a:lstStyle>
          <a:p>
            <a:r>
              <a:rPr lang="en-IN" dirty="0"/>
              <a:t>CROSS SELLING OF PRODUCTS-2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C913ED-5D65-F671-6E0D-D3792FAEB7FB}"/>
              </a:ext>
            </a:extLst>
          </p:cNvPr>
          <p:cNvSpPr txBox="1"/>
          <p:nvPr/>
        </p:nvSpPr>
        <p:spPr>
          <a:xfrm>
            <a:off x="575186" y="747214"/>
            <a:ext cx="11041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alibri"/>
                <a:cs typeface="Calibri"/>
              </a:rPr>
              <a:t>Top</a:t>
            </a:r>
            <a:r>
              <a:rPr lang="en-US" sz="2400" b="1" spc="-5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10</a:t>
            </a:r>
            <a:r>
              <a:rPr lang="en-US" sz="2400" b="1" spc="30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combinations</a:t>
            </a:r>
            <a:r>
              <a:rPr lang="en-US" sz="2400" b="1" spc="-35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of</a:t>
            </a:r>
            <a:r>
              <a:rPr lang="en-US" sz="2400" b="1" spc="15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3</a:t>
            </a:r>
            <a:r>
              <a:rPr lang="en-US" sz="2400" b="1" spc="20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product</a:t>
            </a:r>
            <a:r>
              <a:rPr lang="en-US" sz="2400" b="1" spc="-5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Category</a:t>
            </a:r>
            <a:r>
              <a:rPr lang="en-US" sz="2400" b="1" spc="5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are</a:t>
            </a:r>
            <a:r>
              <a:rPr lang="en-US" sz="2400" b="1" spc="5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selling</a:t>
            </a:r>
            <a:r>
              <a:rPr lang="en-US" sz="2400" b="1" spc="-20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together</a:t>
            </a:r>
            <a:r>
              <a:rPr lang="en-US" sz="2400" b="1" spc="-25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in</a:t>
            </a:r>
            <a:r>
              <a:rPr lang="en-US" sz="2400" b="1" spc="15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each</a:t>
            </a:r>
            <a:r>
              <a:rPr lang="en-US" sz="2400" b="1" spc="-10" dirty="0">
                <a:latin typeface="Calibri"/>
                <a:cs typeface="Calibri"/>
              </a:rPr>
              <a:t> transaction</a:t>
            </a:r>
            <a:endParaRPr lang="en-US" sz="2400" dirty="0">
              <a:latin typeface="Calibri"/>
              <a:cs typeface="Calibri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32F9A24-3E0D-3EF8-9A3E-771D5540AA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5434551"/>
              </p:ext>
            </p:extLst>
          </p:nvPr>
        </p:nvGraphicFramePr>
        <p:xfrm>
          <a:off x="575186" y="1252936"/>
          <a:ext cx="11041626" cy="44694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0542">
                  <a:extLst>
                    <a:ext uri="{9D8B030D-6E8A-4147-A177-3AD203B41FA5}">
                      <a16:colId xmlns:a16="http://schemas.microsoft.com/office/drawing/2014/main" val="3320359616"/>
                    </a:ext>
                  </a:extLst>
                </a:gridCol>
                <a:gridCol w="3680542">
                  <a:extLst>
                    <a:ext uri="{9D8B030D-6E8A-4147-A177-3AD203B41FA5}">
                      <a16:colId xmlns:a16="http://schemas.microsoft.com/office/drawing/2014/main" val="3766963846"/>
                    </a:ext>
                  </a:extLst>
                </a:gridCol>
                <a:gridCol w="3680542">
                  <a:extLst>
                    <a:ext uri="{9D8B030D-6E8A-4147-A177-3AD203B41FA5}">
                      <a16:colId xmlns:a16="http://schemas.microsoft.com/office/drawing/2014/main" val="2195490169"/>
                    </a:ext>
                  </a:extLst>
                </a:gridCol>
              </a:tblGrid>
              <a:tr h="40631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Category_1</a:t>
                      </a:r>
                      <a:endParaRPr lang="en-IN" dirty="0"/>
                    </a:p>
                  </a:txBody>
                  <a:tcPr>
                    <a:solidFill>
                      <a:srgbClr val="348E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Category_2</a:t>
                      </a:r>
                      <a:endParaRPr lang="en-IN" dirty="0"/>
                    </a:p>
                  </a:txBody>
                  <a:tcPr>
                    <a:solidFill>
                      <a:srgbClr val="348E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Category_3</a:t>
                      </a:r>
                      <a:endParaRPr lang="en-IN" dirty="0"/>
                    </a:p>
                  </a:txBody>
                  <a:tcPr>
                    <a:solidFill>
                      <a:srgbClr val="348E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1441108"/>
                  </a:ext>
                </a:extLst>
              </a:tr>
              <a:tr h="4063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Baby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Others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Luggage-Accessories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035551"/>
                  </a:ext>
                </a:extLst>
              </a:tr>
              <a:tr h="4063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Baby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Toys &amp; Gifts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Luggage-Accessories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059654"/>
                  </a:ext>
                </a:extLst>
              </a:tr>
              <a:tr h="4063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Construction-Tools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Auto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Baby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3738244"/>
                  </a:ext>
                </a:extLst>
              </a:tr>
              <a:tr h="4063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Construction-Tools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Pet-Shop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Others</a:t>
                      </a:r>
                    </a:p>
                  </a:txBody>
                  <a:tcPr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1285316"/>
                  </a:ext>
                </a:extLst>
              </a:tr>
              <a:tr h="4063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Electronics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Fashion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Auto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152448"/>
                  </a:ext>
                </a:extLst>
              </a:tr>
              <a:tr h="4063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Food &amp; Beverages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Computers &amp; Accessories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Luggage-Accessories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021424"/>
                  </a:ext>
                </a:extLst>
              </a:tr>
              <a:tr h="4063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Home-Appliances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Computers &amp; Accessories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Construction-Tools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3009530"/>
                  </a:ext>
                </a:extLst>
              </a:tr>
              <a:tr h="4063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Home-Appliances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Construction-Tools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Baby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964533"/>
                  </a:ext>
                </a:extLst>
              </a:tr>
              <a:tr h="4063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Home-Appliances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Furniture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Baby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240421"/>
                  </a:ext>
                </a:extLst>
              </a:tr>
              <a:tr h="4063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Others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Baby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Luggage-Accessories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49797"/>
                  </a:ext>
                </a:extLst>
              </a:tr>
            </a:tbl>
          </a:graphicData>
        </a:graphic>
      </p:graphicFrame>
      <p:sp>
        <p:nvSpPr>
          <p:cNvPr id="5" name="object 9">
            <a:extLst>
              <a:ext uri="{FF2B5EF4-FFF2-40B4-BE49-F238E27FC236}">
                <a16:creationId xmlns:a16="http://schemas.microsoft.com/office/drawing/2014/main" id="{3EFB0171-EF8F-CF88-F4C8-071ADB2EFA75}"/>
              </a:ext>
            </a:extLst>
          </p:cNvPr>
          <p:cNvSpPr txBox="1"/>
          <p:nvPr/>
        </p:nvSpPr>
        <p:spPr>
          <a:xfrm>
            <a:off x="575186" y="5870975"/>
            <a:ext cx="11041624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196850" algn="l"/>
              </a:tabLst>
            </a:pPr>
            <a:r>
              <a:rPr lang="en-US" sz="2000" dirty="0">
                <a:latin typeface="Calibri"/>
                <a:cs typeface="Calibri"/>
              </a:rPr>
              <a:t>Each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combination</a:t>
            </a:r>
            <a:r>
              <a:rPr lang="en-US" sz="2000" spc="-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three</a:t>
            </a:r>
            <a:r>
              <a:rPr lang="en-US" sz="2000" spc="-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unique</a:t>
            </a:r>
            <a:r>
              <a:rPr lang="en-US" sz="2000" spc="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product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categories</a:t>
            </a:r>
            <a:r>
              <a:rPr lang="en-US" sz="2000" spc="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occurs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only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once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</a:t>
            </a:r>
            <a:r>
              <a:rPr lang="en-US" sz="2000" spc="15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order.</a:t>
            </a:r>
            <a:endParaRPr lang="en-US"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3389957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A3F87D4-5B35-3FAE-C51E-267E88DD7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0310801F-2636-D741-A7CF-B20ECB459A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0BF8CFD-6A6B-E932-3D35-8C2EC4772AB1}"/>
              </a:ext>
            </a:extLst>
          </p:cNvPr>
          <p:cNvSpPr txBox="1"/>
          <p:nvPr/>
        </p:nvSpPr>
        <p:spPr>
          <a:xfrm>
            <a:off x="575187" y="0"/>
            <a:ext cx="11041625" cy="70788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9pPr>
          </a:lstStyle>
          <a:p>
            <a:r>
              <a:rPr lang="en-IN" dirty="0"/>
              <a:t>CROSS SELLING OF PRODUCTS-3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1144D6-A44A-6471-F900-74050C3DA2BE}"/>
              </a:ext>
            </a:extLst>
          </p:cNvPr>
          <p:cNvSpPr txBox="1"/>
          <p:nvPr/>
        </p:nvSpPr>
        <p:spPr>
          <a:xfrm>
            <a:off x="575186" y="987520"/>
            <a:ext cx="11041625" cy="49680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Recommendations:</a:t>
            </a:r>
          </a:p>
          <a:p>
            <a:endParaRPr lang="en-US" dirty="0"/>
          </a:p>
          <a:p>
            <a:pPr marL="222885" indent="-210185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222885" algn="l"/>
              </a:tabLst>
            </a:pPr>
            <a:r>
              <a:rPr lang="en-US" sz="2000" b="1" spc="-10" dirty="0">
                <a:latin typeface="Calibri"/>
                <a:cs typeface="Calibri"/>
              </a:rPr>
              <a:t>Marketing</a:t>
            </a:r>
            <a:r>
              <a:rPr lang="en-US" sz="2000" b="1" spc="25" dirty="0">
                <a:latin typeface="Calibri"/>
                <a:cs typeface="Calibri"/>
              </a:rPr>
              <a:t> </a:t>
            </a:r>
            <a:r>
              <a:rPr lang="en-US" sz="2000" b="1" spc="-10" dirty="0">
                <a:latin typeface="Calibri"/>
                <a:cs typeface="Calibri"/>
              </a:rPr>
              <a:t>Strategies</a:t>
            </a:r>
            <a:r>
              <a:rPr lang="en-US" sz="2000" spc="-10" dirty="0">
                <a:latin typeface="Calibri"/>
                <a:cs typeface="Calibri"/>
              </a:rPr>
              <a:t>:</a:t>
            </a:r>
            <a:endParaRPr lang="en-US" sz="2000" dirty="0">
              <a:latin typeface="Calibri"/>
              <a:cs typeface="Calibri"/>
            </a:endParaRPr>
          </a:p>
          <a:p>
            <a:pPr marL="419100" marR="372110" lvl="1" indent="-117475">
              <a:buFont typeface="Wingdings"/>
              <a:buChar char=""/>
              <a:tabLst>
                <a:tab pos="419100" algn="l"/>
              </a:tabLst>
            </a:pPr>
            <a:r>
              <a:rPr lang="en-US" sz="2000" b="1" dirty="0">
                <a:latin typeface="Calibri"/>
                <a:cs typeface="Calibri"/>
              </a:rPr>
              <a:t>Bundle</a:t>
            </a:r>
            <a:r>
              <a:rPr lang="en-US" sz="2000" b="1" spc="-5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Offers</a:t>
            </a:r>
            <a:r>
              <a:rPr lang="en-US" sz="2000" dirty="0">
                <a:latin typeface="Calibri"/>
                <a:cs typeface="Calibri"/>
              </a:rPr>
              <a:t>: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Create</a:t>
            </a:r>
            <a:r>
              <a:rPr lang="en-US" sz="2000" spc="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bundle offers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for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top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cross-</a:t>
            </a:r>
            <a:r>
              <a:rPr lang="en-US" sz="2000" dirty="0">
                <a:latin typeface="Calibri"/>
                <a:cs typeface="Calibri"/>
              </a:rPr>
              <a:t>selling</a:t>
            </a:r>
            <a:r>
              <a:rPr lang="en-US" sz="2000" spc="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categories,</a:t>
            </a:r>
            <a:r>
              <a:rPr lang="en-US" sz="2000" spc="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such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as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IN" sz="2000" dirty="0"/>
              <a:t>Toys &amp; Gifts</a:t>
            </a:r>
          </a:p>
          <a:p>
            <a:pPr marL="301625" marR="372110" lvl="1">
              <a:tabLst>
                <a:tab pos="419100" algn="l"/>
              </a:tabLst>
            </a:pPr>
            <a:r>
              <a:rPr lang="en-US" sz="2000" spc="-25" dirty="0">
                <a:latin typeface="Calibri"/>
                <a:cs typeface="Calibri"/>
              </a:rPr>
              <a:t>and</a:t>
            </a:r>
            <a:r>
              <a:rPr lang="en-US" sz="2000" spc="500" dirty="0">
                <a:latin typeface="Calibri"/>
                <a:cs typeface="Calibri"/>
              </a:rPr>
              <a:t> </a:t>
            </a:r>
            <a:r>
              <a:rPr lang="en-IN" sz="2000" dirty="0"/>
              <a:t>Luggage-Accessories</a:t>
            </a:r>
            <a:r>
              <a:rPr lang="en-US" sz="2000" spc="-10" dirty="0">
                <a:latin typeface="Calibri"/>
                <a:cs typeface="Calibri"/>
              </a:rPr>
              <a:t>,</a:t>
            </a:r>
            <a:r>
              <a:rPr lang="en-US" sz="2000" spc="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encourage</a:t>
            </a:r>
            <a:r>
              <a:rPr lang="en-US" sz="2000" spc="-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customers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purchase these</a:t>
            </a:r>
            <a:r>
              <a:rPr lang="en-US" sz="2000" spc="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items</a:t>
            </a:r>
            <a:r>
              <a:rPr lang="en-US" sz="2000" spc="-10" dirty="0">
                <a:latin typeface="Calibri"/>
                <a:cs typeface="Calibri"/>
              </a:rPr>
              <a:t> together.</a:t>
            </a:r>
            <a:endParaRPr lang="en-US" sz="2000" dirty="0">
              <a:latin typeface="Calibri"/>
              <a:cs typeface="Calibri"/>
            </a:endParaRPr>
          </a:p>
          <a:p>
            <a:pPr marL="419100" marR="5080" lvl="1" indent="-117475">
              <a:spcBef>
                <a:spcPts val="15"/>
              </a:spcBef>
              <a:buFont typeface="Wingdings"/>
              <a:buChar char=""/>
              <a:tabLst>
                <a:tab pos="419100" algn="l"/>
              </a:tabLst>
            </a:pPr>
            <a:r>
              <a:rPr lang="en-US" sz="2000" b="1" spc="-10" dirty="0">
                <a:latin typeface="Calibri"/>
                <a:cs typeface="Calibri"/>
              </a:rPr>
              <a:t>Targeted</a:t>
            </a:r>
            <a:r>
              <a:rPr lang="en-US" sz="2000" b="1" spc="-40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Promotions</a:t>
            </a:r>
            <a:r>
              <a:rPr lang="en-US" sz="2000" dirty="0">
                <a:latin typeface="Calibri"/>
                <a:cs typeface="Calibri"/>
              </a:rPr>
              <a:t>: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Use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targeted</a:t>
            </a:r>
            <a:r>
              <a:rPr lang="en-US" sz="2000" spc="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promotions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for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combinations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like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Baby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products and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IN" sz="2000" dirty="0"/>
              <a:t>Food &amp; Beverages</a:t>
            </a:r>
            <a:r>
              <a:rPr lang="en-US" sz="2000" spc="5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to</a:t>
            </a:r>
            <a:r>
              <a:rPr lang="en-US" sz="2000" spc="50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attract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specific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customer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segments.</a:t>
            </a:r>
          </a:p>
          <a:p>
            <a:pPr marL="419100" marR="5080" lvl="1" indent="-117475">
              <a:lnSpc>
                <a:spcPct val="100000"/>
              </a:lnSpc>
              <a:spcBef>
                <a:spcPts val="15"/>
              </a:spcBef>
              <a:buFont typeface="Wingdings"/>
              <a:buChar char=""/>
              <a:tabLst>
                <a:tab pos="419100" algn="l"/>
              </a:tabLst>
            </a:pPr>
            <a:endParaRPr lang="en-US" sz="2000" spc="-10" dirty="0">
              <a:latin typeface="Calibri"/>
              <a:cs typeface="Calibri"/>
            </a:endParaRPr>
          </a:p>
          <a:p>
            <a:pPr marL="419100" marR="5080" lvl="1" indent="-117475">
              <a:lnSpc>
                <a:spcPct val="100000"/>
              </a:lnSpc>
              <a:spcBef>
                <a:spcPts val="15"/>
              </a:spcBef>
              <a:buFont typeface="Wingdings"/>
              <a:buChar char=""/>
              <a:tabLst>
                <a:tab pos="419100" algn="l"/>
              </a:tabLst>
            </a:pPr>
            <a:endParaRPr lang="en-US" sz="2000" spc="-10" dirty="0">
              <a:latin typeface="Calibri"/>
              <a:cs typeface="Calibri"/>
            </a:endParaRPr>
          </a:p>
          <a:p>
            <a:pPr marL="259079" indent="-246379">
              <a:lnSpc>
                <a:spcPct val="100000"/>
              </a:lnSpc>
              <a:buFont typeface="Wingdings"/>
              <a:buChar char=""/>
              <a:tabLst>
                <a:tab pos="259079" algn="l"/>
              </a:tabLst>
            </a:pPr>
            <a:r>
              <a:rPr lang="en-US" sz="2000" b="1" dirty="0">
                <a:latin typeface="Calibri"/>
                <a:cs typeface="Calibri"/>
              </a:rPr>
              <a:t>Customer</a:t>
            </a:r>
            <a:r>
              <a:rPr lang="en-US" sz="2000" b="1" spc="-50" dirty="0">
                <a:latin typeface="Calibri"/>
                <a:cs typeface="Calibri"/>
              </a:rPr>
              <a:t> </a:t>
            </a:r>
            <a:r>
              <a:rPr lang="en-US" sz="2000" b="1" spc="-10" dirty="0">
                <a:latin typeface="Calibri"/>
                <a:cs typeface="Calibri"/>
              </a:rPr>
              <a:t>Insights:</a:t>
            </a:r>
            <a:endParaRPr lang="en-US" sz="2000" dirty="0">
              <a:latin typeface="Calibri"/>
              <a:cs typeface="Calibri"/>
            </a:endParaRPr>
          </a:p>
          <a:p>
            <a:pPr marL="419100" marR="408940" lvl="1" indent="-117475">
              <a:lnSpc>
                <a:spcPct val="100000"/>
              </a:lnSpc>
              <a:buFont typeface="Wingdings"/>
              <a:buChar char=""/>
              <a:tabLst>
                <a:tab pos="419100" algn="l"/>
              </a:tabLst>
            </a:pPr>
            <a:r>
              <a:rPr lang="en-US" sz="2000" b="1" spc="-10" dirty="0">
                <a:latin typeface="Calibri"/>
                <a:cs typeface="Calibri"/>
              </a:rPr>
              <a:t>Personalized</a:t>
            </a:r>
            <a:r>
              <a:rPr lang="en-US" sz="2000" b="1" spc="10" dirty="0">
                <a:latin typeface="Calibri"/>
                <a:cs typeface="Calibri"/>
              </a:rPr>
              <a:t> </a:t>
            </a:r>
            <a:r>
              <a:rPr lang="en-US" sz="2000" b="1" spc="-10" dirty="0">
                <a:latin typeface="Calibri"/>
                <a:cs typeface="Calibri"/>
              </a:rPr>
              <a:t>Recommendations</a:t>
            </a:r>
            <a:r>
              <a:rPr lang="en-US" sz="2000" spc="-10" dirty="0">
                <a:latin typeface="Calibri"/>
                <a:cs typeface="Calibri"/>
              </a:rPr>
              <a:t>:</a:t>
            </a:r>
            <a:r>
              <a:rPr lang="en-US" sz="2000" spc="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Use</a:t>
            </a:r>
            <a:r>
              <a:rPr lang="en-US" sz="2000" spc="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data</a:t>
            </a:r>
            <a:r>
              <a:rPr lang="en-US" sz="2000" spc="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provide</a:t>
            </a:r>
            <a:r>
              <a:rPr lang="en-US" sz="2000" spc="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personalized</a:t>
            </a:r>
            <a:r>
              <a:rPr lang="en-US" sz="2000" spc="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product</a:t>
            </a:r>
            <a:r>
              <a:rPr lang="en-US" sz="2000" spc="1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recommendations</a:t>
            </a:r>
            <a:r>
              <a:rPr lang="en-US" sz="2000" spc="2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to</a:t>
            </a:r>
            <a:r>
              <a:rPr lang="en-US" sz="2000" spc="50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customers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based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on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their</a:t>
            </a:r>
            <a:r>
              <a:rPr lang="en-US" sz="2000" spc="-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purchase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history.</a:t>
            </a:r>
            <a:endParaRPr lang="en-US" sz="2000" dirty="0">
              <a:latin typeface="Calibri"/>
              <a:cs typeface="Calibri"/>
            </a:endParaRPr>
          </a:p>
          <a:p>
            <a:pPr marL="419100" marR="345440" lvl="1" indent="-117475">
              <a:lnSpc>
                <a:spcPct val="100000"/>
              </a:lnSpc>
              <a:spcBef>
                <a:spcPts val="15"/>
              </a:spcBef>
              <a:buFont typeface="Wingdings"/>
              <a:buChar char=""/>
              <a:tabLst>
                <a:tab pos="419100" algn="l"/>
              </a:tabLst>
            </a:pPr>
            <a:r>
              <a:rPr lang="en-US" sz="2000" b="1" dirty="0">
                <a:latin typeface="Calibri"/>
                <a:cs typeface="Calibri"/>
              </a:rPr>
              <a:t>Customer</a:t>
            </a:r>
            <a:r>
              <a:rPr lang="en-US" sz="2000" b="1" spc="-50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Segmentation</a:t>
            </a:r>
            <a:r>
              <a:rPr lang="en-US" sz="2000" dirty="0">
                <a:latin typeface="Calibri"/>
                <a:cs typeface="Calibri"/>
              </a:rPr>
              <a:t>: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Segment</a:t>
            </a:r>
            <a:r>
              <a:rPr lang="en-US" sz="2000" spc="-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customers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based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on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their</a:t>
            </a:r>
            <a:r>
              <a:rPr lang="en-US" sz="2000" spc="-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purchasing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patterns</a:t>
            </a:r>
            <a:r>
              <a:rPr lang="en-US" sz="2000" spc="-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tailor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marketing</a:t>
            </a:r>
            <a:r>
              <a:rPr lang="en-US" sz="2000" spc="50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campaigns</a:t>
            </a:r>
            <a:r>
              <a:rPr lang="en-US" sz="2000" spc="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each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segment.</a:t>
            </a:r>
            <a:endParaRPr lang="en-US" sz="2000" dirty="0">
              <a:latin typeface="Calibri"/>
              <a:cs typeface="Calibri"/>
            </a:endParaRPr>
          </a:p>
          <a:p>
            <a:pPr marL="419100" marR="5080" lvl="1" indent="-117475">
              <a:lnSpc>
                <a:spcPct val="100000"/>
              </a:lnSpc>
              <a:spcBef>
                <a:spcPts val="15"/>
              </a:spcBef>
              <a:buFont typeface="Wingdings"/>
              <a:buChar char=""/>
              <a:tabLst>
                <a:tab pos="419100" algn="l"/>
              </a:tabLst>
            </a:pPr>
            <a:endParaRPr lang="en-US" sz="2000" dirty="0">
              <a:latin typeface="Calibri"/>
              <a:cs typeface="Calibri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8196174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3BF1598-EE2D-4FC5-0B5B-71FDD830B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2BE27FC5-85A9-3237-A94C-2C8A0245FC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C462012-7996-59A7-30A8-BD5D31321953}"/>
              </a:ext>
            </a:extLst>
          </p:cNvPr>
          <p:cNvSpPr txBox="1"/>
          <p:nvPr/>
        </p:nvSpPr>
        <p:spPr>
          <a:xfrm>
            <a:off x="575187" y="0"/>
            <a:ext cx="11041625" cy="707886"/>
          </a:xfrm>
          <a:prstGeom prst="rect">
            <a:avLst/>
          </a:prstGeom>
          <a:solidFill>
            <a:srgbClr val="348E90"/>
          </a:solidFill>
        </p:spPr>
        <p:txBody>
          <a:bodyPr wrap="square">
            <a:spAutoFit/>
          </a:bodyPr>
          <a:lstStyle/>
          <a:p>
            <a:pPr algn="ctr"/>
            <a:r>
              <a:rPr lang="en-IN" sz="4000" b="1" spc="41">
                <a:solidFill>
                  <a:schemeClr val="bg1"/>
                </a:solidFill>
                <a:latin typeface="Trebuchet MS"/>
                <a:cs typeface="Trebuchet MS"/>
              </a:rPr>
              <a:t>Customer Behaviour</a:t>
            </a:r>
            <a:endParaRPr lang="en-IN" sz="4000" dirty="0">
              <a:solidFill>
                <a:schemeClr val="bg1"/>
              </a:solidFill>
            </a:endParaRPr>
          </a:p>
        </p:txBody>
      </p:sp>
      <p:grpSp>
        <p:nvGrpSpPr>
          <p:cNvPr id="2" name="object 3">
            <a:extLst>
              <a:ext uri="{FF2B5EF4-FFF2-40B4-BE49-F238E27FC236}">
                <a16:creationId xmlns:a16="http://schemas.microsoft.com/office/drawing/2014/main" id="{AF5A7223-4987-4306-3034-BD5989CEABE1}"/>
              </a:ext>
            </a:extLst>
          </p:cNvPr>
          <p:cNvGrpSpPr/>
          <p:nvPr/>
        </p:nvGrpSpPr>
        <p:grpSpPr>
          <a:xfrm>
            <a:off x="0" y="0"/>
            <a:ext cx="12192000" cy="6331974"/>
            <a:chOff x="480058" y="923544"/>
            <a:chExt cx="8275565" cy="5498078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942E2AF1-8006-3E6C-E8DE-C5FCC58B8EB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34977" y="1186199"/>
              <a:ext cx="2792277" cy="2953717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61552BF-D9C7-C4E0-0013-94D68FD1E7F0}"/>
                </a:ext>
              </a:extLst>
            </p:cNvPr>
            <p:cNvSpPr/>
            <p:nvPr/>
          </p:nvSpPr>
          <p:spPr>
            <a:xfrm>
              <a:off x="480059" y="3986631"/>
              <a:ext cx="5897880" cy="254000"/>
            </a:xfrm>
            <a:custGeom>
              <a:avLst/>
              <a:gdLst/>
              <a:ahLst/>
              <a:cxnLst/>
              <a:rect l="l" t="t" r="r" b="b"/>
              <a:pathLst>
                <a:path w="5897880" h="254000">
                  <a:moveTo>
                    <a:pt x="5897880" y="0"/>
                  </a:moveTo>
                  <a:lnTo>
                    <a:pt x="0" y="0"/>
                  </a:lnTo>
                  <a:lnTo>
                    <a:pt x="0" y="253898"/>
                  </a:lnTo>
                  <a:lnTo>
                    <a:pt x="5897880" y="253898"/>
                  </a:lnTo>
                  <a:lnTo>
                    <a:pt x="5897880" y="0"/>
                  </a:lnTo>
                  <a:close/>
                </a:path>
              </a:pathLst>
            </a:custGeom>
            <a:solidFill>
              <a:srgbClr val="348E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CBA5DA01-2BB7-0AF1-A96B-5D2DBBA5B65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0059" y="4005884"/>
              <a:ext cx="1044511" cy="235407"/>
            </a:xfrm>
            <a:prstGeom prst="rect">
              <a:avLst/>
            </a:prstGeom>
          </p:spPr>
        </p:pic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7948D275-F192-D7E5-3B04-767CD19839BE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0058" y="923544"/>
              <a:ext cx="8275565" cy="5498078"/>
            </a:xfrm>
            <a:prstGeom prst="rect">
              <a:avLst/>
            </a:prstGeom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03EAC6C7-5EEF-FF4E-A3EF-300C9DFDA8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" y="0"/>
            <a:ext cx="12191999" cy="633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56861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45C5C42-28BE-2197-49B7-08CE84A3F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35291219-0D8F-A0D8-C75B-020681C4E6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B40B288-91AE-919D-7A44-5A5AAD3027D0}"/>
              </a:ext>
            </a:extLst>
          </p:cNvPr>
          <p:cNvSpPr txBox="1"/>
          <p:nvPr/>
        </p:nvSpPr>
        <p:spPr>
          <a:xfrm>
            <a:off x="575187" y="0"/>
            <a:ext cx="11041625" cy="6463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9pPr>
          </a:lstStyle>
          <a:p>
            <a:r>
              <a:rPr lang="en-IN" dirty="0"/>
              <a:t>CATEGORYWISE SALES (PARETO ANALYSIS)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1828A4-3FA3-5F2D-74A3-D7B793F14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87" y="850116"/>
            <a:ext cx="11041625" cy="533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4746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530A52E-2258-3F2F-C4AD-82040AAA9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DD65D5A3-434A-CF03-ECFD-5A85B7642A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389ABDF-91DE-97AB-EAF5-8A75878C5850}"/>
              </a:ext>
            </a:extLst>
          </p:cNvPr>
          <p:cNvSpPr txBox="1"/>
          <p:nvPr/>
        </p:nvSpPr>
        <p:spPr>
          <a:xfrm>
            <a:off x="575187" y="0"/>
            <a:ext cx="11041625" cy="5847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9pPr>
          </a:lstStyle>
          <a:p>
            <a:r>
              <a:rPr lang="en-IN" dirty="0"/>
              <a:t>CATEGORYWISE – SALES (PARETO ANALYSIS)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77BC92A-58C3-F3BE-F956-1784898CEE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3570218"/>
              </p:ext>
            </p:extLst>
          </p:nvPr>
        </p:nvGraphicFramePr>
        <p:xfrm>
          <a:off x="575187" y="631178"/>
          <a:ext cx="6140244" cy="563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5265">
                  <a:extLst>
                    <a:ext uri="{9D8B030D-6E8A-4147-A177-3AD203B41FA5}">
                      <a16:colId xmlns:a16="http://schemas.microsoft.com/office/drawing/2014/main" val="1464273233"/>
                    </a:ext>
                  </a:extLst>
                </a:gridCol>
                <a:gridCol w="1661651">
                  <a:extLst>
                    <a:ext uri="{9D8B030D-6E8A-4147-A177-3AD203B41FA5}">
                      <a16:colId xmlns:a16="http://schemas.microsoft.com/office/drawing/2014/main" val="817948268"/>
                    </a:ext>
                  </a:extLst>
                </a:gridCol>
                <a:gridCol w="1563328">
                  <a:extLst>
                    <a:ext uri="{9D8B030D-6E8A-4147-A177-3AD203B41FA5}">
                      <a16:colId xmlns:a16="http://schemas.microsoft.com/office/drawing/2014/main" val="3217502098"/>
                    </a:ext>
                  </a:extLst>
                </a:gridCol>
              </a:tblGrid>
              <a:tr h="368910">
                <a:tc>
                  <a:txBody>
                    <a:bodyPr/>
                    <a:lstStyle/>
                    <a:p>
                      <a:r>
                        <a:rPr lang="en-US" dirty="0"/>
                        <a:t>Category</a:t>
                      </a:r>
                      <a:endParaRPr lang="en-IN" dirty="0"/>
                    </a:p>
                  </a:txBody>
                  <a:tcPr>
                    <a:solidFill>
                      <a:srgbClr val="348E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Sales</a:t>
                      </a:r>
                      <a:endParaRPr lang="en-IN" dirty="0"/>
                    </a:p>
                  </a:txBody>
                  <a:tcPr>
                    <a:solidFill>
                      <a:srgbClr val="348E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</a:t>
                      </a:r>
                      <a:endParaRPr lang="en-IN" dirty="0"/>
                    </a:p>
                  </a:txBody>
                  <a:tcPr>
                    <a:solidFill>
                      <a:srgbClr val="348E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8901278"/>
                  </a:ext>
                </a:extLst>
              </a:tr>
              <a:tr h="368910">
                <a:tc>
                  <a:txBody>
                    <a:bodyPr/>
                    <a:lstStyle/>
                    <a:p>
                      <a:r>
                        <a:rPr lang="en-US" dirty="0"/>
                        <a:t>Toys &amp; Gifts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2691578.50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16.46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5552110"/>
                  </a:ext>
                </a:extLst>
              </a:tr>
              <a:tr h="3689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Baby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1851426.07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11.32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52143"/>
                  </a:ext>
                </a:extLst>
              </a:tr>
              <a:tr h="3689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Home-Appliances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1847947.29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11.3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363101"/>
                  </a:ext>
                </a:extLst>
              </a:tr>
              <a:tr h="3689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Food &amp; Beverages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1680701.07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10.28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3433472"/>
                  </a:ext>
                </a:extLst>
              </a:tr>
              <a:tr h="3689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Luggage-Accessories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1679499.59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10.27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980158"/>
                  </a:ext>
                </a:extLst>
              </a:tr>
              <a:tr h="368910">
                <a:tc>
                  <a:txBody>
                    <a:bodyPr/>
                    <a:lstStyle/>
                    <a:p>
                      <a:r>
                        <a:rPr lang="en-US" dirty="0"/>
                        <a:t>Furniture</a:t>
                      </a:r>
                      <a:endParaRPr lang="en-IN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1440701.19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8.81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642873"/>
                  </a:ext>
                </a:extLst>
              </a:tr>
              <a:tr h="3689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Computers &amp; Accessories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1336869.53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8.18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2659463"/>
                  </a:ext>
                </a:extLst>
              </a:tr>
              <a:tr h="3689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Construction-Tools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1132645.32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6.93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255436"/>
                  </a:ext>
                </a:extLst>
              </a:tr>
              <a:tr h="34065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Auto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701358.95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4.29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0082299"/>
                  </a:ext>
                </a:extLst>
              </a:tr>
              <a:tr h="36891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Stationery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695155.49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4.25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758011"/>
                  </a:ext>
                </a:extLst>
              </a:tr>
              <a:tr h="368910">
                <a:tc>
                  <a:txBody>
                    <a:bodyPr/>
                    <a:lstStyle/>
                    <a:p>
                      <a:r>
                        <a:rPr lang="en-US" dirty="0"/>
                        <a:t>Electronics</a:t>
                      </a:r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554840.13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3.39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83307"/>
                  </a:ext>
                </a:extLst>
              </a:tr>
              <a:tr h="365837">
                <a:tc>
                  <a:txBody>
                    <a:bodyPr/>
                    <a:lstStyle/>
                    <a:p>
                      <a:r>
                        <a:rPr lang="en-US" dirty="0"/>
                        <a:t>Pet-Shop</a:t>
                      </a:r>
                      <a:endParaRPr lang="en-IN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261509.76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1.6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043015"/>
                  </a:ext>
                </a:extLst>
              </a:tr>
              <a:tr h="368910">
                <a:tc>
                  <a:txBody>
                    <a:bodyPr/>
                    <a:lstStyle/>
                    <a:p>
                      <a:r>
                        <a:rPr lang="en-US" dirty="0"/>
                        <a:t>Fashion</a:t>
                      </a:r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259253.62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1.59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710020"/>
                  </a:ext>
                </a:extLst>
              </a:tr>
              <a:tr h="368910">
                <a:tc>
                  <a:txBody>
                    <a:bodyPr/>
                    <a:lstStyle/>
                    <a:p>
                      <a:r>
                        <a:rPr lang="en-US" dirty="0"/>
                        <a:t>Others</a:t>
                      </a:r>
                      <a:endParaRPr lang="en-IN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219031.34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1.34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1243298"/>
                  </a:ext>
                </a:extLst>
              </a:tr>
            </a:tbl>
          </a:graphicData>
        </a:graphic>
      </p:graphicFrame>
      <p:sp>
        <p:nvSpPr>
          <p:cNvPr id="6" name="object 15">
            <a:extLst>
              <a:ext uri="{FF2B5EF4-FFF2-40B4-BE49-F238E27FC236}">
                <a16:creationId xmlns:a16="http://schemas.microsoft.com/office/drawing/2014/main" id="{293F0066-A745-8C68-4B04-451F70C34493}"/>
              </a:ext>
            </a:extLst>
          </p:cNvPr>
          <p:cNvSpPr txBox="1"/>
          <p:nvPr/>
        </p:nvSpPr>
        <p:spPr>
          <a:xfrm>
            <a:off x="7531510" y="2303145"/>
            <a:ext cx="3932903" cy="2424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95"/>
              </a:spcBef>
            </a:pPr>
            <a:r>
              <a:rPr lang="en-US" b="1" i="1" dirty="0">
                <a:latin typeface="Calibri"/>
                <a:cs typeface="Calibri"/>
              </a:rPr>
              <a:t>Pareto Principal</a:t>
            </a:r>
          </a:p>
          <a:p>
            <a:pPr marL="12700" marR="5080">
              <a:lnSpc>
                <a:spcPct val="100400"/>
              </a:lnSpc>
              <a:spcBef>
                <a:spcPts val="95"/>
              </a:spcBef>
            </a:pPr>
            <a:endParaRPr lang="en-IN" sz="1600" dirty="0">
              <a:latin typeface="Calibri"/>
              <a:cs typeface="Calibri"/>
            </a:endParaRPr>
          </a:p>
          <a:p>
            <a:pPr marL="12700" marR="5080">
              <a:lnSpc>
                <a:spcPct val="100400"/>
              </a:lnSpc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Pareto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Principle, also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known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80/20</a:t>
            </a:r>
            <a:r>
              <a:rPr sz="1600" spc="5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rule.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According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 Pareto </a:t>
            </a:r>
            <a:r>
              <a:rPr sz="1600" spc="-10" dirty="0">
                <a:latin typeface="Calibri"/>
                <a:cs typeface="Calibri"/>
              </a:rPr>
              <a:t>Principle,</a:t>
            </a:r>
            <a:r>
              <a:rPr sz="1600" spc="5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approximately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80%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effects</a:t>
            </a:r>
            <a:r>
              <a:rPr sz="1600" spc="-20" dirty="0">
                <a:latin typeface="Calibri"/>
                <a:cs typeface="Calibri"/>
              </a:rPr>
              <a:t> come</a:t>
            </a:r>
            <a:r>
              <a:rPr sz="1600" spc="5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from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20%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causes.</a:t>
            </a:r>
            <a:endParaRPr sz="1600" dirty="0">
              <a:latin typeface="Calibri"/>
              <a:cs typeface="Calibri"/>
            </a:endParaRPr>
          </a:p>
          <a:p>
            <a:pPr marL="196850" marR="88900" indent="-184785" algn="just">
              <a:lnSpc>
                <a:spcPct val="100600"/>
              </a:lnSpc>
              <a:spcBef>
                <a:spcPts val="1075"/>
              </a:spcBef>
              <a:buFont typeface="Arial"/>
              <a:buChar char="•"/>
              <a:tabLst>
                <a:tab pos="196850" algn="l"/>
              </a:tabLst>
            </a:pPr>
            <a:r>
              <a:rPr sz="1600" dirty="0">
                <a:latin typeface="Calibri"/>
                <a:cs typeface="Calibri"/>
              </a:rPr>
              <a:t>We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observe that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around 50%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the</a:t>
            </a:r>
            <a:r>
              <a:rPr sz="1600" spc="5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categories contribute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nearly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80%</a:t>
            </a:r>
            <a:r>
              <a:rPr sz="1600" spc="-25" dirty="0">
                <a:latin typeface="Calibri"/>
                <a:cs typeface="Calibri"/>
              </a:rPr>
              <a:t> of</a:t>
            </a:r>
            <a:r>
              <a:rPr sz="1600" spc="5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total </a:t>
            </a:r>
            <a:r>
              <a:rPr sz="1600" spc="-10" dirty="0">
                <a:latin typeface="Calibri"/>
                <a:cs typeface="Calibri"/>
              </a:rPr>
              <a:t>sales.</a:t>
            </a:r>
            <a:endParaRPr sz="16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1662660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C756F8A-FEAD-FFCC-89F2-027FD2CF4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891E300B-7152-B1CF-26F7-FF14BC19E8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FD61DAA-731C-1BF7-ECC7-AA22A6ADD73C}"/>
              </a:ext>
            </a:extLst>
          </p:cNvPr>
          <p:cNvSpPr txBox="1"/>
          <p:nvPr/>
        </p:nvSpPr>
        <p:spPr>
          <a:xfrm>
            <a:off x="575187" y="0"/>
            <a:ext cx="11041625" cy="6463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9pPr>
          </a:lstStyle>
          <a:p>
            <a:r>
              <a:rPr lang="en-IN" dirty="0"/>
              <a:t>CATEGORYWISE SALES (PARETO ANALYSIS)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ABF946-0318-DF6B-6AC2-8E873EFA8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87" y="1052181"/>
            <a:ext cx="5334744" cy="4753638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9E5C734-FC0C-8640-2983-19290950EA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9565969"/>
              </p:ext>
            </p:extLst>
          </p:nvPr>
        </p:nvGraphicFramePr>
        <p:xfrm>
          <a:off x="6961239" y="1052184"/>
          <a:ext cx="4321276" cy="4753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8044">
                  <a:extLst>
                    <a:ext uri="{9D8B030D-6E8A-4147-A177-3AD203B41FA5}">
                      <a16:colId xmlns:a16="http://schemas.microsoft.com/office/drawing/2014/main" val="1464273233"/>
                    </a:ext>
                  </a:extLst>
                </a:gridCol>
                <a:gridCol w="1227946">
                  <a:extLst>
                    <a:ext uri="{9D8B030D-6E8A-4147-A177-3AD203B41FA5}">
                      <a16:colId xmlns:a16="http://schemas.microsoft.com/office/drawing/2014/main" val="817948268"/>
                    </a:ext>
                  </a:extLst>
                </a:gridCol>
                <a:gridCol w="1155286">
                  <a:extLst>
                    <a:ext uri="{9D8B030D-6E8A-4147-A177-3AD203B41FA5}">
                      <a16:colId xmlns:a16="http://schemas.microsoft.com/office/drawing/2014/main" val="3217502098"/>
                    </a:ext>
                  </a:extLst>
                </a:gridCol>
              </a:tblGrid>
              <a:tr h="316909"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Category</a:t>
                      </a:r>
                      <a:endParaRPr lang="en-IN" sz="1100" dirty="0"/>
                    </a:p>
                  </a:txBody>
                  <a:tcPr>
                    <a:solidFill>
                      <a:srgbClr val="348E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 Sales</a:t>
                      </a:r>
                      <a:endParaRPr lang="en-IN" sz="1100" dirty="0"/>
                    </a:p>
                  </a:txBody>
                  <a:tcPr>
                    <a:solidFill>
                      <a:srgbClr val="348E9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/>
                        <a:t>Percentage</a:t>
                      </a:r>
                      <a:endParaRPr lang="en-IN" sz="1100" dirty="0"/>
                    </a:p>
                  </a:txBody>
                  <a:tcPr>
                    <a:solidFill>
                      <a:srgbClr val="348E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8901278"/>
                  </a:ext>
                </a:extLst>
              </a:tr>
              <a:tr h="31690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Toys &amp; Gifts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2691578.50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16.46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5552110"/>
                  </a:ext>
                </a:extLst>
              </a:tr>
              <a:tr h="3169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/>
                        <a:t>Baby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dirty="0"/>
                        <a:t>1851426.07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11.32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52143"/>
                  </a:ext>
                </a:extLst>
              </a:tr>
              <a:tr h="3169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/>
                        <a:t>Home-Appliances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1847947.29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11.3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363101"/>
                  </a:ext>
                </a:extLst>
              </a:tr>
              <a:tr h="3169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/>
                        <a:t>Food &amp; Beverages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1680701.07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10.28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3433472"/>
                  </a:ext>
                </a:extLst>
              </a:tr>
              <a:tr h="3169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/>
                        <a:t>Luggage-Accessories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1679499.59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10.27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980158"/>
                  </a:ext>
                </a:extLst>
              </a:tr>
              <a:tr h="31690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Furniture</a:t>
                      </a:r>
                      <a:endParaRPr lang="en-IN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dirty="0"/>
                        <a:t>1440701.19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8.81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642873"/>
                  </a:ext>
                </a:extLst>
              </a:tr>
              <a:tr h="3169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/>
                        <a:t>Computers &amp; Accessories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1336869.53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8.18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2659463"/>
                  </a:ext>
                </a:extLst>
              </a:tr>
              <a:tr h="3169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/>
                        <a:t>Construction-Tools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dirty="0"/>
                        <a:t>1132645.32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6.93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255436"/>
                  </a:ext>
                </a:extLst>
              </a:tr>
              <a:tr h="3169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/>
                        <a:t>Auto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701358.95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4.29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0082299"/>
                  </a:ext>
                </a:extLst>
              </a:tr>
              <a:tr h="3169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/>
                        <a:t>Stationery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695155.49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4.25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758011"/>
                  </a:ext>
                </a:extLst>
              </a:tr>
              <a:tr h="31690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Electronics</a:t>
                      </a:r>
                      <a:endParaRPr lang="en-IN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dirty="0"/>
                        <a:t>554840.13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3.39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83307"/>
                  </a:ext>
                </a:extLst>
              </a:tr>
              <a:tr h="31690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Pet-Shop</a:t>
                      </a:r>
                      <a:endParaRPr lang="en-IN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261509.76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1.6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043015"/>
                  </a:ext>
                </a:extLst>
              </a:tr>
              <a:tr h="31690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Fashion</a:t>
                      </a:r>
                      <a:endParaRPr lang="en-IN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259253.62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1.59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710020"/>
                  </a:ext>
                </a:extLst>
              </a:tr>
              <a:tr h="31690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Others</a:t>
                      </a:r>
                      <a:endParaRPr lang="en-IN" sz="12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/>
                        <a:t>219031.34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dirty="0"/>
                        <a:t>1.34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12432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63884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FAA4C13-B4A7-1F1A-CECD-C3D810A33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1BC06F39-DA95-F0F8-96D0-D6EDED386C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92A4D0B-FDF9-2A22-78C0-DF88DB709992}"/>
              </a:ext>
            </a:extLst>
          </p:cNvPr>
          <p:cNvSpPr txBox="1"/>
          <p:nvPr/>
        </p:nvSpPr>
        <p:spPr>
          <a:xfrm>
            <a:off x="575187" y="0"/>
            <a:ext cx="11041625" cy="6463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9pPr>
          </a:lstStyle>
          <a:p>
            <a:r>
              <a:rPr lang="en-IN" dirty="0"/>
              <a:t>CATEGORY PENETRATION ANALYSIS</a:t>
            </a:r>
          </a:p>
        </p:txBody>
      </p:sp>
      <p:sp>
        <p:nvSpPr>
          <p:cNvPr id="3" name="object 9">
            <a:extLst>
              <a:ext uri="{FF2B5EF4-FFF2-40B4-BE49-F238E27FC236}">
                <a16:creationId xmlns:a16="http://schemas.microsoft.com/office/drawing/2014/main" id="{62C6033C-2410-7F06-63D5-E32EE7333066}"/>
              </a:ext>
            </a:extLst>
          </p:cNvPr>
          <p:cNvSpPr txBox="1"/>
          <p:nvPr/>
        </p:nvSpPr>
        <p:spPr>
          <a:xfrm>
            <a:off x="1271907" y="2008922"/>
            <a:ext cx="9648184" cy="16799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just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Calibri"/>
                <a:cs typeface="Calibri"/>
              </a:rPr>
              <a:t>Category Penetration</a:t>
            </a:r>
            <a:r>
              <a:rPr spc="280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=</a:t>
            </a:r>
            <a:r>
              <a:rPr spc="17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Number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Orders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Containing</a:t>
            </a:r>
            <a:r>
              <a:rPr spc="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Category</a:t>
            </a:r>
            <a:r>
              <a:rPr spc="19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x</a:t>
            </a:r>
            <a:r>
              <a:rPr spc="175" dirty="0">
                <a:latin typeface="Calibri"/>
                <a:cs typeface="Calibri"/>
              </a:rPr>
              <a:t>  </a:t>
            </a:r>
            <a:r>
              <a:rPr spc="-25" dirty="0">
                <a:latin typeface="Calibri"/>
                <a:cs typeface="Calibri"/>
              </a:rPr>
              <a:t>100</a:t>
            </a:r>
            <a:endParaRPr dirty="0">
              <a:latin typeface="Calibri"/>
              <a:cs typeface="Calibri"/>
            </a:endParaRPr>
          </a:p>
          <a:p>
            <a:pPr marR="467995" algn="ctr">
              <a:lnSpc>
                <a:spcPct val="100000"/>
              </a:lnSpc>
              <a:spcBef>
                <a:spcPts val="1090"/>
              </a:spcBef>
            </a:pPr>
            <a:r>
              <a:rPr dirty="0">
                <a:latin typeface="Calibri"/>
                <a:cs typeface="Calibri"/>
              </a:rPr>
              <a:t>Total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Number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Orders</a:t>
            </a:r>
            <a:endParaRPr dirty="0">
              <a:latin typeface="Calibri"/>
              <a:cs typeface="Calibri"/>
            </a:endParaRPr>
          </a:p>
          <a:p>
            <a:pPr marR="5080" algn="just">
              <a:lnSpc>
                <a:spcPct val="100000"/>
              </a:lnSpc>
              <a:spcBef>
                <a:spcPts val="1095"/>
              </a:spcBef>
            </a:pPr>
            <a:r>
              <a:rPr b="1" spc="-10" dirty="0">
                <a:latin typeface="Calibri"/>
                <a:cs typeface="Calibri"/>
              </a:rPr>
              <a:t>Category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Penetration</a:t>
            </a:r>
            <a:r>
              <a:rPr b="1" spc="-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Analysis</a:t>
            </a:r>
            <a:r>
              <a:rPr b="1" spc="1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by</a:t>
            </a:r>
            <a:r>
              <a:rPr b="1" spc="-10" dirty="0">
                <a:latin typeface="Calibri"/>
                <a:cs typeface="Calibri"/>
              </a:rPr>
              <a:t> Month-on-</a:t>
            </a:r>
            <a:r>
              <a:rPr b="1" dirty="0">
                <a:latin typeface="Calibri"/>
                <a:cs typeface="Calibri"/>
              </a:rPr>
              <a:t>Month</a:t>
            </a:r>
            <a:r>
              <a:rPr b="1" spc="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focuses on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tracking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how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often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particular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product</a:t>
            </a:r>
            <a:r>
              <a:rPr spc="50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category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included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customer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orders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over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time.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goal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understand</a:t>
            </a:r>
            <a:r>
              <a:rPr spc="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popularity or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reach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spc="-50" dirty="0">
                <a:latin typeface="Calibri"/>
                <a:cs typeface="Calibri"/>
              </a:rPr>
              <a:t>a</a:t>
            </a:r>
            <a:r>
              <a:rPr spc="50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category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within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overall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orders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for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each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month.</a:t>
            </a:r>
            <a:endParaRPr dirty="0">
              <a:latin typeface="Calibri"/>
              <a:cs typeface="Calibri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465E8CA-51B5-6806-4A0F-36A249D34132}"/>
              </a:ext>
            </a:extLst>
          </p:cNvPr>
          <p:cNvCxnSpPr/>
          <p:nvPr/>
        </p:nvCxnSpPr>
        <p:spPr>
          <a:xfrm>
            <a:off x="3628103" y="2399071"/>
            <a:ext cx="494562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385837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CC252AB-65CD-BBDE-4871-ECB4F093C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06D1DA36-0803-6DC9-74DD-8B7D6B6CCF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94375CA-83E4-8895-C30A-C9192D097C1B}"/>
              </a:ext>
            </a:extLst>
          </p:cNvPr>
          <p:cNvSpPr txBox="1"/>
          <p:nvPr/>
        </p:nvSpPr>
        <p:spPr>
          <a:xfrm>
            <a:off x="575187" y="0"/>
            <a:ext cx="11041625" cy="6463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9pPr>
          </a:lstStyle>
          <a:p>
            <a:r>
              <a:rPr lang="en-IN" dirty="0"/>
              <a:t>CATEGORY PENETRATION 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9382CC-EEA3-6F32-6122-91DEB79D9F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86" y="772114"/>
            <a:ext cx="11041625" cy="5392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090747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F06A459-C0DE-470C-51A9-4F51D0DDD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47FE2394-F9FA-95B5-57FB-1E4543F73E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F0B2AC0-7090-B95D-97AA-AA57F1FEE5DE}"/>
              </a:ext>
            </a:extLst>
          </p:cNvPr>
          <p:cNvSpPr txBox="1"/>
          <p:nvPr/>
        </p:nvSpPr>
        <p:spPr>
          <a:xfrm>
            <a:off x="575187" y="0"/>
            <a:ext cx="11041625" cy="6463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9pPr>
          </a:lstStyle>
          <a:p>
            <a:r>
              <a:rPr lang="en-IN" dirty="0"/>
              <a:t>CATEGORY PENETRATION ANALYSIS</a:t>
            </a:r>
          </a:p>
        </p:txBody>
      </p:sp>
      <p:sp>
        <p:nvSpPr>
          <p:cNvPr id="2" name="object 8">
            <a:extLst>
              <a:ext uri="{FF2B5EF4-FFF2-40B4-BE49-F238E27FC236}">
                <a16:creationId xmlns:a16="http://schemas.microsoft.com/office/drawing/2014/main" id="{BAA70CF5-BB49-6A20-F102-37583490F90E}"/>
              </a:ext>
            </a:extLst>
          </p:cNvPr>
          <p:cNvSpPr txBox="1"/>
          <p:nvPr/>
        </p:nvSpPr>
        <p:spPr>
          <a:xfrm>
            <a:off x="611225" y="828095"/>
            <a:ext cx="11005587" cy="514628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b="1" spc="-10" dirty="0">
                <a:latin typeface="Calibri"/>
                <a:cs typeface="Calibri"/>
              </a:rPr>
              <a:t>Observations</a:t>
            </a:r>
            <a:endParaRPr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dirty="0">
              <a:latin typeface="Calibri"/>
              <a:cs typeface="Calibri"/>
            </a:endParaRPr>
          </a:p>
          <a:p>
            <a:pPr marL="196850" indent="-184150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196850" algn="l"/>
              </a:tabLst>
            </a:pPr>
            <a:r>
              <a:rPr dirty="0">
                <a:latin typeface="Calibri"/>
                <a:cs typeface="Calibri"/>
              </a:rPr>
              <a:t>In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October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2021,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Toys</a:t>
            </a:r>
            <a:r>
              <a:rPr b="1" spc="-2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and</a:t>
            </a:r>
            <a:r>
              <a:rPr b="1" spc="-3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Gifts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category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has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highest</a:t>
            </a:r>
            <a:r>
              <a:rPr spc="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penetration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when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compared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other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categories</a:t>
            </a:r>
            <a:endParaRPr lang="en-IN" spc="-10" dirty="0">
              <a:latin typeface="Calibri"/>
              <a:cs typeface="Calibri"/>
            </a:endParaRPr>
          </a:p>
          <a:p>
            <a:pPr marL="196850" indent="-184150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196850" algn="l"/>
              </a:tabLst>
            </a:pPr>
            <a:endParaRPr lang="en-IN" spc="-10" dirty="0">
              <a:latin typeface="Calibri"/>
              <a:cs typeface="Calibri"/>
            </a:endParaRPr>
          </a:p>
          <a:p>
            <a:pPr marL="196850" indent="-184150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196850" algn="l"/>
              </a:tabLst>
            </a:pPr>
            <a:r>
              <a:rPr dirty="0">
                <a:latin typeface="Calibri"/>
                <a:cs typeface="Calibri"/>
              </a:rPr>
              <a:t>In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year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2022</a:t>
            </a:r>
            <a:endParaRPr dirty="0">
              <a:latin typeface="Calibri"/>
              <a:cs typeface="Calibri"/>
            </a:endParaRPr>
          </a:p>
          <a:p>
            <a:pPr marL="360045" marR="59690" lvl="1" indent="-182880">
              <a:lnSpc>
                <a:spcPct val="100000"/>
              </a:lnSpc>
              <a:spcBef>
                <a:spcPts val="10"/>
              </a:spcBef>
              <a:buFont typeface="Arial"/>
              <a:buChar char="•"/>
              <a:tabLst>
                <a:tab pos="360045" algn="l"/>
              </a:tabLst>
            </a:pPr>
            <a:r>
              <a:rPr dirty="0">
                <a:latin typeface="Calibri"/>
                <a:cs typeface="Calibri"/>
              </a:rPr>
              <a:t>From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January to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March, </a:t>
            </a:r>
            <a:r>
              <a:rPr b="1" spc="-10" dirty="0">
                <a:latin typeface="Calibri"/>
                <a:cs typeface="Calibri"/>
              </a:rPr>
              <a:t>Furniture</a:t>
            </a:r>
            <a:r>
              <a:rPr b="1"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category has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highest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penetration</a:t>
            </a:r>
            <a:r>
              <a:rPr spc="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Pet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Shop </a:t>
            </a:r>
            <a:r>
              <a:rPr dirty="0">
                <a:latin typeface="Calibri"/>
                <a:cs typeface="Calibri"/>
              </a:rPr>
              <a:t>category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has the</a:t>
            </a:r>
            <a:r>
              <a:rPr spc="-10" dirty="0">
                <a:latin typeface="Calibri"/>
                <a:cs typeface="Calibri"/>
              </a:rPr>
              <a:t> least</a:t>
            </a:r>
            <a:r>
              <a:rPr spc="50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penetration.</a:t>
            </a:r>
            <a:endParaRPr dirty="0">
              <a:latin typeface="Calibri"/>
              <a:cs typeface="Calibri"/>
            </a:endParaRPr>
          </a:p>
          <a:p>
            <a:pPr marL="360045" marR="245110" lvl="1" indent="-182880">
              <a:lnSpc>
                <a:spcPct val="100000"/>
              </a:lnSpc>
              <a:buFont typeface="Arial"/>
              <a:buChar char="•"/>
              <a:tabLst>
                <a:tab pos="360045" algn="l"/>
              </a:tabLst>
            </a:pPr>
            <a:r>
              <a:rPr dirty="0">
                <a:latin typeface="Calibri"/>
                <a:cs typeface="Calibri"/>
              </a:rPr>
              <a:t>From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April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June,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Toys</a:t>
            </a:r>
            <a:r>
              <a:rPr b="1" spc="-2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and</a:t>
            </a:r>
            <a:r>
              <a:rPr b="1" spc="-3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Gifts</a:t>
            </a:r>
            <a:r>
              <a:rPr b="1"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category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has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highest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penetration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Pet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Shop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category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has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10" dirty="0">
                <a:latin typeface="Calibri"/>
                <a:cs typeface="Calibri"/>
              </a:rPr>
              <a:t> least</a:t>
            </a:r>
            <a:r>
              <a:rPr spc="50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penetration.</a:t>
            </a:r>
            <a:endParaRPr dirty="0">
              <a:latin typeface="Calibri"/>
              <a:cs typeface="Calibri"/>
            </a:endParaRPr>
          </a:p>
          <a:p>
            <a:pPr marL="360045" lvl="1" indent="-182880">
              <a:lnSpc>
                <a:spcPct val="100000"/>
              </a:lnSpc>
              <a:spcBef>
                <a:spcPts val="10"/>
              </a:spcBef>
              <a:buFont typeface="Arial"/>
              <a:buChar char="•"/>
              <a:tabLst>
                <a:tab pos="360045" algn="l"/>
              </a:tabLst>
            </a:pPr>
            <a:r>
              <a:rPr dirty="0">
                <a:latin typeface="Calibri"/>
                <a:cs typeface="Calibri"/>
              </a:rPr>
              <a:t>In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July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month,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Baby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category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has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highest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penetration</a:t>
            </a:r>
            <a:r>
              <a:rPr spc="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lang="en-IN" b="1" spc="-5" dirty="0">
                <a:latin typeface="Calibri"/>
                <a:cs typeface="Calibri"/>
              </a:rPr>
              <a:t>Others </a:t>
            </a:r>
            <a:r>
              <a:rPr dirty="0">
                <a:latin typeface="Calibri"/>
                <a:cs typeface="Calibri"/>
              </a:rPr>
              <a:t>category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has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least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penetration.</a:t>
            </a:r>
            <a:endParaRPr dirty="0">
              <a:latin typeface="Calibri"/>
              <a:cs typeface="Calibri"/>
            </a:endParaRPr>
          </a:p>
          <a:p>
            <a:pPr marL="360045" lvl="1" indent="-182880">
              <a:lnSpc>
                <a:spcPct val="100000"/>
              </a:lnSpc>
              <a:buFont typeface="Arial"/>
              <a:buChar char="•"/>
              <a:tabLst>
                <a:tab pos="360045" algn="l"/>
              </a:tabLst>
            </a:pPr>
            <a:r>
              <a:rPr dirty="0">
                <a:latin typeface="Calibri"/>
                <a:cs typeface="Calibri"/>
              </a:rPr>
              <a:t>From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August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December,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Toys</a:t>
            </a:r>
            <a:r>
              <a:rPr b="1" spc="-2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and</a:t>
            </a:r>
            <a:r>
              <a:rPr b="1" spc="-3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Gifts</a:t>
            </a:r>
            <a:r>
              <a:rPr b="1"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category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has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highest</a:t>
            </a:r>
            <a:r>
              <a:rPr spc="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penetration</a:t>
            </a:r>
            <a:r>
              <a:rPr spc="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where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as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lang="en-IN" b="1" spc="-5" dirty="0">
                <a:latin typeface="Calibri"/>
                <a:cs typeface="Calibri"/>
              </a:rPr>
              <a:t>Others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Pet</a:t>
            </a:r>
            <a:r>
              <a:rPr b="1" spc="-25" dirty="0">
                <a:latin typeface="Calibri"/>
                <a:cs typeface="Calibri"/>
              </a:rPr>
              <a:t> </a:t>
            </a:r>
            <a:r>
              <a:rPr b="1" spc="-20" dirty="0">
                <a:latin typeface="Calibri"/>
                <a:cs typeface="Calibri"/>
              </a:rPr>
              <a:t>Shop</a:t>
            </a:r>
            <a:endParaRPr dirty="0">
              <a:latin typeface="Calibri"/>
              <a:cs typeface="Calibri"/>
            </a:endParaRPr>
          </a:p>
          <a:p>
            <a:pPr marL="360045">
              <a:lnSpc>
                <a:spcPct val="100000"/>
              </a:lnSpc>
            </a:pPr>
            <a:r>
              <a:rPr dirty="0">
                <a:latin typeface="Calibri"/>
                <a:cs typeface="Calibri"/>
              </a:rPr>
              <a:t>categories occupy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last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position.</a:t>
            </a:r>
            <a:endParaRPr dirty="0">
              <a:latin typeface="Calibri"/>
              <a:cs typeface="Calibri"/>
            </a:endParaRPr>
          </a:p>
          <a:p>
            <a:pPr marL="196850" indent="-184150">
              <a:lnSpc>
                <a:spcPct val="100000"/>
              </a:lnSpc>
              <a:spcBef>
                <a:spcPts val="1095"/>
              </a:spcBef>
              <a:buFont typeface="Wingdings"/>
              <a:buChar char=""/>
              <a:tabLst>
                <a:tab pos="196850" algn="l"/>
              </a:tabLst>
            </a:pPr>
            <a:r>
              <a:rPr dirty="0">
                <a:latin typeface="Calibri"/>
                <a:cs typeface="Calibri"/>
              </a:rPr>
              <a:t>In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year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2023</a:t>
            </a:r>
            <a:endParaRPr lang="en-IN" spc="-20" dirty="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1095"/>
              </a:spcBef>
              <a:buFont typeface="Arial" panose="020B0604020202020204" pitchFamily="34" charset="0"/>
              <a:buChar char="•"/>
              <a:tabLst>
                <a:tab pos="196850" algn="l"/>
              </a:tabLst>
            </a:pPr>
            <a:r>
              <a:rPr dirty="0">
                <a:latin typeface="Calibri"/>
                <a:cs typeface="Calibri"/>
              </a:rPr>
              <a:t>From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January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August,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Toys</a:t>
            </a:r>
            <a:r>
              <a:rPr b="1" spc="-2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and</a:t>
            </a:r>
            <a:r>
              <a:rPr b="1" spc="-1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Gifts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category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has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highest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penetration</a:t>
            </a:r>
            <a:r>
              <a:rPr spc="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lang="en-IN" b="1" spc="-5" dirty="0">
                <a:latin typeface="Calibri"/>
                <a:cs typeface="Calibri"/>
              </a:rPr>
              <a:t>Others </a:t>
            </a:r>
            <a:r>
              <a:rPr dirty="0">
                <a:latin typeface="Calibri"/>
                <a:cs typeface="Calibri"/>
              </a:rPr>
              <a:t>category</a:t>
            </a:r>
            <a:r>
              <a:rPr lang="en-IN" dirty="0">
                <a:latin typeface="Calibri"/>
                <a:cs typeface="Calibri"/>
              </a:rPr>
              <a:t> and </a:t>
            </a:r>
            <a:r>
              <a:rPr lang="en-IN" b="1" dirty="0">
                <a:latin typeface="Calibri"/>
                <a:cs typeface="Calibri"/>
              </a:rPr>
              <a:t>Pet Shop</a:t>
            </a:r>
            <a:r>
              <a:rPr b="1"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has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10" dirty="0">
                <a:latin typeface="Calibri"/>
                <a:cs typeface="Calibri"/>
              </a:rPr>
              <a:t> least</a:t>
            </a:r>
            <a:r>
              <a:rPr lang="en-IN" spc="50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penetration.</a:t>
            </a:r>
            <a:endParaRPr lang="en-IN" spc="-10" dirty="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1095"/>
              </a:spcBef>
              <a:buFont typeface="Arial" panose="020B0604020202020204" pitchFamily="34" charset="0"/>
              <a:buChar char="•"/>
              <a:tabLst>
                <a:tab pos="196850" algn="l"/>
              </a:tabLst>
            </a:pPr>
            <a:r>
              <a:rPr dirty="0">
                <a:latin typeface="Calibri"/>
                <a:cs typeface="Calibri"/>
              </a:rPr>
              <a:t>In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September,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Food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and</a:t>
            </a:r>
            <a:r>
              <a:rPr b="1" spc="-3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Beverages</a:t>
            </a:r>
            <a:r>
              <a:rPr b="1"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category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has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highest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penetration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Pet</a:t>
            </a:r>
            <a:r>
              <a:rPr b="1" spc="-3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Shop</a:t>
            </a:r>
            <a:r>
              <a:rPr b="1"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category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has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least</a:t>
            </a:r>
            <a:r>
              <a:rPr spc="50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penetration.</a:t>
            </a:r>
            <a:endParaRPr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344035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D882262-CA42-D6EE-A2BE-725501398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E20B8E8E-19EC-F008-BB3E-7BF16D8516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2371299-F3DF-83CE-AE75-E948D43C230C}"/>
              </a:ext>
            </a:extLst>
          </p:cNvPr>
          <p:cNvSpPr txBox="1"/>
          <p:nvPr/>
        </p:nvSpPr>
        <p:spPr>
          <a:xfrm>
            <a:off x="575187" y="0"/>
            <a:ext cx="11041625" cy="6463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9pPr>
          </a:lstStyle>
          <a:p>
            <a:r>
              <a:rPr lang="en-IN" dirty="0"/>
              <a:t>CATEGORY PENETRATION ANALYSIS</a:t>
            </a:r>
          </a:p>
        </p:txBody>
      </p:sp>
      <p:sp>
        <p:nvSpPr>
          <p:cNvPr id="2" name="object 8">
            <a:extLst>
              <a:ext uri="{FF2B5EF4-FFF2-40B4-BE49-F238E27FC236}">
                <a16:creationId xmlns:a16="http://schemas.microsoft.com/office/drawing/2014/main" id="{356D0EC6-1B1B-EA5E-C329-B5B7377082A5}"/>
              </a:ext>
            </a:extLst>
          </p:cNvPr>
          <p:cNvSpPr txBox="1"/>
          <p:nvPr/>
        </p:nvSpPr>
        <p:spPr>
          <a:xfrm>
            <a:off x="611225" y="828095"/>
            <a:ext cx="11005587" cy="5146281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b="1" spc="-10" dirty="0">
                <a:latin typeface="Calibri"/>
                <a:cs typeface="Calibri"/>
              </a:rPr>
              <a:t>Observations</a:t>
            </a:r>
            <a:endParaRPr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dirty="0">
              <a:latin typeface="Calibri"/>
              <a:cs typeface="Calibri"/>
            </a:endParaRPr>
          </a:p>
          <a:p>
            <a:pPr marL="196850" indent="-184150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196850" algn="l"/>
              </a:tabLst>
            </a:pPr>
            <a:r>
              <a:rPr dirty="0">
                <a:latin typeface="Calibri"/>
                <a:cs typeface="Calibri"/>
              </a:rPr>
              <a:t>In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October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2021,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Toys</a:t>
            </a:r>
            <a:r>
              <a:rPr b="1" spc="-2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and</a:t>
            </a:r>
            <a:r>
              <a:rPr b="1" spc="-3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Gifts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category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has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highest</a:t>
            </a:r>
            <a:r>
              <a:rPr spc="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penetration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when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compared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other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categories</a:t>
            </a:r>
            <a:endParaRPr lang="en-IN" spc="-10" dirty="0">
              <a:latin typeface="Calibri"/>
              <a:cs typeface="Calibri"/>
            </a:endParaRPr>
          </a:p>
          <a:p>
            <a:pPr marL="196850" indent="-184150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196850" algn="l"/>
              </a:tabLst>
            </a:pPr>
            <a:endParaRPr lang="en-IN" spc="-10" dirty="0">
              <a:latin typeface="Calibri"/>
              <a:cs typeface="Calibri"/>
            </a:endParaRPr>
          </a:p>
          <a:p>
            <a:pPr marL="196850" indent="-184150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196850" algn="l"/>
              </a:tabLst>
            </a:pPr>
            <a:r>
              <a:rPr dirty="0">
                <a:latin typeface="Calibri"/>
                <a:cs typeface="Calibri"/>
              </a:rPr>
              <a:t>In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year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2022</a:t>
            </a:r>
            <a:endParaRPr dirty="0">
              <a:latin typeface="Calibri"/>
              <a:cs typeface="Calibri"/>
            </a:endParaRPr>
          </a:p>
          <a:p>
            <a:pPr marL="360045" marR="59690" lvl="1" indent="-182880">
              <a:lnSpc>
                <a:spcPct val="100000"/>
              </a:lnSpc>
              <a:spcBef>
                <a:spcPts val="10"/>
              </a:spcBef>
              <a:buFont typeface="Arial"/>
              <a:buChar char="•"/>
              <a:tabLst>
                <a:tab pos="360045" algn="l"/>
              </a:tabLst>
            </a:pPr>
            <a:r>
              <a:rPr dirty="0">
                <a:latin typeface="Calibri"/>
                <a:cs typeface="Calibri"/>
              </a:rPr>
              <a:t>From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January to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March, </a:t>
            </a:r>
            <a:r>
              <a:rPr b="1" spc="-10" dirty="0">
                <a:latin typeface="Calibri"/>
                <a:cs typeface="Calibri"/>
              </a:rPr>
              <a:t>Furniture</a:t>
            </a:r>
            <a:r>
              <a:rPr b="1"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category has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highest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penetration</a:t>
            </a:r>
            <a:r>
              <a:rPr spc="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Pet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Shop </a:t>
            </a:r>
            <a:r>
              <a:rPr dirty="0">
                <a:latin typeface="Calibri"/>
                <a:cs typeface="Calibri"/>
              </a:rPr>
              <a:t>category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has the</a:t>
            </a:r>
            <a:r>
              <a:rPr spc="-10" dirty="0">
                <a:latin typeface="Calibri"/>
                <a:cs typeface="Calibri"/>
              </a:rPr>
              <a:t> least</a:t>
            </a:r>
            <a:r>
              <a:rPr spc="50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penetration.</a:t>
            </a:r>
            <a:endParaRPr dirty="0">
              <a:latin typeface="Calibri"/>
              <a:cs typeface="Calibri"/>
            </a:endParaRPr>
          </a:p>
          <a:p>
            <a:pPr marL="360045" marR="245110" lvl="1" indent="-182880">
              <a:lnSpc>
                <a:spcPct val="100000"/>
              </a:lnSpc>
              <a:buFont typeface="Arial"/>
              <a:buChar char="•"/>
              <a:tabLst>
                <a:tab pos="360045" algn="l"/>
              </a:tabLst>
            </a:pPr>
            <a:r>
              <a:rPr dirty="0">
                <a:latin typeface="Calibri"/>
                <a:cs typeface="Calibri"/>
              </a:rPr>
              <a:t>From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April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June,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Toys</a:t>
            </a:r>
            <a:r>
              <a:rPr b="1" spc="-2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and</a:t>
            </a:r>
            <a:r>
              <a:rPr b="1" spc="-3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Gifts</a:t>
            </a:r>
            <a:r>
              <a:rPr b="1"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category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has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highest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penetration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Pet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Shop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category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has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10" dirty="0">
                <a:latin typeface="Calibri"/>
                <a:cs typeface="Calibri"/>
              </a:rPr>
              <a:t> least</a:t>
            </a:r>
            <a:r>
              <a:rPr spc="50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penetration.</a:t>
            </a:r>
            <a:endParaRPr dirty="0">
              <a:latin typeface="Calibri"/>
              <a:cs typeface="Calibri"/>
            </a:endParaRPr>
          </a:p>
          <a:p>
            <a:pPr marL="360045" lvl="1" indent="-182880">
              <a:lnSpc>
                <a:spcPct val="100000"/>
              </a:lnSpc>
              <a:spcBef>
                <a:spcPts val="10"/>
              </a:spcBef>
              <a:buFont typeface="Arial"/>
              <a:buChar char="•"/>
              <a:tabLst>
                <a:tab pos="360045" algn="l"/>
              </a:tabLst>
            </a:pPr>
            <a:r>
              <a:rPr dirty="0">
                <a:latin typeface="Calibri"/>
                <a:cs typeface="Calibri"/>
              </a:rPr>
              <a:t>In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July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month,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Baby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category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has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highest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penetration</a:t>
            </a:r>
            <a:r>
              <a:rPr spc="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lang="en-IN" b="1" spc="-5" dirty="0">
                <a:latin typeface="Calibri"/>
                <a:cs typeface="Calibri"/>
              </a:rPr>
              <a:t>Others </a:t>
            </a:r>
            <a:r>
              <a:rPr dirty="0">
                <a:latin typeface="Calibri"/>
                <a:cs typeface="Calibri"/>
              </a:rPr>
              <a:t>category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has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least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penetration.</a:t>
            </a:r>
            <a:endParaRPr dirty="0">
              <a:latin typeface="Calibri"/>
              <a:cs typeface="Calibri"/>
            </a:endParaRPr>
          </a:p>
          <a:p>
            <a:pPr marL="360045" lvl="1" indent="-182880">
              <a:lnSpc>
                <a:spcPct val="100000"/>
              </a:lnSpc>
              <a:buFont typeface="Arial"/>
              <a:buChar char="•"/>
              <a:tabLst>
                <a:tab pos="360045" algn="l"/>
              </a:tabLst>
            </a:pPr>
            <a:r>
              <a:rPr dirty="0">
                <a:latin typeface="Calibri"/>
                <a:cs typeface="Calibri"/>
              </a:rPr>
              <a:t>From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August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December,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Toys</a:t>
            </a:r>
            <a:r>
              <a:rPr b="1" spc="-2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and</a:t>
            </a:r>
            <a:r>
              <a:rPr b="1" spc="-3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Gifts</a:t>
            </a:r>
            <a:r>
              <a:rPr b="1"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category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has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highest</a:t>
            </a:r>
            <a:r>
              <a:rPr spc="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penetration</a:t>
            </a:r>
            <a:r>
              <a:rPr spc="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where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as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lang="en-IN" b="1" spc="-5" dirty="0">
                <a:latin typeface="Calibri"/>
                <a:cs typeface="Calibri"/>
              </a:rPr>
              <a:t>Others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Pet</a:t>
            </a:r>
            <a:r>
              <a:rPr b="1" spc="-25" dirty="0">
                <a:latin typeface="Calibri"/>
                <a:cs typeface="Calibri"/>
              </a:rPr>
              <a:t> </a:t>
            </a:r>
            <a:r>
              <a:rPr b="1" spc="-20" dirty="0">
                <a:latin typeface="Calibri"/>
                <a:cs typeface="Calibri"/>
              </a:rPr>
              <a:t>Shop</a:t>
            </a:r>
            <a:endParaRPr dirty="0">
              <a:latin typeface="Calibri"/>
              <a:cs typeface="Calibri"/>
            </a:endParaRPr>
          </a:p>
          <a:p>
            <a:pPr marL="360045">
              <a:lnSpc>
                <a:spcPct val="100000"/>
              </a:lnSpc>
            </a:pPr>
            <a:r>
              <a:rPr dirty="0">
                <a:latin typeface="Calibri"/>
                <a:cs typeface="Calibri"/>
              </a:rPr>
              <a:t>categories occupy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last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position.</a:t>
            </a:r>
            <a:endParaRPr dirty="0">
              <a:latin typeface="Calibri"/>
              <a:cs typeface="Calibri"/>
            </a:endParaRPr>
          </a:p>
          <a:p>
            <a:pPr marL="196850" indent="-184150">
              <a:lnSpc>
                <a:spcPct val="100000"/>
              </a:lnSpc>
              <a:spcBef>
                <a:spcPts val="1095"/>
              </a:spcBef>
              <a:buFont typeface="Wingdings"/>
              <a:buChar char=""/>
              <a:tabLst>
                <a:tab pos="196850" algn="l"/>
              </a:tabLst>
            </a:pPr>
            <a:r>
              <a:rPr dirty="0">
                <a:latin typeface="Calibri"/>
                <a:cs typeface="Calibri"/>
              </a:rPr>
              <a:t>In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year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2023</a:t>
            </a:r>
            <a:endParaRPr lang="en-IN" spc="-20" dirty="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1095"/>
              </a:spcBef>
              <a:buFont typeface="Arial" panose="020B0604020202020204" pitchFamily="34" charset="0"/>
              <a:buChar char="•"/>
              <a:tabLst>
                <a:tab pos="196850" algn="l"/>
              </a:tabLst>
            </a:pPr>
            <a:r>
              <a:rPr dirty="0">
                <a:latin typeface="Calibri"/>
                <a:cs typeface="Calibri"/>
              </a:rPr>
              <a:t>From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January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August,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Toys</a:t>
            </a:r>
            <a:r>
              <a:rPr b="1" spc="-2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and</a:t>
            </a:r>
            <a:r>
              <a:rPr b="1" spc="-1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Gifts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category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has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highest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penetration</a:t>
            </a:r>
            <a:r>
              <a:rPr spc="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lang="en-IN" b="1" spc="-5" dirty="0">
                <a:latin typeface="Calibri"/>
                <a:cs typeface="Calibri"/>
              </a:rPr>
              <a:t>Others </a:t>
            </a:r>
            <a:r>
              <a:rPr dirty="0">
                <a:latin typeface="Calibri"/>
                <a:cs typeface="Calibri"/>
              </a:rPr>
              <a:t>category</a:t>
            </a:r>
            <a:r>
              <a:rPr lang="en-IN" dirty="0">
                <a:latin typeface="Calibri"/>
                <a:cs typeface="Calibri"/>
              </a:rPr>
              <a:t> and </a:t>
            </a:r>
            <a:r>
              <a:rPr lang="en-IN" b="1" dirty="0">
                <a:latin typeface="Calibri"/>
                <a:cs typeface="Calibri"/>
              </a:rPr>
              <a:t>Pet Shop</a:t>
            </a:r>
            <a:r>
              <a:rPr b="1"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has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10" dirty="0">
                <a:latin typeface="Calibri"/>
                <a:cs typeface="Calibri"/>
              </a:rPr>
              <a:t> least</a:t>
            </a:r>
            <a:r>
              <a:rPr lang="en-IN" spc="50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penetration.</a:t>
            </a:r>
            <a:endParaRPr lang="en-IN" spc="-10" dirty="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spcBef>
                <a:spcPts val="1095"/>
              </a:spcBef>
              <a:buFont typeface="Arial" panose="020B0604020202020204" pitchFamily="34" charset="0"/>
              <a:buChar char="•"/>
              <a:tabLst>
                <a:tab pos="196850" algn="l"/>
              </a:tabLst>
            </a:pPr>
            <a:r>
              <a:rPr dirty="0">
                <a:latin typeface="Calibri"/>
                <a:cs typeface="Calibri"/>
              </a:rPr>
              <a:t>In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September,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Food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and</a:t>
            </a:r>
            <a:r>
              <a:rPr b="1" spc="-3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Beverages</a:t>
            </a:r>
            <a:r>
              <a:rPr b="1"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category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has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highest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penetration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Pet</a:t>
            </a:r>
            <a:r>
              <a:rPr b="1" spc="-3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Shop</a:t>
            </a:r>
            <a:r>
              <a:rPr b="1"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category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has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least</a:t>
            </a:r>
            <a:r>
              <a:rPr spc="50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penetration.</a:t>
            </a:r>
            <a:endParaRPr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0169947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914DF2F-EDA0-ACC2-48CF-8878FA998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12596566-44F4-2E57-36CC-027C75BAC0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0F5101D-F865-B634-87D8-8FD0BCCDBB18}"/>
              </a:ext>
            </a:extLst>
          </p:cNvPr>
          <p:cNvSpPr txBox="1"/>
          <p:nvPr/>
        </p:nvSpPr>
        <p:spPr>
          <a:xfrm>
            <a:off x="575187" y="0"/>
            <a:ext cx="11041625" cy="5847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9pPr>
          </a:lstStyle>
          <a:p>
            <a:r>
              <a:rPr lang="en-US"/>
              <a:t>AVERAGE CATEGORIES PER ORDER-CUSTOMER STATE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54B7F4-695D-CFB3-EF9D-F4751E8F1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87" y="735537"/>
            <a:ext cx="11041625" cy="5380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066979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0C0F30F-0CD0-2230-139A-DD57E5C0E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E6A10646-8781-B6BE-0A22-DDA9888203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9442B73-801B-B4A8-3E33-78797ABC0AA4}"/>
              </a:ext>
            </a:extLst>
          </p:cNvPr>
          <p:cNvSpPr txBox="1"/>
          <p:nvPr/>
        </p:nvSpPr>
        <p:spPr>
          <a:xfrm>
            <a:off x="575187" y="0"/>
            <a:ext cx="11041625" cy="6463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9pPr>
          </a:lstStyle>
          <a:p>
            <a:r>
              <a:rPr lang="en-US"/>
              <a:t>Average categories per order - region on year and month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BE4B2D-379B-7910-52CB-34EE14F089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87" y="745064"/>
            <a:ext cx="11041624" cy="543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157642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D493277-E291-DD29-CA25-7AF4BA068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C8A40F54-3727-8EE5-FECA-404D7DC8D3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13ABB74E-C343-F292-915E-561F38026E9B}"/>
              </a:ext>
            </a:extLst>
          </p:cNvPr>
          <p:cNvSpPr txBox="1"/>
          <p:nvPr/>
        </p:nvSpPr>
        <p:spPr>
          <a:xfrm>
            <a:off x="575187" y="0"/>
            <a:ext cx="11041625" cy="6463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9pPr>
          </a:lstStyle>
          <a:p>
            <a:r>
              <a:rPr lang="en-US"/>
              <a:t>POPULAR CATEGORY DURING FIRST PURCHASE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6291B9-3BBA-29AD-9604-F03AABD67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87" y="761628"/>
            <a:ext cx="10984163" cy="533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89523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CE8C500-CCFC-7555-DE92-FC424691B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6402EBB3-7CED-E522-AD4E-3D63EF96ED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8FDF210-4C8D-AA0D-A64F-6E3155715E6B}"/>
              </a:ext>
            </a:extLst>
          </p:cNvPr>
          <p:cNvSpPr txBox="1"/>
          <p:nvPr/>
        </p:nvSpPr>
        <p:spPr>
          <a:xfrm>
            <a:off x="575187" y="0"/>
            <a:ext cx="11041625" cy="6463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9pPr>
          </a:lstStyle>
          <a:p>
            <a:r>
              <a:rPr lang="en-IN" dirty="0"/>
              <a:t>CATEGORY PENETRATION ANALYSIS</a:t>
            </a:r>
          </a:p>
        </p:txBody>
      </p:sp>
    </p:spTree>
    <p:extLst>
      <p:ext uri="{BB962C8B-B14F-4D97-AF65-F5344CB8AC3E}">
        <p14:creationId xmlns:p14="http://schemas.microsoft.com/office/powerpoint/2010/main" val="2215328041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30ED5FC-0144-0F95-301C-BD29655D2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9CAC4481-4B1F-400E-595D-DF001CA706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70AE326-A1D0-AACF-D909-C196BCE63E90}"/>
              </a:ext>
            </a:extLst>
          </p:cNvPr>
          <p:cNvSpPr txBox="1"/>
          <p:nvPr/>
        </p:nvSpPr>
        <p:spPr>
          <a:xfrm>
            <a:off x="575187" y="0"/>
            <a:ext cx="11041625" cy="646331"/>
          </a:xfrm>
          <a:prstGeom prst="rect">
            <a:avLst/>
          </a:prstGeom>
          <a:solidFill>
            <a:srgbClr val="348E90"/>
          </a:solidFill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IN" sz="3600" b="1" spc="60" dirty="0">
                <a:solidFill>
                  <a:schemeClr val="bg1"/>
                </a:solidFill>
                <a:latin typeface="Trebuchet MS"/>
                <a:cs typeface="Trebuchet MS"/>
              </a:rPr>
              <a:t>CATEGORY</a:t>
            </a:r>
            <a:r>
              <a:rPr lang="en-IN" sz="3600" b="1" spc="-110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lang="en-IN" sz="3600" b="1" spc="55" dirty="0">
                <a:solidFill>
                  <a:schemeClr val="bg1"/>
                </a:solidFill>
                <a:latin typeface="Trebuchet MS"/>
                <a:cs typeface="Trebuchet MS"/>
              </a:rPr>
              <a:t>PENETRATION</a:t>
            </a:r>
            <a:r>
              <a:rPr lang="en-IN" sz="3600" b="1" spc="-120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lang="en-IN" sz="3600" b="1" spc="75" dirty="0">
                <a:solidFill>
                  <a:schemeClr val="bg1"/>
                </a:solidFill>
                <a:latin typeface="Trebuchet MS"/>
                <a:cs typeface="Trebuchet MS"/>
              </a:rPr>
              <a:t>ANALYSIS</a:t>
            </a:r>
            <a:endParaRPr lang="en-IN" sz="3600" dirty="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  <p:grpSp>
        <p:nvGrpSpPr>
          <p:cNvPr id="2" name="object 3">
            <a:extLst>
              <a:ext uri="{FF2B5EF4-FFF2-40B4-BE49-F238E27FC236}">
                <a16:creationId xmlns:a16="http://schemas.microsoft.com/office/drawing/2014/main" id="{1FE5CA67-60E9-4807-D4AC-6E128DDBEEA6}"/>
              </a:ext>
            </a:extLst>
          </p:cNvPr>
          <p:cNvGrpSpPr/>
          <p:nvPr/>
        </p:nvGrpSpPr>
        <p:grpSpPr>
          <a:xfrm>
            <a:off x="-1" y="0"/>
            <a:ext cx="12192000" cy="6331974"/>
            <a:chOff x="480058" y="923544"/>
            <a:chExt cx="8275565" cy="5498078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966040B1-FFD4-9119-CC4A-955FAC87BCE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34977" y="1186199"/>
              <a:ext cx="2792277" cy="2953717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71120FC-CEDE-A44C-0FFF-F1722D6EECBC}"/>
                </a:ext>
              </a:extLst>
            </p:cNvPr>
            <p:cNvSpPr/>
            <p:nvPr/>
          </p:nvSpPr>
          <p:spPr>
            <a:xfrm>
              <a:off x="480059" y="3986631"/>
              <a:ext cx="5897880" cy="254000"/>
            </a:xfrm>
            <a:custGeom>
              <a:avLst/>
              <a:gdLst/>
              <a:ahLst/>
              <a:cxnLst/>
              <a:rect l="l" t="t" r="r" b="b"/>
              <a:pathLst>
                <a:path w="5897880" h="254000">
                  <a:moveTo>
                    <a:pt x="5897880" y="0"/>
                  </a:moveTo>
                  <a:lnTo>
                    <a:pt x="0" y="0"/>
                  </a:lnTo>
                  <a:lnTo>
                    <a:pt x="0" y="253898"/>
                  </a:lnTo>
                  <a:lnTo>
                    <a:pt x="5897880" y="253898"/>
                  </a:lnTo>
                  <a:lnTo>
                    <a:pt x="5897880" y="0"/>
                  </a:lnTo>
                  <a:close/>
                </a:path>
              </a:pathLst>
            </a:custGeom>
            <a:solidFill>
              <a:srgbClr val="348E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F2BEE457-E213-D0DC-2BAA-546767A30D0D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0059" y="4005884"/>
              <a:ext cx="1044511" cy="235407"/>
            </a:xfrm>
            <a:prstGeom prst="rect">
              <a:avLst/>
            </a:prstGeom>
          </p:spPr>
        </p:pic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D8D7BE33-0B9B-8DD6-1C63-AB76CFA01605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0058" y="923544"/>
              <a:ext cx="8275565" cy="5498078"/>
            </a:xfrm>
            <a:prstGeom prst="rect">
              <a:avLst/>
            </a:prstGeom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FE6368CD-4D9B-CB1C-CF3E-9BB0BFE7AF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33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134662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15948C0-D53E-C3CD-C2E6-99B8D72E4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B96F3DBD-4619-B475-9931-38069EED42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7C1C517-2128-BA97-6F8B-9C472FE02134}"/>
              </a:ext>
            </a:extLst>
          </p:cNvPr>
          <p:cNvSpPr txBox="1"/>
          <p:nvPr/>
        </p:nvSpPr>
        <p:spPr>
          <a:xfrm>
            <a:off x="575187" y="0"/>
            <a:ext cx="11041625" cy="6463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9pPr>
          </a:lstStyle>
          <a:p>
            <a:r>
              <a:rPr lang="en-IN" dirty="0"/>
              <a:t>AVERAGE RATING BY MONTH</a:t>
            </a:r>
          </a:p>
        </p:txBody>
      </p:sp>
      <p:pic>
        <p:nvPicPr>
          <p:cNvPr id="3" name="Picture 2" descr="A graph with numbers and a bar&#10;&#10;AI-generated content may be incorrect.">
            <a:extLst>
              <a:ext uri="{FF2B5EF4-FFF2-40B4-BE49-F238E27FC236}">
                <a16:creationId xmlns:a16="http://schemas.microsoft.com/office/drawing/2014/main" id="{E14F4BDF-02A5-815B-A4F3-1F97BA1E75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2594" y="741964"/>
            <a:ext cx="9424218" cy="5442526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E7309D8-A423-FF58-20A4-7AC33A6CB9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8372847"/>
              </p:ext>
            </p:extLst>
          </p:nvPr>
        </p:nvGraphicFramePr>
        <p:xfrm>
          <a:off x="575187" y="646331"/>
          <a:ext cx="1391265" cy="5549841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712839">
                  <a:extLst>
                    <a:ext uri="{9D8B030D-6E8A-4147-A177-3AD203B41FA5}">
                      <a16:colId xmlns:a16="http://schemas.microsoft.com/office/drawing/2014/main" val="436590084"/>
                    </a:ext>
                  </a:extLst>
                </a:gridCol>
                <a:gridCol w="678426">
                  <a:extLst>
                    <a:ext uri="{9D8B030D-6E8A-4147-A177-3AD203B41FA5}">
                      <a16:colId xmlns:a16="http://schemas.microsoft.com/office/drawing/2014/main" val="856358997"/>
                    </a:ext>
                  </a:extLst>
                </a:gridCol>
              </a:tblGrid>
              <a:tr h="244473">
                <a:tc>
                  <a:txBody>
                    <a:bodyPr/>
                    <a:lstStyle/>
                    <a:p>
                      <a:r>
                        <a:rPr lang="en-IN" sz="1000" dirty="0"/>
                        <a:t>YY/ MM</a:t>
                      </a:r>
                    </a:p>
                  </a:txBody>
                  <a:tcPr>
                    <a:solidFill>
                      <a:srgbClr val="348E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dirty="0"/>
                        <a:t>Ratings</a:t>
                      </a:r>
                    </a:p>
                  </a:txBody>
                  <a:tcPr>
                    <a:solidFill>
                      <a:srgbClr val="348E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845339"/>
                  </a:ext>
                </a:extLst>
              </a:tr>
              <a:tr h="221057">
                <a:tc>
                  <a:txBody>
                    <a:bodyPr/>
                    <a:lstStyle/>
                    <a:p>
                      <a:r>
                        <a:rPr lang="en-IN" sz="800" b="1" dirty="0"/>
                        <a:t>2021-09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693200"/>
                  </a:ext>
                </a:extLst>
              </a:tr>
              <a:tr h="221057">
                <a:tc>
                  <a:txBody>
                    <a:bodyPr/>
                    <a:lstStyle/>
                    <a:p>
                      <a:r>
                        <a:rPr lang="en-IN" sz="800" b="1" dirty="0"/>
                        <a:t>2021-10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8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3072768"/>
                  </a:ext>
                </a:extLst>
              </a:tr>
              <a:tr h="221057">
                <a:tc>
                  <a:txBody>
                    <a:bodyPr/>
                    <a:lstStyle/>
                    <a:p>
                      <a:r>
                        <a:rPr lang="en-IN" sz="800" b="1" dirty="0"/>
                        <a:t>2021-12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8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4193615"/>
                  </a:ext>
                </a:extLst>
              </a:tr>
              <a:tr h="221057">
                <a:tc>
                  <a:txBody>
                    <a:bodyPr/>
                    <a:lstStyle/>
                    <a:p>
                      <a:r>
                        <a:rPr lang="en-IN" sz="800" b="1" dirty="0"/>
                        <a:t>2022-01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8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865833"/>
                  </a:ext>
                </a:extLst>
              </a:tr>
              <a:tr h="221057">
                <a:tc>
                  <a:txBody>
                    <a:bodyPr/>
                    <a:lstStyle/>
                    <a:p>
                      <a:r>
                        <a:rPr lang="en-IN" sz="800" b="1" dirty="0"/>
                        <a:t>2022-02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8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33561"/>
                  </a:ext>
                </a:extLst>
              </a:tr>
              <a:tr h="221057">
                <a:tc>
                  <a:txBody>
                    <a:bodyPr/>
                    <a:lstStyle/>
                    <a:p>
                      <a:r>
                        <a:rPr lang="en-IN" sz="800" b="1" dirty="0"/>
                        <a:t>2022-03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8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6169275"/>
                  </a:ext>
                </a:extLst>
              </a:tr>
              <a:tr h="221057">
                <a:tc>
                  <a:txBody>
                    <a:bodyPr/>
                    <a:lstStyle/>
                    <a:p>
                      <a:r>
                        <a:rPr lang="en-IN" sz="800" b="1" dirty="0"/>
                        <a:t>2022-04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8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8876297"/>
                  </a:ext>
                </a:extLst>
              </a:tr>
              <a:tr h="221057">
                <a:tc>
                  <a:txBody>
                    <a:bodyPr/>
                    <a:lstStyle/>
                    <a:p>
                      <a:r>
                        <a:rPr lang="en-IN" sz="800" b="1" dirty="0"/>
                        <a:t>2022-05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8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5106384"/>
                  </a:ext>
                </a:extLst>
              </a:tr>
              <a:tr h="221057">
                <a:tc>
                  <a:txBody>
                    <a:bodyPr/>
                    <a:lstStyle/>
                    <a:p>
                      <a:r>
                        <a:rPr lang="en-IN" sz="800" b="1" dirty="0"/>
                        <a:t>2022-06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8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438142"/>
                  </a:ext>
                </a:extLst>
              </a:tr>
              <a:tr h="221057">
                <a:tc>
                  <a:txBody>
                    <a:bodyPr/>
                    <a:lstStyle/>
                    <a:p>
                      <a:r>
                        <a:rPr lang="en-IN" sz="800" b="1" dirty="0"/>
                        <a:t>2022-07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8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7876081"/>
                  </a:ext>
                </a:extLst>
              </a:tr>
              <a:tr h="221057">
                <a:tc>
                  <a:txBody>
                    <a:bodyPr/>
                    <a:lstStyle/>
                    <a:p>
                      <a:r>
                        <a:rPr lang="en-IN" sz="800" b="1" dirty="0"/>
                        <a:t>2022-08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8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1474341"/>
                  </a:ext>
                </a:extLst>
              </a:tr>
              <a:tr h="221057">
                <a:tc>
                  <a:txBody>
                    <a:bodyPr/>
                    <a:lstStyle/>
                    <a:p>
                      <a:r>
                        <a:rPr lang="en-IN" sz="800" b="1" dirty="0"/>
                        <a:t>2022-09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8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713311"/>
                  </a:ext>
                </a:extLst>
              </a:tr>
              <a:tr h="221057">
                <a:tc>
                  <a:txBody>
                    <a:bodyPr/>
                    <a:lstStyle/>
                    <a:p>
                      <a:r>
                        <a:rPr lang="en-IN" sz="800" b="1" dirty="0"/>
                        <a:t>2022-10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8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3609660"/>
                  </a:ext>
                </a:extLst>
              </a:tr>
              <a:tr h="221057">
                <a:tc>
                  <a:txBody>
                    <a:bodyPr/>
                    <a:lstStyle/>
                    <a:p>
                      <a:r>
                        <a:rPr lang="en-IN" sz="800" b="1" dirty="0"/>
                        <a:t>2022-11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8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0652883"/>
                  </a:ext>
                </a:extLst>
              </a:tr>
              <a:tr h="221057">
                <a:tc>
                  <a:txBody>
                    <a:bodyPr/>
                    <a:lstStyle/>
                    <a:p>
                      <a:r>
                        <a:rPr lang="en-IN" sz="800" b="1" dirty="0"/>
                        <a:t>2022-12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8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435534"/>
                  </a:ext>
                </a:extLst>
              </a:tr>
              <a:tr h="221057">
                <a:tc>
                  <a:txBody>
                    <a:bodyPr/>
                    <a:lstStyle/>
                    <a:p>
                      <a:r>
                        <a:rPr lang="en-IN" sz="800" b="1" dirty="0"/>
                        <a:t>2023-01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8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8383064"/>
                  </a:ext>
                </a:extLst>
              </a:tr>
              <a:tr h="221057">
                <a:tc>
                  <a:txBody>
                    <a:bodyPr/>
                    <a:lstStyle/>
                    <a:p>
                      <a:r>
                        <a:rPr lang="en-IN" sz="800" b="1" dirty="0"/>
                        <a:t>2023-02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8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1091750"/>
                  </a:ext>
                </a:extLst>
              </a:tr>
              <a:tr h="221057">
                <a:tc>
                  <a:txBody>
                    <a:bodyPr/>
                    <a:lstStyle/>
                    <a:p>
                      <a:r>
                        <a:rPr lang="en-IN" sz="800" b="1" dirty="0"/>
                        <a:t>2023-03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8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8030070"/>
                  </a:ext>
                </a:extLst>
              </a:tr>
              <a:tr h="221057">
                <a:tc>
                  <a:txBody>
                    <a:bodyPr/>
                    <a:lstStyle/>
                    <a:p>
                      <a:r>
                        <a:rPr lang="en-IN" sz="800" b="1" dirty="0"/>
                        <a:t>2023-04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8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828011"/>
                  </a:ext>
                </a:extLst>
              </a:tr>
              <a:tr h="221057">
                <a:tc>
                  <a:txBody>
                    <a:bodyPr/>
                    <a:lstStyle/>
                    <a:p>
                      <a:r>
                        <a:rPr lang="en-IN" sz="800" b="1" dirty="0"/>
                        <a:t>2023-05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8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8331088"/>
                  </a:ext>
                </a:extLst>
              </a:tr>
              <a:tr h="221057">
                <a:tc>
                  <a:txBody>
                    <a:bodyPr/>
                    <a:lstStyle/>
                    <a:p>
                      <a:r>
                        <a:rPr lang="en-IN" sz="800" b="1" dirty="0"/>
                        <a:t>2023-06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8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4417041"/>
                  </a:ext>
                </a:extLst>
              </a:tr>
              <a:tr h="221057">
                <a:tc>
                  <a:txBody>
                    <a:bodyPr/>
                    <a:lstStyle/>
                    <a:p>
                      <a:r>
                        <a:rPr lang="en-IN" sz="800" b="1" dirty="0"/>
                        <a:t>2023-07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8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0131994"/>
                  </a:ext>
                </a:extLst>
              </a:tr>
              <a:tr h="221057">
                <a:tc>
                  <a:txBody>
                    <a:bodyPr/>
                    <a:lstStyle/>
                    <a:p>
                      <a:r>
                        <a:rPr lang="en-IN" sz="800" b="1" dirty="0"/>
                        <a:t>2023-08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8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9068349"/>
                  </a:ext>
                </a:extLst>
              </a:tr>
              <a:tr h="221057">
                <a:tc>
                  <a:txBody>
                    <a:bodyPr/>
                    <a:lstStyle/>
                    <a:p>
                      <a:r>
                        <a:rPr lang="en-IN" sz="800" b="1" dirty="0"/>
                        <a:t>2023-09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8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1869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6882177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BA44332-BEB6-AEE1-4DB8-D594FF997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A5650A1A-DFD4-500A-80D7-FDA4130BF8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B09BD9A-3219-046F-6DE6-5E2B3DD39A87}"/>
              </a:ext>
            </a:extLst>
          </p:cNvPr>
          <p:cNvSpPr txBox="1"/>
          <p:nvPr/>
        </p:nvSpPr>
        <p:spPr>
          <a:xfrm>
            <a:off x="575187" y="0"/>
            <a:ext cx="11041625" cy="6463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9pPr>
          </a:lstStyle>
          <a:p>
            <a:r>
              <a:rPr lang="en-IN" dirty="0"/>
              <a:t>AVERAGE RATING BY MONTH</a:t>
            </a:r>
          </a:p>
        </p:txBody>
      </p:sp>
      <p:sp>
        <p:nvSpPr>
          <p:cNvPr id="2" name="object 8">
            <a:extLst>
              <a:ext uri="{FF2B5EF4-FFF2-40B4-BE49-F238E27FC236}">
                <a16:creationId xmlns:a16="http://schemas.microsoft.com/office/drawing/2014/main" id="{E4F4091C-EA28-248E-6AC1-3FF16BDCC951}"/>
              </a:ext>
            </a:extLst>
          </p:cNvPr>
          <p:cNvSpPr txBox="1"/>
          <p:nvPr/>
        </p:nvSpPr>
        <p:spPr>
          <a:xfrm>
            <a:off x="575187" y="1821124"/>
            <a:ext cx="11041625" cy="321575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</a:pPr>
            <a:r>
              <a:rPr sz="2000" b="1" dirty="0">
                <a:latin typeface="Calibri"/>
                <a:cs typeface="Calibri"/>
              </a:rPr>
              <a:t>Observations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spc="-50" dirty="0">
                <a:latin typeface="Calibri"/>
                <a:cs typeface="Calibri"/>
              </a:rPr>
              <a:t>:</a:t>
            </a:r>
            <a:endParaRPr sz="2000" dirty="0">
              <a:latin typeface="Calibri"/>
              <a:cs typeface="Calibri"/>
            </a:endParaRPr>
          </a:p>
          <a:p>
            <a:pPr marL="184150" marR="36195" indent="-184785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184150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seasonal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trends in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ratings show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After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initial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peaks,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values stabilize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remain</a:t>
            </a:r>
            <a:r>
              <a:rPr sz="2000" spc="5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relatively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uniform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rest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intervals, with</a:t>
            </a:r>
            <a:r>
              <a:rPr sz="2000" spc="-10" dirty="0">
                <a:latin typeface="Calibri"/>
                <a:cs typeface="Calibri"/>
              </a:rPr>
              <a:t> minor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fluctuations.</a:t>
            </a:r>
            <a:endParaRPr sz="2000" dirty="0">
              <a:latin typeface="Calibri"/>
              <a:cs typeface="Calibri"/>
            </a:endParaRPr>
          </a:p>
          <a:p>
            <a:pPr marL="184150" marR="92710" indent="-184785">
              <a:lnSpc>
                <a:spcPct val="101099"/>
              </a:lnSpc>
              <a:spcBef>
                <a:spcPts val="1070"/>
              </a:spcBef>
              <a:buFont typeface="Arial"/>
              <a:buChar char="•"/>
              <a:tabLst>
                <a:tab pos="184150" algn="l"/>
              </a:tabLst>
            </a:pPr>
            <a:r>
              <a:rPr sz="2000" dirty="0">
                <a:latin typeface="Calibri"/>
                <a:cs typeface="Calibri"/>
              </a:rPr>
              <a:t>There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slight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dip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0" dirty="0">
                <a:latin typeface="Calibri"/>
                <a:cs typeface="Calibri"/>
              </a:rPr>
              <a:t> middle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small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rise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towards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end,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suggesting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some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variation</a:t>
            </a:r>
            <a:r>
              <a:rPr sz="2000" spc="5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measured </a:t>
            </a:r>
            <a:r>
              <a:rPr sz="2000" spc="-10" dirty="0">
                <a:latin typeface="Calibri"/>
                <a:cs typeface="Calibri"/>
              </a:rPr>
              <a:t>parameter.</a:t>
            </a:r>
            <a:endParaRPr sz="2000" dirty="0">
              <a:latin typeface="Calibri"/>
              <a:cs typeface="Calibri"/>
            </a:endParaRPr>
          </a:p>
          <a:p>
            <a:pPr marL="184150" marR="487045" indent="-184785">
              <a:lnSpc>
                <a:spcPct val="101099"/>
              </a:lnSpc>
              <a:spcBef>
                <a:spcPts val="1065"/>
              </a:spcBef>
              <a:buFont typeface="Arial"/>
              <a:buChar char="•"/>
              <a:tabLst>
                <a:tab pos="184150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relatively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stable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values across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most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remaining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intervals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suggest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consistent</a:t>
            </a:r>
            <a:r>
              <a:rPr sz="2000" spc="5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performance</a:t>
            </a:r>
            <a:r>
              <a:rPr sz="2000" dirty="0">
                <a:latin typeface="Calibri"/>
                <a:cs typeface="Calibri"/>
              </a:rPr>
              <a:t> with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minor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fluctuations.</a:t>
            </a:r>
            <a:endParaRPr sz="2000" dirty="0">
              <a:latin typeface="Calibri"/>
              <a:cs typeface="Calibri"/>
            </a:endParaRPr>
          </a:p>
          <a:p>
            <a:pPr marL="184150" marR="5080" indent="-184785">
              <a:lnSpc>
                <a:spcPct val="101099"/>
              </a:lnSpc>
              <a:spcBef>
                <a:spcPts val="1070"/>
              </a:spcBef>
              <a:buFont typeface="Arial"/>
              <a:buChar char="•"/>
              <a:tabLst>
                <a:tab pos="184150" algn="l"/>
              </a:tabLst>
            </a:pPr>
            <a:r>
              <a:rPr sz="2000" dirty="0">
                <a:latin typeface="Calibri"/>
                <a:cs typeface="Calibri"/>
              </a:rPr>
              <a:t>Inferences: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Understand the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period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stability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possible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optimizations.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slight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fluctuations</a:t>
            </a:r>
            <a:r>
              <a:rPr sz="2000" spc="5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toward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may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indicate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changes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trends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customer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behavior.</a:t>
            </a:r>
            <a:endParaRPr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71042580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3C71462-F3F9-69B7-254A-B6286F9F1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B6D077A4-1550-B175-A1EE-B291DA3028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ADE59B18-650C-6614-7A47-93B816212329}"/>
              </a:ext>
            </a:extLst>
          </p:cNvPr>
          <p:cNvSpPr txBox="1"/>
          <p:nvPr/>
        </p:nvSpPr>
        <p:spPr>
          <a:xfrm>
            <a:off x="575187" y="0"/>
            <a:ext cx="11041625" cy="6463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9pPr>
          </a:lstStyle>
          <a:p>
            <a:r>
              <a:rPr lang="en-IN" dirty="0"/>
              <a:t>AVERAGE RATING BY CATEGORY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8F84C9-7726-0042-74C8-CB21585EE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7703" y="756864"/>
            <a:ext cx="7379109" cy="5344271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2038324-7CB5-370E-3CB9-7EA4AFFD25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2883899"/>
              </p:ext>
            </p:extLst>
          </p:nvPr>
        </p:nvGraphicFramePr>
        <p:xfrm>
          <a:off x="575187" y="756864"/>
          <a:ext cx="3662516" cy="534426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571136">
                  <a:extLst>
                    <a:ext uri="{9D8B030D-6E8A-4147-A177-3AD203B41FA5}">
                      <a16:colId xmlns:a16="http://schemas.microsoft.com/office/drawing/2014/main" val="3290548738"/>
                    </a:ext>
                  </a:extLst>
                </a:gridCol>
                <a:gridCol w="1091380">
                  <a:extLst>
                    <a:ext uri="{9D8B030D-6E8A-4147-A177-3AD203B41FA5}">
                      <a16:colId xmlns:a16="http://schemas.microsoft.com/office/drawing/2014/main" val="2208035293"/>
                    </a:ext>
                  </a:extLst>
                </a:gridCol>
              </a:tblGrid>
              <a:tr h="392590">
                <a:tc>
                  <a:txBody>
                    <a:bodyPr/>
                    <a:lstStyle/>
                    <a:p>
                      <a:r>
                        <a:rPr lang="en-IN" dirty="0"/>
                        <a:t>Category</a:t>
                      </a:r>
                    </a:p>
                  </a:txBody>
                  <a:tcPr>
                    <a:solidFill>
                      <a:srgbClr val="348E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Ratings</a:t>
                      </a:r>
                    </a:p>
                  </a:txBody>
                  <a:tcPr>
                    <a:solidFill>
                      <a:srgbClr val="348E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766718"/>
                  </a:ext>
                </a:extLst>
              </a:tr>
              <a:tr h="353691">
                <a:tc>
                  <a:txBody>
                    <a:bodyPr/>
                    <a:lstStyle/>
                    <a:p>
                      <a:r>
                        <a:rPr lang="en-US" sz="1600" dirty="0" err="1"/>
                        <a:t>Construction_Tools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4316544"/>
                  </a:ext>
                </a:extLst>
              </a:tr>
              <a:tr h="353691">
                <a:tc>
                  <a:txBody>
                    <a:bodyPr/>
                    <a:lstStyle/>
                    <a:p>
                      <a:r>
                        <a:rPr lang="en-US" sz="1600" dirty="0"/>
                        <a:t>Fashion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095293"/>
                  </a:ext>
                </a:extLst>
              </a:tr>
              <a:tr h="353691">
                <a:tc>
                  <a:txBody>
                    <a:bodyPr/>
                    <a:lstStyle/>
                    <a:p>
                      <a:r>
                        <a:rPr lang="en-US" sz="1600" dirty="0"/>
                        <a:t>Stationery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8451226"/>
                  </a:ext>
                </a:extLst>
              </a:tr>
              <a:tr h="353691">
                <a:tc>
                  <a:txBody>
                    <a:bodyPr/>
                    <a:lstStyle/>
                    <a:p>
                      <a:r>
                        <a:rPr lang="en-US" sz="1600" dirty="0" err="1"/>
                        <a:t>Pet_Shop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3690797"/>
                  </a:ext>
                </a:extLst>
              </a:tr>
              <a:tr h="353691">
                <a:tc>
                  <a:txBody>
                    <a:bodyPr/>
                    <a:lstStyle/>
                    <a:p>
                      <a:r>
                        <a:rPr lang="en-US" sz="1600" dirty="0" err="1"/>
                        <a:t>Luggage_Accessories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4529001"/>
                  </a:ext>
                </a:extLst>
              </a:tr>
              <a:tr h="353691">
                <a:tc>
                  <a:txBody>
                    <a:bodyPr/>
                    <a:lstStyle/>
                    <a:p>
                      <a:r>
                        <a:rPr lang="en-US" sz="1600" dirty="0"/>
                        <a:t>Electronics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668604"/>
                  </a:ext>
                </a:extLst>
              </a:tr>
              <a:tr h="353691">
                <a:tc>
                  <a:txBody>
                    <a:bodyPr/>
                    <a:lstStyle/>
                    <a:p>
                      <a:r>
                        <a:rPr lang="en-US" sz="1600" dirty="0"/>
                        <a:t>Toys &amp; Gifts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5538378"/>
                  </a:ext>
                </a:extLst>
              </a:tr>
              <a:tr h="353691">
                <a:tc>
                  <a:txBody>
                    <a:bodyPr/>
                    <a:lstStyle/>
                    <a:p>
                      <a:r>
                        <a:rPr lang="en-US" sz="1600" dirty="0"/>
                        <a:t>Food &amp; Beverages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8719256"/>
                  </a:ext>
                </a:extLst>
              </a:tr>
              <a:tr h="353691">
                <a:tc>
                  <a:txBody>
                    <a:bodyPr/>
                    <a:lstStyle/>
                    <a:p>
                      <a:r>
                        <a:rPr lang="en-US" sz="1600" dirty="0"/>
                        <a:t>Auto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113060"/>
                  </a:ext>
                </a:extLst>
              </a:tr>
              <a:tr h="353691">
                <a:tc>
                  <a:txBody>
                    <a:bodyPr/>
                    <a:lstStyle/>
                    <a:p>
                      <a:r>
                        <a:rPr lang="en-US" sz="1600" dirty="0" err="1"/>
                        <a:t>Home_Appliances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2403261"/>
                  </a:ext>
                </a:extLst>
              </a:tr>
              <a:tr h="353691">
                <a:tc>
                  <a:txBody>
                    <a:bodyPr/>
                    <a:lstStyle/>
                    <a:p>
                      <a:r>
                        <a:rPr lang="en-US" sz="1600" dirty="0"/>
                        <a:t>Baby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3906863"/>
                  </a:ext>
                </a:extLst>
              </a:tr>
              <a:tr h="353691">
                <a:tc>
                  <a:txBody>
                    <a:bodyPr/>
                    <a:lstStyle/>
                    <a:p>
                      <a:r>
                        <a:rPr lang="en-US" sz="1600" dirty="0"/>
                        <a:t>Computers &amp; Accessories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5040671"/>
                  </a:ext>
                </a:extLst>
              </a:tr>
              <a:tr h="353691">
                <a:tc>
                  <a:txBody>
                    <a:bodyPr/>
                    <a:lstStyle/>
                    <a:p>
                      <a:r>
                        <a:rPr lang="en-US" sz="1600" dirty="0"/>
                        <a:t>Others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7443456"/>
                  </a:ext>
                </a:extLst>
              </a:tr>
              <a:tr h="3536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/>
                        <a:t>Furniture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5429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8895196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96BA548-B96B-17F6-6606-DD5B7754D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AB161776-0D1C-F013-EBA8-78E63142C8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1DB9AB3-2769-FCC1-94FA-E11CEE18CD62}"/>
              </a:ext>
            </a:extLst>
          </p:cNvPr>
          <p:cNvSpPr txBox="1"/>
          <p:nvPr/>
        </p:nvSpPr>
        <p:spPr>
          <a:xfrm>
            <a:off x="575187" y="0"/>
            <a:ext cx="11041625" cy="6463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9pPr>
          </a:lstStyle>
          <a:p>
            <a:r>
              <a:rPr lang="en-IN" dirty="0"/>
              <a:t>AVERAGE RATING BY CATEGORY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9FA121-D134-91B1-EEB2-EB4E2B713EDD}"/>
              </a:ext>
            </a:extLst>
          </p:cNvPr>
          <p:cNvSpPr txBox="1"/>
          <p:nvPr/>
        </p:nvSpPr>
        <p:spPr>
          <a:xfrm>
            <a:off x="575186" y="1219036"/>
            <a:ext cx="11041624" cy="441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3825" marR="41910" indent="-111760">
              <a:spcBef>
                <a:spcPts val="385"/>
              </a:spcBef>
              <a:buFont typeface="Arial"/>
              <a:buChar char="•"/>
              <a:tabLst>
                <a:tab pos="123825" algn="l"/>
              </a:tabLst>
            </a:pPr>
            <a:r>
              <a:rPr lang="en-IN" b="1" dirty="0">
                <a:latin typeface="Calibri"/>
                <a:cs typeface="Calibri"/>
              </a:rPr>
              <a:t>Observations</a:t>
            </a:r>
            <a:r>
              <a:rPr lang="en-IN" b="1" spc="-20" dirty="0">
                <a:latin typeface="Calibri"/>
                <a:cs typeface="Calibri"/>
              </a:rPr>
              <a:t> </a:t>
            </a:r>
            <a:r>
              <a:rPr lang="en-IN" b="1" spc="-50" dirty="0">
                <a:latin typeface="Calibri"/>
                <a:cs typeface="Calibri"/>
              </a:rPr>
              <a:t>:</a:t>
            </a:r>
            <a:endParaRPr lang="en-US" sz="1800" dirty="0">
              <a:latin typeface="Calibri"/>
              <a:cs typeface="Calibri"/>
            </a:endParaRPr>
          </a:p>
          <a:p>
            <a:pPr marL="123825" marR="41910" indent="-111760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123825" algn="l"/>
              </a:tabLst>
            </a:pPr>
            <a:endParaRPr lang="en-US" sz="1800" dirty="0">
              <a:latin typeface="Calibri"/>
              <a:cs typeface="Calibri"/>
            </a:endParaRPr>
          </a:p>
          <a:p>
            <a:pPr marL="123825" marR="41910" indent="-111760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123825" algn="l"/>
              </a:tabLst>
            </a:pPr>
            <a:r>
              <a:rPr lang="en-US" sz="1800" dirty="0">
                <a:latin typeface="Calibri"/>
                <a:cs typeface="Calibri"/>
              </a:rPr>
              <a:t>Most</a:t>
            </a:r>
            <a:r>
              <a:rPr lang="en-US" sz="1800" spc="-2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categories have</a:t>
            </a:r>
            <a:r>
              <a:rPr lang="en-US" sz="1800" spc="-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scores</a:t>
            </a:r>
            <a:r>
              <a:rPr lang="en-US" sz="1800" spc="-1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above</a:t>
            </a:r>
            <a:r>
              <a:rPr lang="en-US" sz="1800" spc="-2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4.0,</a:t>
            </a:r>
            <a:r>
              <a:rPr lang="en-US" sz="1800" spc="-2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indicating</a:t>
            </a:r>
            <a:r>
              <a:rPr lang="en-US" sz="1800" spc="1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that</a:t>
            </a:r>
            <a:r>
              <a:rPr lang="en-US" sz="1800" spc="-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overall</a:t>
            </a:r>
            <a:r>
              <a:rPr lang="en-US" sz="1800" spc="-2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customer</a:t>
            </a:r>
            <a:r>
              <a:rPr lang="en-US" sz="1800" spc="-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satisfaction is</a:t>
            </a:r>
            <a:r>
              <a:rPr lang="en-US" sz="1800" spc="-1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good,</a:t>
            </a:r>
            <a:r>
              <a:rPr lang="en-US" sz="1800" spc="-25" dirty="0">
                <a:latin typeface="Calibri"/>
                <a:cs typeface="Calibri"/>
              </a:rPr>
              <a:t> </a:t>
            </a:r>
            <a:r>
              <a:rPr lang="en-US" sz="1800" spc="-10" dirty="0">
                <a:latin typeface="Calibri"/>
                <a:cs typeface="Calibri"/>
              </a:rPr>
              <a:t>though</a:t>
            </a:r>
            <a:r>
              <a:rPr lang="en-US" sz="1800" spc="50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there</a:t>
            </a:r>
            <a:r>
              <a:rPr lang="en-US" sz="1800" spc="-1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is</a:t>
            </a:r>
            <a:r>
              <a:rPr lang="en-US" sz="1800" spc="-2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room</a:t>
            </a:r>
            <a:r>
              <a:rPr lang="en-US" sz="1800" spc="-4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for</a:t>
            </a:r>
            <a:r>
              <a:rPr lang="en-US" sz="1800" spc="-3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improvement in</a:t>
            </a:r>
            <a:r>
              <a:rPr lang="en-US" sz="1800" spc="-2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certain</a:t>
            </a:r>
            <a:r>
              <a:rPr lang="en-US" sz="1800" spc="-15" dirty="0">
                <a:latin typeface="Calibri"/>
                <a:cs typeface="Calibri"/>
              </a:rPr>
              <a:t> </a:t>
            </a:r>
            <a:r>
              <a:rPr lang="en-US" sz="1800" spc="-10" dirty="0">
                <a:latin typeface="Calibri"/>
                <a:cs typeface="Calibri"/>
              </a:rPr>
              <a:t>segments.</a:t>
            </a:r>
          </a:p>
          <a:p>
            <a:pPr marL="123825" marR="41910" indent="-111760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123825" algn="l"/>
              </a:tabLst>
            </a:pPr>
            <a:endParaRPr lang="en-US" spc="-1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lang="en-US" sz="3200" b="1" dirty="0">
                <a:latin typeface="Calibri"/>
                <a:cs typeface="Calibri"/>
              </a:rPr>
              <a:t>Recommendations</a:t>
            </a:r>
            <a:r>
              <a:rPr lang="en-US" sz="3200" b="1" spc="30" dirty="0">
                <a:latin typeface="Calibri"/>
                <a:cs typeface="Calibri"/>
              </a:rPr>
              <a:t> </a:t>
            </a:r>
            <a:r>
              <a:rPr lang="en-US" sz="3200" b="1" spc="-50" dirty="0">
                <a:latin typeface="Calibri"/>
                <a:cs typeface="Calibri"/>
              </a:rPr>
              <a:t>:</a:t>
            </a:r>
            <a:endParaRPr lang="en-US" sz="3200" dirty="0">
              <a:latin typeface="Calibri"/>
              <a:cs typeface="Calibri"/>
            </a:endParaRPr>
          </a:p>
          <a:p>
            <a:pPr marL="123825" marR="91440" indent="-111760">
              <a:lnSpc>
                <a:spcPct val="101099"/>
              </a:lnSpc>
              <a:spcBef>
                <a:spcPts val="395"/>
              </a:spcBef>
              <a:buFont typeface="Arial"/>
              <a:buChar char="•"/>
              <a:tabLst>
                <a:tab pos="123825" algn="l"/>
              </a:tabLst>
            </a:pPr>
            <a:r>
              <a:rPr lang="en-US" dirty="0">
                <a:latin typeface="Calibri"/>
                <a:cs typeface="Calibri"/>
              </a:rPr>
              <a:t>Consider </a:t>
            </a:r>
            <a:r>
              <a:rPr lang="en-US" spc="-10" dirty="0">
                <a:latin typeface="Calibri"/>
                <a:cs typeface="Calibri"/>
              </a:rPr>
              <a:t>improving</a:t>
            </a:r>
            <a:r>
              <a:rPr lang="en-US" spc="-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product</a:t>
            </a:r>
            <a:r>
              <a:rPr lang="en-US" spc="-1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quality,</a:t>
            </a:r>
            <a:r>
              <a:rPr lang="en-US" spc="1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delivery times,</a:t>
            </a:r>
            <a:r>
              <a:rPr lang="en-US" spc="-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or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customer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service</a:t>
            </a:r>
            <a:r>
              <a:rPr lang="en-US" spc="-1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in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the</a:t>
            </a:r>
            <a:r>
              <a:rPr lang="en-US" spc="-10" dirty="0">
                <a:latin typeface="Calibri"/>
                <a:cs typeface="Calibri"/>
              </a:rPr>
              <a:t> Furniture,</a:t>
            </a:r>
            <a:r>
              <a:rPr lang="en-US" spc="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Baby,</a:t>
            </a:r>
            <a:r>
              <a:rPr lang="en-US" spc="-15" dirty="0">
                <a:latin typeface="Calibri"/>
                <a:cs typeface="Calibri"/>
              </a:rPr>
              <a:t> </a:t>
            </a:r>
            <a:r>
              <a:rPr lang="en-US" spc="-25" dirty="0">
                <a:latin typeface="Calibri"/>
                <a:cs typeface="Calibri"/>
              </a:rPr>
              <a:t>and</a:t>
            </a:r>
            <a:r>
              <a:rPr lang="en-US" spc="50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Other</a:t>
            </a:r>
            <a:r>
              <a:rPr lang="en-US" spc="-1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categories</a:t>
            </a:r>
            <a:r>
              <a:rPr lang="en-US" spc="1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to</a:t>
            </a:r>
            <a:r>
              <a:rPr lang="en-US" spc="-1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boost</a:t>
            </a:r>
            <a:r>
              <a:rPr lang="en-US" spc="-10" dirty="0">
                <a:latin typeface="Calibri"/>
                <a:cs typeface="Calibri"/>
              </a:rPr>
              <a:t> satisfaction.</a:t>
            </a:r>
            <a:endParaRPr lang="en-US" dirty="0">
              <a:latin typeface="Calibri"/>
              <a:cs typeface="Calibri"/>
            </a:endParaRPr>
          </a:p>
          <a:p>
            <a:pPr marL="123825" marR="181610" indent="-111760">
              <a:lnSpc>
                <a:spcPct val="101099"/>
              </a:lnSpc>
              <a:spcBef>
                <a:spcPts val="375"/>
              </a:spcBef>
              <a:buFont typeface="Arial"/>
              <a:buChar char="•"/>
              <a:tabLst>
                <a:tab pos="123825" algn="l"/>
                <a:tab pos="148590" algn="l"/>
              </a:tabLst>
            </a:pPr>
            <a:r>
              <a:rPr lang="en-US" dirty="0">
                <a:latin typeface="Calibri"/>
                <a:cs typeface="Calibri"/>
              </a:rPr>
              <a:t>	Sustain</a:t>
            </a:r>
            <a:r>
              <a:rPr lang="en-US" spc="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high</a:t>
            </a:r>
            <a:r>
              <a:rPr lang="en-US" spc="-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performance</a:t>
            </a:r>
            <a:r>
              <a:rPr lang="en-US" spc="-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in</a:t>
            </a:r>
            <a:r>
              <a:rPr lang="en-US" spc="-1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Pet</a:t>
            </a:r>
            <a:r>
              <a:rPr lang="en-US" spc="-1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Shop,</a:t>
            </a:r>
            <a:r>
              <a:rPr lang="en-US" spc="-1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Food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&amp;</a:t>
            </a:r>
            <a:r>
              <a:rPr lang="en-US" spc="-3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Beverages,</a:t>
            </a:r>
            <a:r>
              <a:rPr lang="en-US" spc="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and</a:t>
            </a:r>
            <a:r>
              <a:rPr lang="en-US" spc="-1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Luggage</a:t>
            </a:r>
            <a:r>
              <a:rPr lang="en-US" spc="1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Accessories</a:t>
            </a:r>
            <a:r>
              <a:rPr lang="en-US" spc="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by</a:t>
            </a:r>
            <a:r>
              <a:rPr lang="en-US" spc="-10" dirty="0">
                <a:latin typeface="Calibri"/>
                <a:cs typeface="Calibri"/>
              </a:rPr>
              <a:t> rewarding</a:t>
            </a:r>
            <a:r>
              <a:rPr lang="en-US" spc="50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loyal</a:t>
            </a:r>
            <a:r>
              <a:rPr lang="en-US" spc="-2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customers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with</a:t>
            </a:r>
            <a:r>
              <a:rPr lang="en-US" spc="-2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promotions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or</a:t>
            </a:r>
            <a:r>
              <a:rPr lang="en-US" spc="-4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discounts</a:t>
            </a:r>
            <a:r>
              <a:rPr lang="en-US" spc="-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to</a:t>
            </a:r>
            <a:r>
              <a:rPr lang="en-US" spc="-3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strengthen</a:t>
            </a:r>
            <a:r>
              <a:rPr lang="en-US" spc="1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loyalty.</a:t>
            </a:r>
            <a:endParaRPr lang="en-US" dirty="0">
              <a:latin typeface="Calibri"/>
              <a:cs typeface="Calibri"/>
            </a:endParaRPr>
          </a:p>
          <a:p>
            <a:pPr marL="123825" marR="504190" indent="-111760">
              <a:lnSpc>
                <a:spcPct val="100000"/>
              </a:lnSpc>
              <a:spcBef>
                <a:spcPts val="384"/>
              </a:spcBef>
              <a:buFont typeface="Arial"/>
              <a:buChar char="•"/>
              <a:tabLst>
                <a:tab pos="123825" algn="l"/>
              </a:tabLst>
            </a:pPr>
            <a:r>
              <a:rPr lang="en-US" dirty="0">
                <a:latin typeface="Calibri"/>
                <a:cs typeface="Calibri"/>
              </a:rPr>
              <a:t>Launch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customer</a:t>
            </a:r>
            <a:r>
              <a:rPr lang="en-US" spc="-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satisfaction improvement</a:t>
            </a:r>
            <a:r>
              <a:rPr lang="en-US" spc="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programs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across</a:t>
            </a:r>
            <a:r>
              <a:rPr lang="en-US" spc="-1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all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categories</a:t>
            </a:r>
            <a:r>
              <a:rPr lang="en-US" spc="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with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</a:t>
            </a:r>
            <a:r>
              <a:rPr lang="en-US" spc="-3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focus</a:t>
            </a:r>
            <a:r>
              <a:rPr lang="en-US" spc="-25" dirty="0">
                <a:latin typeface="Calibri"/>
                <a:cs typeface="Calibri"/>
              </a:rPr>
              <a:t> on</a:t>
            </a:r>
            <a:r>
              <a:rPr lang="en-US" spc="50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personalization,</a:t>
            </a:r>
            <a:r>
              <a:rPr lang="en-US" spc="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better</a:t>
            </a:r>
            <a:r>
              <a:rPr lang="en-US" spc="-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customer</a:t>
            </a:r>
            <a:r>
              <a:rPr lang="en-US" spc="-1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service,</a:t>
            </a:r>
            <a:r>
              <a:rPr lang="en-US" spc="-1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and</a:t>
            </a:r>
            <a:r>
              <a:rPr lang="en-US" spc="-2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optimized</a:t>
            </a:r>
            <a:r>
              <a:rPr lang="en-US" spc="-2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shopping</a:t>
            </a:r>
            <a:r>
              <a:rPr lang="en-US" spc="5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experiences.</a:t>
            </a:r>
            <a:endParaRPr lang="en-US" dirty="0">
              <a:latin typeface="Calibri"/>
              <a:cs typeface="Calibri"/>
            </a:endParaRPr>
          </a:p>
          <a:p>
            <a:pPr marL="123825" marR="41910" indent="-111760">
              <a:lnSpc>
                <a:spcPct val="100000"/>
              </a:lnSpc>
              <a:spcBef>
                <a:spcPts val="385"/>
              </a:spcBef>
              <a:buFont typeface="Arial"/>
              <a:buChar char="•"/>
              <a:tabLst>
                <a:tab pos="123825" algn="l"/>
              </a:tabLst>
            </a:pPr>
            <a:endParaRPr lang="en-US" sz="1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44755537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F111E10-8B98-56F0-560D-E4E0CDFE2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D02F154E-EA64-A455-59D0-AE6BEA2AAB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E9ABE5E-62B6-8BEB-5006-FE79384F0481}"/>
              </a:ext>
            </a:extLst>
          </p:cNvPr>
          <p:cNvSpPr txBox="1"/>
          <p:nvPr/>
        </p:nvSpPr>
        <p:spPr>
          <a:xfrm>
            <a:off x="575187" y="0"/>
            <a:ext cx="11041625" cy="6463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9pPr>
          </a:lstStyle>
          <a:p>
            <a:r>
              <a:rPr lang="en-IN" dirty="0"/>
              <a:t>AVERAGE RATING BY STATE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9609A5-848F-BCB4-DD0F-41B6BA3039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8170" y="820925"/>
            <a:ext cx="7468642" cy="5353797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F1E13F9-3713-DBB1-0380-6CA550DC34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3193563"/>
              </p:ext>
            </p:extLst>
          </p:nvPr>
        </p:nvGraphicFramePr>
        <p:xfrm>
          <a:off x="575187" y="820925"/>
          <a:ext cx="3485536" cy="5440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742768">
                  <a:extLst>
                    <a:ext uri="{9D8B030D-6E8A-4147-A177-3AD203B41FA5}">
                      <a16:colId xmlns:a16="http://schemas.microsoft.com/office/drawing/2014/main" val="814787489"/>
                    </a:ext>
                  </a:extLst>
                </a:gridCol>
                <a:gridCol w="1742768">
                  <a:extLst>
                    <a:ext uri="{9D8B030D-6E8A-4147-A177-3AD203B41FA5}">
                      <a16:colId xmlns:a16="http://schemas.microsoft.com/office/drawing/2014/main" val="3902634646"/>
                    </a:ext>
                  </a:extLst>
                </a:gridCol>
              </a:tblGrid>
              <a:tr h="230125">
                <a:tc>
                  <a:txBody>
                    <a:bodyPr/>
                    <a:lstStyle/>
                    <a:p>
                      <a:r>
                        <a:rPr lang="en-IN" sz="1100" dirty="0"/>
                        <a:t>State</a:t>
                      </a:r>
                    </a:p>
                  </a:txBody>
                  <a:tcPr>
                    <a:solidFill>
                      <a:srgbClr val="348E9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Ratings</a:t>
                      </a:r>
                    </a:p>
                  </a:txBody>
                  <a:tcPr>
                    <a:solidFill>
                      <a:srgbClr val="348E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7157774"/>
                  </a:ext>
                </a:extLst>
              </a:tr>
              <a:tr h="230125">
                <a:tc>
                  <a:txBody>
                    <a:bodyPr/>
                    <a:lstStyle/>
                    <a:p>
                      <a:r>
                        <a:rPr lang="en-IN" sz="1100" dirty="0"/>
                        <a:t>Jammu &amp; Kashmir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5395891"/>
                  </a:ext>
                </a:extLst>
              </a:tr>
              <a:tr h="230125">
                <a:tc>
                  <a:txBody>
                    <a:bodyPr/>
                    <a:lstStyle/>
                    <a:p>
                      <a:r>
                        <a:rPr lang="en-IN" sz="1100" dirty="0"/>
                        <a:t>Orissa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7792023"/>
                  </a:ext>
                </a:extLst>
              </a:tr>
              <a:tr h="230125">
                <a:tc>
                  <a:txBody>
                    <a:bodyPr/>
                    <a:lstStyle/>
                    <a:p>
                      <a:r>
                        <a:rPr lang="en-IN" sz="1100" dirty="0"/>
                        <a:t>Maharashtra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5124098"/>
                  </a:ext>
                </a:extLst>
              </a:tr>
              <a:tr h="230125">
                <a:tc>
                  <a:txBody>
                    <a:bodyPr/>
                    <a:lstStyle/>
                    <a:p>
                      <a:r>
                        <a:rPr lang="en-IN" sz="1100" dirty="0"/>
                        <a:t>Punjab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1949057"/>
                  </a:ext>
                </a:extLst>
              </a:tr>
              <a:tr h="230125">
                <a:tc>
                  <a:txBody>
                    <a:bodyPr/>
                    <a:lstStyle/>
                    <a:p>
                      <a:r>
                        <a:rPr lang="en-IN" sz="1100" dirty="0"/>
                        <a:t>Rajasthan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1606395"/>
                  </a:ext>
                </a:extLst>
              </a:tr>
              <a:tr h="230125">
                <a:tc>
                  <a:txBody>
                    <a:bodyPr/>
                    <a:lstStyle/>
                    <a:p>
                      <a:r>
                        <a:rPr lang="en-IN" sz="1100" dirty="0"/>
                        <a:t>Kerala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9337764"/>
                  </a:ext>
                </a:extLst>
              </a:tr>
              <a:tr h="230125">
                <a:tc>
                  <a:txBody>
                    <a:bodyPr/>
                    <a:lstStyle/>
                    <a:p>
                      <a:r>
                        <a:rPr lang="en-IN" sz="1100" dirty="0"/>
                        <a:t>Arunachal Pradesh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030009"/>
                  </a:ext>
                </a:extLst>
              </a:tr>
              <a:tr h="230125">
                <a:tc>
                  <a:txBody>
                    <a:bodyPr/>
                    <a:lstStyle/>
                    <a:p>
                      <a:r>
                        <a:rPr lang="en-IN" sz="1100" dirty="0"/>
                        <a:t>West Bengal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0793908"/>
                  </a:ext>
                </a:extLst>
              </a:tr>
              <a:tr h="230125">
                <a:tc>
                  <a:txBody>
                    <a:bodyPr/>
                    <a:lstStyle/>
                    <a:p>
                      <a:r>
                        <a:rPr lang="en-IN" sz="1100" dirty="0"/>
                        <a:t>Gujarat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1152612"/>
                  </a:ext>
                </a:extLst>
              </a:tr>
              <a:tr h="230125">
                <a:tc>
                  <a:txBody>
                    <a:bodyPr/>
                    <a:lstStyle/>
                    <a:p>
                      <a:r>
                        <a:rPr lang="en-IN" sz="1100" dirty="0"/>
                        <a:t>Haryana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456526"/>
                  </a:ext>
                </a:extLst>
              </a:tr>
              <a:tr h="230125">
                <a:tc>
                  <a:txBody>
                    <a:bodyPr/>
                    <a:lstStyle/>
                    <a:p>
                      <a:r>
                        <a:rPr lang="en-IN" sz="1100" dirty="0"/>
                        <a:t>Tamil Nadu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9790814"/>
                  </a:ext>
                </a:extLst>
              </a:tr>
              <a:tr h="230125">
                <a:tc>
                  <a:txBody>
                    <a:bodyPr/>
                    <a:lstStyle/>
                    <a:p>
                      <a:r>
                        <a:rPr lang="en-IN" sz="1100" dirty="0"/>
                        <a:t>Uttar Pradesh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8097665"/>
                  </a:ext>
                </a:extLst>
              </a:tr>
              <a:tr h="230125">
                <a:tc>
                  <a:txBody>
                    <a:bodyPr/>
                    <a:lstStyle/>
                    <a:p>
                      <a:r>
                        <a:rPr lang="en-IN" sz="1100" dirty="0"/>
                        <a:t>Karnataka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841108"/>
                  </a:ext>
                </a:extLst>
              </a:tr>
              <a:tr h="230125">
                <a:tc>
                  <a:txBody>
                    <a:bodyPr/>
                    <a:lstStyle/>
                    <a:p>
                      <a:r>
                        <a:rPr lang="en-IN" sz="1100" dirty="0"/>
                        <a:t>Chhattisgarh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390430"/>
                  </a:ext>
                </a:extLst>
              </a:tr>
              <a:tr h="230125">
                <a:tc>
                  <a:txBody>
                    <a:bodyPr/>
                    <a:lstStyle/>
                    <a:p>
                      <a:r>
                        <a:rPr lang="en-IN" sz="1100" dirty="0"/>
                        <a:t>Delhi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0431448"/>
                  </a:ext>
                </a:extLst>
              </a:tr>
              <a:tr h="230125">
                <a:tc>
                  <a:txBody>
                    <a:bodyPr/>
                    <a:lstStyle/>
                    <a:p>
                      <a:r>
                        <a:rPr lang="en-IN" sz="1100" dirty="0"/>
                        <a:t>Andhra Pradesh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3463901"/>
                  </a:ext>
                </a:extLst>
              </a:tr>
              <a:tr h="230125">
                <a:tc>
                  <a:txBody>
                    <a:bodyPr/>
                    <a:lstStyle/>
                    <a:p>
                      <a:r>
                        <a:rPr lang="en-IN" sz="1100" dirty="0"/>
                        <a:t>Himachal Pradesh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1791340"/>
                  </a:ext>
                </a:extLst>
              </a:tr>
              <a:tr h="230125">
                <a:tc>
                  <a:txBody>
                    <a:bodyPr/>
                    <a:lstStyle/>
                    <a:p>
                      <a:r>
                        <a:rPr lang="en-IN" sz="1100" dirty="0"/>
                        <a:t>Goa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223182"/>
                  </a:ext>
                </a:extLst>
              </a:tr>
              <a:tr h="230125">
                <a:tc>
                  <a:txBody>
                    <a:bodyPr/>
                    <a:lstStyle/>
                    <a:p>
                      <a:r>
                        <a:rPr lang="en-IN" sz="1100" dirty="0"/>
                        <a:t>Madhya Pradesh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3482046"/>
                  </a:ext>
                </a:extLst>
              </a:tr>
              <a:tr h="2301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100" dirty="0"/>
                        <a:t>Uttaranchal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1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2999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9523745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210EBAD-812F-C38A-FFC1-25A7E153B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1F3D2704-1BBD-D151-3259-6108DDF93E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A2F6097-870C-FD69-0CA1-B64884CED277}"/>
              </a:ext>
            </a:extLst>
          </p:cNvPr>
          <p:cNvSpPr txBox="1"/>
          <p:nvPr/>
        </p:nvSpPr>
        <p:spPr>
          <a:xfrm>
            <a:off x="575187" y="0"/>
            <a:ext cx="11041625" cy="6463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9pPr>
          </a:lstStyle>
          <a:p>
            <a:r>
              <a:rPr lang="en-IN" dirty="0"/>
              <a:t>CATEGORY PENETRATION ANALYSIS</a:t>
            </a:r>
          </a:p>
        </p:txBody>
      </p:sp>
    </p:spTree>
    <p:extLst>
      <p:ext uri="{BB962C8B-B14F-4D97-AF65-F5344CB8AC3E}">
        <p14:creationId xmlns:p14="http://schemas.microsoft.com/office/powerpoint/2010/main" val="363539383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4A0FB33-63B8-D02F-91EE-E7DB8B97F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DC8B94E0-A852-CEAB-C763-277BE01878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B90A7DD-6596-E079-3CC0-66F9EE357177}"/>
              </a:ext>
            </a:extLst>
          </p:cNvPr>
          <p:cNvSpPr txBox="1"/>
          <p:nvPr/>
        </p:nvSpPr>
        <p:spPr>
          <a:xfrm>
            <a:off x="575187" y="0"/>
            <a:ext cx="11041625" cy="646331"/>
          </a:xfrm>
          <a:prstGeom prst="rect">
            <a:avLst/>
          </a:prstGeom>
          <a:solidFill>
            <a:srgbClr val="348E90"/>
          </a:solidFill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endParaRPr lang="en-IN" sz="3600" dirty="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  <p:grpSp>
        <p:nvGrpSpPr>
          <p:cNvPr id="2" name="object 3">
            <a:extLst>
              <a:ext uri="{FF2B5EF4-FFF2-40B4-BE49-F238E27FC236}">
                <a16:creationId xmlns:a16="http://schemas.microsoft.com/office/drawing/2014/main" id="{A5095F48-9444-C157-0333-92A79777B9D4}"/>
              </a:ext>
            </a:extLst>
          </p:cNvPr>
          <p:cNvGrpSpPr/>
          <p:nvPr/>
        </p:nvGrpSpPr>
        <p:grpSpPr>
          <a:xfrm>
            <a:off x="-1" y="0"/>
            <a:ext cx="12192000" cy="6331974"/>
            <a:chOff x="480058" y="923544"/>
            <a:chExt cx="8275565" cy="5498078"/>
          </a:xfrm>
        </p:grpSpPr>
        <p:pic>
          <p:nvPicPr>
            <p:cNvPr id="3" name="object 4">
              <a:extLst>
                <a:ext uri="{FF2B5EF4-FFF2-40B4-BE49-F238E27FC236}">
                  <a16:creationId xmlns:a16="http://schemas.microsoft.com/office/drawing/2014/main" id="{9FACD88F-2F6E-C860-56CF-EB8154370D3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34977" y="1186199"/>
              <a:ext cx="2792277" cy="2953717"/>
            </a:xfrm>
            <a:prstGeom prst="rect">
              <a:avLst/>
            </a:prstGeom>
          </p:spPr>
        </p:pic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9B2092F-4A68-E477-9831-A051730DAFD2}"/>
                </a:ext>
              </a:extLst>
            </p:cNvPr>
            <p:cNvSpPr/>
            <p:nvPr/>
          </p:nvSpPr>
          <p:spPr>
            <a:xfrm>
              <a:off x="480059" y="3986631"/>
              <a:ext cx="5897880" cy="254000"/>
            </a:xfrm>
            <a:custGeom>
              <a:avLst/>
              <a:gdLst/>
              <a:ahLst/>
              <a:cxnLst/>
              <a:rect l="l" t="t" r="r" b="b"/>
              <a:pathLst>
                <a:path w="5897880" h="254000">
                  <a:moveTo>
                    <a:pt x="5897880" y="0"/>
                  </a:moveTo>
                  <a:lnTo>
                    <a:pt x="0" y="0"/>
                  </a:lnTo>
                  <a:lnTo>
                    <a:pt x="0" y="253898"/>
                  </a:lnTo>
                  <a:lnTo>
                    <a:pt x="5897880" y="253898"/>
                  </a:lnTo>
                  <a:lnTo>
                    <a:pt x="5897880" y="0"/>
                  </a:lnTo>
                  <a:close/>
                </a:path>
              </a:pathLst>
            </a:custGeom>
            <a:solidFill>
              <a:srgbClr val="348E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F4BC93C6-4CD5-B3E5-81C5-D745F7E0B7E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0059" y="4005884"/>
              <a:ext cx="1044511" cy="235407"/>
            </a:xfrm>
            <a:prstGeom prst="rect">
              <a:avLst/>
            </a:prstGeom>
          </p:spPr>
        </p:pic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BE3EEE26-9B37-F77F-640E-22CCAFAE0BC4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0058" y="923544"/>
              <a:ext cx="8275565" cy="5498078"/>
            </a:xfrm>
            <a:prstGeom prst="rect">
              <a:avLst/>
            </a:prstGeom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E0056BE7-1555-372A-29D5-526BC347C4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" y="0"/>
            <a:ext cx="12192000" cy="6329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628945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DFBF0E0-3851-D2DA-807D-92D1AD5D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11CC3636-A434-6880-1C99-AA92BD6D8B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8A0E18C-57D3-AE78-9C79-472E0263E57F}"/>
              </a:ext>
            </a:extLst>
          </p:cNvPr>
          <p:cNvSpPr txBox="1"/>
          <p:nvPr/>
        </p:nvSpPr>
        <p:spPr>
          <a:xfrm>
            <a:off x="575187" y="0"/>
            <a:ext cx="11041625" cy="6463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9pPr>
          </a:lstStyle>
          <a:p>
            <a:r>
              <a:rPr lang="en-US" dirty="0"/>
              <a:t>COHORT ANALYSIS – FIXED MONTH RETENTION</a:t>
            </a:r>
          </a:p>
        </p:txBody>
      </p:sp>
      <p:sp>
        <p:nvSpPr>
          <p:cNvPr id="2" name="object 8">
            <a:extLst>
              <a:ext uri="{FF2B5EF4-FFF2-40B4-BE49-F238E27FC236}">
                <a16:creationId xmlns:a16="http://schemas.microsoft.com/office/drawing/2014/main" id="{7D36FB1F-C92E-043F-0CBE-7BD546409699}"/>
              </a:ext>
            </a:extLst>
          </p:cNvPr>
          <p:cNvSpPr txBox="1"/>
          <p:nvPr/>
        </p:nvSpPr>
        <p:spPr>
          <a:xfrm>
            <a:off x="679500" y="1025842"/>
            <a:ext cx="10937312" cy="4806316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196850" marR="415290" indent="-184785">
              <a:lnSpc>
                <a:spcPct val="101099"/>
              </a:lnSpc>
              <a:spcBef>
                <a:spcPts val="425"/>
              </a:spcBef>
              <a:buFont typeface="Arial"/>
              <a:buChar char="•"/>
              <a:tabLst>
                <a:tab pos="196850" algn="l"/>
              </a:tabLst>
            </a:pPr>
            <a:r>
              <a:rPr sz="2000" b="1" dirty="0">
                <a:latin typeface="Calibri"/>
                <a:cs typeface="Calibri"/>
              </a:rPr>
              <a:t>In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fixed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month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retention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cohort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analysis,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we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analyze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how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many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customers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from</a:t>
            </a:r>
            <a:r>
              <a:rPr sz="2000" b="1" spc="-3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cohort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month</a:t>
            </a:r>
            <a:r>
              <a:rPr sz="2000" b="1" spc="-20" dirty="0">
                <a:latin typeface="Calibri"/>
                <a:cs typeface="Calibri"/>
              </a:rPr>
              <a:t> made</a:t>
            </a:r>
            <a:r>
              <a:rPr lang="en-IN" sz="2000" b="1" spc="50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purchases</a:t>
            </a:r>
            <a:r>
              <a:rPr sz="2000" b="1" dirty="0">
                <a:latin typeface="Calibri"/>
                <a:cs typeface="Calibri"/>
              </a:rPr>
              <a:t> in other</a:t>
            </a:r>
            <a:r>
              <a:rPr sz="2000" b="1" spc="-10" dirty="0">
                <a:latin typeface="Calibri"/>
                <a:cs typeface="Calibri"/>
              </a:rPr>
              <a:t> months.</a:t>
            </a:r>
            <a:endParaRPr sz="2000" dirty="0">
              <a:latin typeface="Calibri"/>
              <a:cs typeface="Calibri"/>
            </a:endParaRPr>
          </a:p>
          <a:p>
            <a:pPr marL="196850" marR="194310" indent="-184785">
              <a:lnSpc>
                <a:spcPct val="101099"/>
              </a:lnSpc>
              <a:spcBef>
                <a:spcPts val="1070"/>
              </a:spcBef>
              <a:buFont typeface="Arial"/>
              <a:buChar char="•"/>
              <a:tabLst>
                <a:tab pos="196850" algn="l"/>
              </a:tabLst>
            </a:pPr>
            <a:r>
              <a:rPr dirty="0">
                <a:latin typeface="Calibri"/>
                <a:cs typeface="Calibri"/>
              </a:rPr>
              <a:t>We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compare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cohort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customers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repeating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customers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by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comparing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their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revenue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purchases.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We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also</a:t>
            </a:r>
            <a:r>
              <a:rPr spc="50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calculate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retention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rate.</a:t>
            </a:r>
            <a:endParaRPr dirty="0">
              <a:latin typeface="Calibri"/>
              <a:cs typeface="Calibri"/>
            </a:endParaRPr>
          </a:p>
          <a:p>
            <a:pPr marL="196850" marR="5080" indent="-184785">
              <a:lnSpc>
                <a:spcPct val="101099"/>
              </a:lnSpc>
              <a:spcBef>
                <a:spcPts val="1070"/>
              </a:spcBef>
              <a:buFont typeface="Arial"/>
              <a:buChar char="•"/>
              <a:tabLst>
                <a:tab pos="196850" algn="l"/>
              </a:tabLst>
            </a:pPr>
            <a:r>
              <a:rPr b="1" dirty="0">
                <a:latin typeface="Calibri"/>
                <a:cs typeface="Calibri"/>
              </a:rPr>
              <a:t>Retention</a:t>
            </a:r>
            <a:r>
              <a:rPr b="1" spc="-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rate</a:t>
            </a:r>
            <a:r>
              <a:rPr b="1"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is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critical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information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that is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calculated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know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what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percentage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customers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from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that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cohort</a:t>
            </a:r>
            <a:r>
              <a:rPr spc="50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month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makes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purchases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other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months.</a:t>
            </a:r>
            <a:endParaRPr dirty="0">
              <a:latin typeface="Calibri"/>
              <a:cs typeface="Calibri"/>
            </a:endParaRPr>
          </a:p>
          <a:p>
            <a:pPr marL="196850" indent="-184150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196850" algn="l"/>
              </a:tabLst>
            </a:pPr>
            <a:r>
              <a:rPr dirty="0">
                <a:latin typeface="Calibri"/>
                <a:cs typeface="Calibri"/>
              </a:rPr>
              <a:t>We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also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calculate average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months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taken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for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subsequent</a:t>
            </a:r>
            <a:r>
              <a:rPr spc="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purchases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for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each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cohort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month.</a:t>
            </a:r>
            <a:endParaRPr dirty="0">
              <a:latin typeface="Calibri"/>
              <a:cs typeface="Calibri"/>
            </a:endParaRPr>
          </a:p>
          <a:p>
            <a:pPr marL="486409" marR="124460" lvl="1" indent="-184785">
              <a:lnSpc>
                <a:spcPct val="100000"/>
              </a:lnSpc>
              <a:spcBef>
                <a:spcPts val="1090"/>
              </a:spcBef>
              <a:buFont typeface="Wingdings"/>
              <a:buChar char=""/>
              <a:tabLst>
                <a:tab pos="486409" algn="l"/>
              </a:tabLst>
            </a:pPr>
            <a:r>
              <a:rPr dirty="0">
                <a:latin typeface="Calibri"/>
                <a:cs typeface="Calibri"/>
              </a:rPr>
              <a:t>Suppose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customers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1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,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2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3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are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from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Jan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2023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cohort.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They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make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their next</a:t>
            </a:r>
            <a:r>
              <a:rPr spc="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purchases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March,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May</a:t>
            </a:r>
            <a:r>
              <a:rPr spc="50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July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2023 </a:t>
            </a:r>
            <a:r>
              <a:rPr spc="-10" dirty="0">
                <a:latin typeface="Calibri"/>
                <a:cs typeface="Calibri"/>
              </a:rPr>
              <a:t>respectively.</a:t>
            </a:r>
            <a:endParaRPr lang="en-IN" spc="-10" dirty="0">
              <a:latin typeface="Calibri"/>
              <a:cs typeface="Calibri"/>
            </a:endParaRPr>
          </a:p>
          <a:p>
            <a:pPr marL="486409" marR="124460" lvl="1" indent="-184785">
              <a:lnSpc>
                <a:spcPct val="100000"/>
              </a:lnSpc>
              <a:spcBef>
                <a:spcPts val="1090"/>
              </a:spcBef>
              <a:buFont typeface="Wingdings"/>
              <a:buChar char=""/>
              <a:tabLst>
                <a:tab pos="486409" algn="l"/>
              </a:tabLst>
            </a:pPr>
            <a:endParaRPr sz="100" dirty="0">
              <a:latin typeface="Calibri"/>
              <a:cs typeface="Calibri"/>
            </a:endParaRPr>
          </a:p>
          <a:p>
            <a:pPr marL="486409" marR="166370" lvl="1" indent="-184785">
              <a:lnSpc>
                <a:spcPts val="1090"/>
              </a:lnSpc>
              <a:spcBef>
                <a:spcPts val="30"/>
              </a:spcBef>
              <a:buFont typeface="Wingdings"/>
              <a:buChar char=""/>
              <a:tabLst>
                <a:tab pos="486409" algn="l"/>
              </a:tabLst>
            </a:pPr>
            <a:r>
              <a:rPr dirty="0">
                <a:latin typeface="Calibri"/>
                <a:cs typeface="Calibri"/>
              </a:rPr>
              <a:t>That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means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customer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1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purchases</a:t>
            </a:r>
            <a:r>
              <a:rPr spc="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after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2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month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,customer 2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purchases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after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4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months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customer </a:t>
            </a:r>
            <a:r>
              <a:rPr spc="-50" dirty="0">
                <a:latin typeface="Calibri"/>
                <a:cs typeface="Calibri"/>
              </a:rPr>
              <a:t>3</a:t>
            </a:r>
            <a:endParaRPr lang="en-IN" spc="500" dirty="0">
              <a:latin typeface="Calibri"/>
              <a:cs typeface="Calibri"/>
            </a:endParaRPr>
          </a:p>
          <a:p>
            <a:pPr marL="486409" marR="166370" lvl="1" indent="-184785">
              <a:lnSpc>
                <a:spcPts val="1090"/>
              </a:lnSpc>
              <a:spcBef>
                <a:spcPts val="30"/>
              </a:spcBef>
              <a:buFont typeface="Wingdings"/>
              <a:buChar char=""/>
              <a:tabLst>
                <a:tab pos="486409" algn="l"/>
              </a:tabLst>
            </a:pPr>
            <a:endParaRPr lang="en-IN" sz="100" spc="500" dirty="0">
              <a:latin typeface="Calibri"/>
              <a:cs typeface="Calibri"/>
            </a:endParaRPr>
          </a:p>
          <a:p>
            <a:pPr marL="301624" marR="166370" lvl="1">
              <a:lnSpc>
                <a:spcPts val="1090"/>
              </a:lnSpc>
              <a:spcBef>
                <a:spcPts val="30"/>
              </a:spcBef>
              <a:tabLst>
                <a:tab pos="486409" algn="l"/>
              </a:tabLst>
            </a:pPr>
            <a:r>
              <a:rPr lang="en-IN" spc="500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purchases</a:t>
            </a:r>
            <a:r>
              <a:rPr spc="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after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6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months.</a:t>
            </a:r>
            <a:endParaRPr lang="en-IN" spc="-10" dirty="0">
              <a:latin typeface="Calibri"/>
              <a:cs typeface="Calibri"/>
            </a:endParaRPr>
          </a:p>
          <a:p>
            <a:pPr marL="301624" marR="166370" lvl="1">
              <a:lnSpc>
                <a:spcPts val="1090"/>
              </a:lnSpc>
              <a:spcBef>
                <a:spcPts val="30"/>
              </a:spcBef>
              <a:tabLst>
                <a:tab pos="486409" algn="l"/>
              </a:tabLst>
            </a:pPr>
            <a:endParaRPr dirty="0">
              <a:latin typeface="Calibri"/>
              <a:cs typeface="Calibri"/>
            </a:endParaRPr>
          </a:p>
          <a:p>
            <a:pPr marL="486409" marR="20320" lvl="1" indent="-184785">
              <a:lnSpc>
                <a:spcPts val="1080"/>
              </a:lnSpc>
              <a:buFont typeface="Wingdings"/>
              <a:buChar char=""/>
              <a:tabLst>
                <a:tab pos="486409" algn="l"/>
              </a:tabLst>
            </a:pPr>
            <a:r>
              <a:rPr dirty="0">
                <a:latin typeface="Calibri"/>
                <a:cs typeface="Calibri"/>
              </a:rPr>
              <a:t>Hence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average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months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to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make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subsequent</a:t>
            </a:r>
            <a:r>
              <a:rPr spc="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purchase is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(2+4+6)/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3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(number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of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customers)</a:t>
            </a:r>
            <a:r>
              <a:rPr spc="17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.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Therefore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the</a:t>
            </a:r>
            <a:endParaRPr lang="en-IN" spc="-25" dirty="0">
              <a:latin typeface="Calibri"/>
              <a:cs typeface="Calibri"/>
            </a:endParaRPr>
          </a:p>
          <a:p>
            <a:pPr marL="486409" marR="20320" lvl="1" indent="-184785">
              <a:lnSpc>
                <a:spcPts val="1080"/>
              </a:lnSpc>
              <a:buFont typeface="Wingdings"/>
              <a:buChar char=""/>
              <a:tabLst>
                <a:tab pos="486409" algn="l"/>
              </a:tabLst>
            </a:pPr>
            <a:endParaRPr lang="en-IN" sz="100" spc="-25" dirty="0">
              <a:latin typeface="Calibri"/>
              <a:cs typeface="Calibri"/>
            </a:endParaRPr>
          </a:p>
          <a:p>
            <a:pPr marL="301624" marR="20320" lvl="1">
              <a:lnSpc>
                <a:spcPts val="1080"/>
              </a:lnSpc>
              <a:tabLst>
                <a:tab pos="486409" algn="l"/>
              </a:tabLst>
            </a:pPr>
            <a:r>
              <a:rPr lang="en-IN" spc="500" dirty="0">
                <a:latin typeface="Calibri"/>
                <a:cs typeface="Calibri"/>
              </a:rPr>
              <a:t>  </a:t>
            </a:r>
            <a:r>
              <a:rPr dirty="0">
                <a:latin typeface="Calibri"/>
                <a:cs typeface="Calibri"/>
              </a:rPr>
              <a:t>answer is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4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this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scenario</a:t>
            </a:r>
            <a:endParaRPr dirty="0">
              <a:latin typeface="Calibri"/>
              <a:cs typeface="Calibri"/>
            </a:endParaRPr>
          </a:p>
          <a:p>
            <a:pPr marL="196850" indent="-184150">
              <a:lnSpc>
                <a:spcPct val="100000"/>
              </a:lnSpc>
              <a:spcBef>
                <a:spcPts val="1055"/>
              </a:spcBef>
              <a:buFont typeface="Arial"/>
              <a:buChar char="•"/>
              <a:tabLst>
                <a:tab pos="196850" algn="l"/>
              </a:tabLst>
            </a:pPr>
            <a:r>
              <a:rPr dirty="0">
                <a:latin typeface="Calibri"/>
                <a:cs typeface="Calibri"/>
              </a:rPr>
              <a:t>The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analysis</a:t>
            </a:r>
            <a:r>
              <a:rPr spc="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results</a:t>
            </a:r>
            <a:r>
              <a:rPr spc="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for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all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cohort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months</a:t>
            </a:r>
            <a:r>
              <a:rPr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have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been presented</a:t>
            </a:r>
            <a:r>
              <a:rPr spc="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tabular</a:t>
            </a:r>
            <a:r>
              <a:rPr spc="-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form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upcoming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slides.</a:t>
            </a:r>
            <a:endParaRPr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46601480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7934173-CBA6-6CDC-3B83-C1F69AE2F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89BDE38E-457E-39A2-9939-60A164A2C3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E62D6AA-DEAF-445D-00DF-A4265726D498}"/>
              </a:ext>
            </a:extLst>
          </p:cNvPr>
          <p:cNvSpPr txBox="1"/>
          <p:nvPr/>
        </p:nvSpPr>
        <p:spPr>
          <a:xfrm>
            <a:off x="575187" y="0"/>
            <a:ext cx="11041625" cy="6463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9pPr>
          </a:lstStyle>
          <a:p>
            <a:r>
              <a:rPr lang="en-IN" dirty="0"/>
              <a:t>TABLE COLUMN DESCRIPTIONS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B633392-5CFE-CEFF-A655-81826AB1D5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3852710"/>
              </p:ext>
            </p:extLst>
          </p:nvPr>
        </p:nvGraphicFramePr>
        <p:xfrm>
          <a:off x="575186" y="749165"/>
          <a:ext cx="11041626" cy="5465499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682182">
                  <a:extLst>
                    <a:ext uri="{9D8B030D-6E8A-4147-A177-3AD203B41FA5}">
                      <a16:colId xmlns:a16="http://schemas.microsoft.com/office/drawing/2014/main" val="3364173648"/>
                    </a:ext>
                  </a:extLst>
                </a:gridCol>
                <a:gridCol w="7359444">
                  <a:extLst>
                    <a:ext uri="{9D8B030D-6E8A-4147-A177-3AD203B41FA5}">
                      <a16:colId xmlns:a16="http://schemas.microsoft.com/office/drawing/2014/main" val="1577743757"/>
                    </a:ext>
                  </a:extLst>
                </a:gridCol>
              </a:tblGrid>
              <a:tr h="50816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80"/>
                        </a:spcBef>
                      </a:pPr>
                      <a:r>
                        <a:rPr sz="1600" b="1" dirty="0"/>
                        <a:t>Column</a:t>
                      </a:r>
                      <a:r>
                        <a:rPr sz="1600" b="1" spc="-40" dirty="0"/>
                        <a:t> </a:t>
                      </a:r>
                      <a:r>
                        <a:rPr sz="1600" b="1" spc="-20" dirty="0"/>
                        <a:t>Name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solidFill>
                      <a:srgbClr val="348E90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50000"/>
                        </a:lnSpc>
                        <a:spcBef>
                          <a:spcPts val="180"/>
                        </a:spcBef>
                      </a:pPr>
                      <a:r>
                        <a:rPr sz="1600" b="1" spc="-10" dirty="0"/>
                        <a:t>Description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22860" marB="0">
                    <a:solidFill>
                      <a:srgbClr val="348E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684309"/>
                  </a:ext>
                </a:extLst>
              </a:tr>
              <a:tr h="532265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80"/>
                        </a:spcBef>
                      </a:pPr>
                      <a:r>
                        <a:rPr sz="1400" dirty="0"/>
                        <a:t>Cohort</a:t>
                      </a:r>
                      <a:r>
                        <a:rPr sz="1400" spc="-10" dirty="0"/>
                        <a:t> Month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80"/>
                        </a:spcBef>
                      </a:pPr>
                      <a:r>
                        <a:rPr sz="1200" dirty="0"/>
                        <a:t>First</a:t>
                      </a:r>
                      <a:r>
                        <a:rPr sz="1200" spc="-5" dirty="0"/>
                        <a:t> </a:t>
                      </a:r>
                      <a:r>
                        <a:rPr sz="1200" dirty="0"/>
                        <a:t>purchase month</a:t>
                      </a:r>
                      <a:r>
                        <a:rPr sz="1200" spc="-15" dirty="0"/>
                        <a:t> </a:t>
                      </a:r>
                      <a:r>
                        <a:rPr sz="1200" dirty="0"/>
                        <a:t>of</a:t>
                      </a:r>
                      <a:r>
                        <a:rPr sz="1200" spc="-35" dirty="0"/>
                        <a:t> </a:t>
                      </a:r>
                      <a:r>
                        <a:rPr sz="1200" dirty="0"/>
                        <a:t>a</a:t>
                      </a:r>
                      <a:r>
                        <a:rPr sz="1200" spc="-30" dirty="0"/>
                        <a:t> </a:t>
                      </a:r>
                      <a:r>
                        <a:rPr sz="1200" spc="-10" dirty="0"/>
                        <a:t>customer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22860" marB="0"/>
                </a:tc>
                <a:extLst>
                  <a:ext uri="{0D108BD9-81ED-4DB2-BD59-A6C34878D82A}">
                    <a16:rowId xmlns:a16="http://schemas.microsoft.com/office/drawing/2014/main" val="1089981284"/>
                  </a:ext>
                </a:extLst>
              </a:tr>
              <a:tr h="532265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80"/>
                        </a:spcBef>
                      </a:pPr>
                      <a:r>
                        <a:rPr sz="1400" dirty="0"/>
                        <a:t>Cohort</a:t>
                      </a:r>
                      <a:r>
                        <a:rPr sz="1400" spc="-10" dirty="0"/>
                        <a:t> Customers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80"/>
                        </a:spcBef>
                      </a:pPr>
                      <a:r>
                        <a:rPr sz="1200" dirty="0"/>
                        <a:t>Group</a:t>
                      </a:r>
                      <a:r>
                        <a:rPr sz="1200" spc="-10" dirty="0"/>
                        <a:t> </a:t>
                      </a:r>
                      <a:r>
                        <a:rPr sz="1200" dirty="0"/>
                        <a:t>of</a:t>
                      </a:r>
                      <a:r>
                        <a:rPr sz="1200" spc="-35" dirty="0"/>
                        <a:t> </a:t>
                      </a:r>
                      <a:r>
                        <a:rPr sz="1200" dirty="0"/>
                        <a:t>customers</a:t>
                      </a:r>
                      <a:r>
                        <a:rPr sz="1200" spc="-10" dirty="0"/>
                        <a:t> </a:t>
                      </a:r>
                      <a:r>
                        <a:rPr sz="1200" dirty="0"/>
                        <a:t>who</a:t>
                      </a:r>
                      <a:r>
                        <a:rPr sz="1200" spc="-20" dirty="0"/>
                        <a:t> </a:t>
                      </a:r>
                      <a:r>
                        <a:rPr sz="1200" dirty="0"/>
                        <a:t>made</a:t>
                      </a:r>
                      <a:r>
                        <a:rPr sz="1200" spc="-20" dirty="0"/>
                        <a:t> </a:t>
                      </a:r>
                      <a:r>
                        <a:rPr sz="1200" dirty="0"/>
                        <a:t>their</a:t>
                      </a:r>
                      <a:r>
                        <a:rPr sz="1200" spc="-5" dirty="0"/>
                        <a:t> </a:t>
                      </a:r>
                      <a:r>
                        <a:rPr sz="1200" dirty="0"/>
                        <a:t>first</a:t>
                      </a:r>
                      <a:r>
                        <a:rPr sz="1200" spc="-15" dirty="0"/>
                        <a:t> </a:t>
                      </a:r>
                      <a:r>
                        <a:rPr sz="1200" dirty="0"/>
                        <a:t>purchase</a:t>
                      </a:r>
                      <a:r>
                        <a:rPr sz="1200" spc="5" dirty="0"/>
                        <a:t> </a:t>
                      </a:r>
                      <a:r>
                        <a:rPr sz="1200" dirty="0"/>
                        <a:t>in</a:t>
                      </a:r>
                      <a:r>
                        <a:rPr sz="1200" spc="-20" dirty="0"/>
                        <a:t> </a:t>
                      </a:r>
                      <a:r>
                        <a:rPr sz="1200" dirty="0"/>
                        <a:t>a</a:t>
                      </a:r>
                      <a:r>
                        <a:rPr sz="1200" spc="-25" dirty="0"/>
                        <a:t> </a:t>
                      </a:r>
                      <a:r>
                        <a:rPr sz="1200" dirty="0"/>
                        <a:t>particular</a:t>
                      </a:r>
                      <a:r>
                        <a:rPr sz="1200" spc="15" dirty="0"/>
                        <a:t> </a:t>
                      </a:r>
                      <a:r>
                        <a:rPr sz="1200" spc="-10" dirty="0"/>
                        <a:t>month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22860" marB="0"/>
                </a:tc>
                <a:extLst>
                  <a:ext uri="{0D108BD9-81ED-4DB2-BD59-A6C34878D82A}">
                    <a16:rowId xmlns:a16="http://schemas.microsoft.com/office/drawing/2014/main" val="3723712059"/>
                  </a:ext>
                </a:extLst>
              </a:tr>
              <a:tr h="532265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80"/>
                        </a:spcBef>
                      </a:pPr>
                      <a:r>
                        <a:rPr sz="1400" dirty="0"/>
                        <a:t>Repeat</a:t>
                      </a:r>
                      <a:r>
                        <a:rPr sz="1400" spc="-5" dirty="0"/>
                        <a:t> </a:t>
                      </a:r>
                      <a:r>
                        <a:rPr sz="1400" spc="-10" dirty="0"/>
                        <a:t>Customers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80"/>
                        </a:spcBef>
                      </a:pPr>
                      <a:r>
                        <a:rPr sz="1200" dirty="0"/>
                        <a:t>Customers</a:t>
                      </a:r>
                      <a:r>
                        <a:rPr sz="1200" spc="-10" dirty="0"/>
                        <a:t> </a:t>
                      </a:r>
                      <a:r>
                        <a:rPr sz="1200" dirty="0"/>
                        <a:t>who</a:t>
                      </a:r>
                      <a:r>
                        <a:rPr sz="1200" spc="-25" dirty="0"/>
                        <a:t> </a:t>
                      </a:r>
                      <a:r>
                        <a:rPr sz="1200" dirty="0"/>
                        <a:t>made</a:t>
                      </a:r>
                      <a:r>
                        <a:rPr sz="1200" spc="-25" dirty="0"/>
                        <a:t> </a:t>
                      </a:r>
                      <a:r>
                        <a:rPr sz="1200" dirty="0"/>
                        <a:t>purchases in</a:t>
                      </a:r>
                      <a:r>
                        <a:rPr sz="1200" spc="-25" dirty="0"/>
                        <a:t> </a:t>
                      </a:r>
                      <a:r>
                        <a:rPr sz="1200" dirty="0"/>
                        <a:t>months</a:t>
                      </a:r>
                      <a:r>
                        <a:rPr sz="1200" spc="-15" dirty="0"/>
                        <a:t> </a:t>
                      </a:r>
                      <a:r>
                        <a:rPr sz="1200" dirty="0"/>
                        <a:t>other</a:t>
                      </a:r>
                      <a:r>
                        <a:rPr sz="1200" spc="-20" dirty="0"/>
                        <a:t> </a:t>
                      </a:r>
                      <a:r>
                        <a:rPr sz="1200" dirty="0"/>
                        <a:t>than</a:t>
                      </a:r>
                      <a:r>
                        <a:rPr sz="1200" spc="-15" dirty="0"/>
                        <a:t> </a:t>
                      </a:r>
                      <a:r>
                        <a:rPr sz="1200" dirty="0"/>
                        <a:t>cohort</a:t>
                      </a:r>
                      <a:r>
                        <a:rPr sz="1200" spc="-30" dirty="0"/>
                        <a:t> </a:t>
                      </a:r>
                      <a:r>
                        <a:rPr sz="1200" spc="-20" dirty="0"/>
                        <a:t>month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22860" marB="0"/>
                </a:tc>
                <a:extLst>
                  <a:ext uri="{0D108BD9-81ED-4DB2-BD59-A6C34878D82A}">
                    <a16:rowId xmlns:a16="http://schemas.microsoft.com/office/drawing/2014/main" val="2431050281"/>
                  </a:ext>
                </a:extLst>
              </a:tr>
              <a:tr h="531395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75"/>
                        </a:spcBef>
                      </a:pPr>
                      <a:r>
                        <a:rPr sz="1400" dirty="0"/>
                        <a:t>Retention</a:t>
                      </a:r>
                      <a:r>
                        <a:rPr sz="1400" spc="-25" dirty="0"/>
                        <a:t> </a:t>
                      </a:r>
                      <a:r>
                        <a:rPr sz="1400" spc="-20" dirty="0"/>
                        <a:t>Rate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222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75"/>
                        </a:spcBef>
                      </a:pPr>
                      <a:r>
                        <a:rPr sz="1200" dirty="0"/>
                        <a:t>Number</a:t>
                      </a:r>
                      <a:r>
                        <a:rPr sz="1200" spc="-10" dirty="0"/>
                        <a:t> </a:t>
                      </a:r>
                      <a:r>
                        <a:rPr sz="1200" dirty="0"/>
                        <a:t>of</a:t>
                      </a:r>
                      <a:r>
                        <a:rPr sz="1200" spc="-40" dirty="0"/>
                        <a:t> </a:t>
                      </a:r>
                      <a:r>
                        <a:rPr sz="1200" dirty="0"/>
                        <a:t>repeat</a:t>
                      </a:r>
                      <a:r>
                        <a:rPr sz="1200" spc="5" dirty="0"/>
                        <a:t> </a:t>
                      </a:r>
                      <a:r>
                        <a:rPr sz="1200" dirty="0"/>
                        <a:t>customers</a:t>
                      </a:r>
                      <a:r>
                        <a:rPr sz="1200" spc="-15" dirty="0"/>
                        <a:t> </a:t>
                      </a:r>
                      <a:r>
                        <a:rPr sz="1200" dirty="0"/>
                        <a:t>*100/Number of</a:t>
                      </a:r>
                      <a:r>
                        <a:rPr sz="1200" spc="-30" dirty="0"/>
                        <a:t> </a:t>
                      </a:r>
                      <a:r>
                        <a:rPr sz="1200" dirty="0"/>
                        <a:t>cohort</a:t>
                      </a:r>
                      <a:r>
                        <a:rPr sz="1200" spc="-30" dirty="0"/>
                        <a:t> </a:t>
                      </a:r>
                      <a:r>
                        <a:rPr sz="1200" spc="-10" dirty="0"/>
                        <a:t>customers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22225" marB="0"/>
                </a:tc>
                <a:extLst>
                  <a:ext uri="{0D108BD9-81ED-4DB2-BD59-A6C34878D82A}">
                    <a16:rowId xmlns:a16="http://schemas.microsoft.com/office/drawing/2014/main" val="2313529194"/>
                  </a:ext>
                </a:extLst>
              </a:tr>
              <a:tr h="532265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80"/>
                        </a:spcBef>
                      </a:pPr>
                      <a:r>
                        <a:rPr sz="1400" dirty="0"/>
                        <a:t>Avg.</a:t>
                      </a:r>
                      <a:r>
                        <a:rPr sz="1400" spc="-20" dirty="0"/>
                        <a:t> </a:t>
                      </a:r>
                      <a:r>
                        <a:rPr sz="1400" dirty="0"/>
                        <a:t>Months</a:t>
                      </a:r>
                      <a:r>
                        <a:rPr sz="1400" spc="-15" dirty="0"/>
                        <a:t> </a:t>
                      </a:r>
                      <a:r>
                        <a:rPr sz="1400" dirty="0"/>
                        <a:t>to</a:t>
                      </a:r>
                      <a:r>
                        <a:rPr sz="1400" spc="-25" dirty="0"/>
                        <a:t> </a:t>
                      </a:r>
                      <a:r>
                        <a:rPr sz="1400" spc="-10" dirty="0"/>
                        <a:t>Repeat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L="929640" marR="304800" indent="-619125" algn="ctr">
                        <a:lnSpc>
                          <a:spcPct val="200000"/>
                        </a:lnSpc>
                        <a:spcBef>
                          <a:spcPts val="165"/>
                        </a:spcBef>
                      </a:pPr>
                      <a:r>
                        <a:rPr sz="1200" dirty="0"/>
                        <a:t>Sum</a:t>
                      </a:r>
                      <a:r>
                        <a:rPr sz="1200" spc="-15" dirty="0"/>
                        <a:t> </a:t>
                      </a:r>
                      <a:r>
                        <a:rPr sz="1200" dirty="0"/>
                        <a:t>of</a:t>
                      </a:r>
                      <a:r>
                        <a:rPr sz="1200" spc="-30" dirty="0"/>
                        <a:t> </a:t>
                      </a:r>
                      <a:r>
                        <a:rPr sz="1200" dirty="0"/>
                        <a:t>months</a:t>
                      </a:r>
                      <a:r>
                        <a:rPr sz="1200" spc="-15" dirty="0"/>
                        <a:t> </a:t>
                      </a:r>
                      <a:r>
                        <a:rPr sz="1200" dirty="0"/>
                        <a:t>taken</a:t>
                      </a:r>
                      <a:r>
                        <a:rPr sz="1200" spc="5" dirty="0"/>
                        <a:t> </a:t>
                      </a:r>
                      <a:r>
                        <a:rPr sz="1200" dirty="0"/>
                        <a:t>by</a:t>
                      </a:r>
                      <a:r>
                        <a:rPr sz="1200" spc="-20" dirty="0"/>
                        <a:t> </a:t>
                      </a:r>
                      <a:r>
                        <a:rPr sz="1200" dirty="0"/>
                        <a:t>each</a:t>
                      </a:r>
                      <a:r>
                        <a:rPr sz="1200" spc="-15" dirty="0"/>
                        <a:t> </a:t>
                      </a:r>
                      <a:r>
                        <a:rPr sz="1200" dirty="0"/>
                        <a:t>repeat</a:t>
                      </a:r>
                      <a:r>
                        <a:rPr sz="1200" spc="15" dirty="0"/>
                        <a:t> </a:t>
                      </a:r>
                      <a:r>
                        <a:rPr sz="1200" dirty="0"/>
                        <a:t>customer</a:t>
                      </a:r>
                      <a:r>
                        <a:rPr sz="1200" spc="-15" dirty="0"/>
                        <a:t> </a:t>
                      </a:r>
                      <a:r>
                        <a:rPr sz="1200" dirty="0"/>
                        <a:t>to</a:t>
                      </a:r>
                      <a:r>
                        <a:rPr sz="1200" spc="-20" dirty="0"/>
                        <a:t> </a:t>
                      </a:r>
                      <a:r>
                        <a:rPr sz="1200" dirty="0"/>
                        <a:t>make</a:t>
                      </a:r>
                      <a:r>
                        <a:rPr sz="1200" spc="-15" dirty="0"/>
                        <a:t> </a:t>
                      </a:r>
                      <a:r>
                        <a:rPr sz="1200" spc="-10" dirty="0"/>
                        <a:t>subsequent</a:t>
                      </a:r>
                      <a:r>
                        <a:rPr sz="1200" spc="500" dirty="0"/>
                        <a:t> </a:t>
                      </a:r>
                      <a:r>
                        <a:rPr sz="1200" dirty="0"/>
                        <a:t>purchases</a:t>
                      </a:r>
                      <a:r>
                        <a:rPr sz="1200" spc="10" dirty="0"/>
                        <a:t> </a:t>
                      </a:r>
                      <a:r>
                        <a:rPr sz="1200" dirty="0"/>
                        <a:t>/</a:t>
                      </a:r>
                      <a:r>
                        <a:rPr sz="1200" spc="-35" dirty="0"/>
                        <a:t> </a:t>
                      </a:r>
                      <a:r>
                        <a:rPr sz="1200" dirty="0"/>
                        <a:t>Number</a:t>
                      </a:r>
                      <a:r>
                        <a:rPr sz="1200" spc="-5" dirty="0"/>
                        <a:t> </a:t>
                      </a:r>
                      <a:r>
                        <a:rPr sz="1200" dirty="0"/>
                        <a:t>of</a:t>
                      </a:r>
                      <a:r>
                        <a:rPr sz="1200" spc="-25" dirty="0"/>
                        <a:t> </a:t>
                      </a:r>
                      <a:r>
                        <a:rPr sz="1200" dirty="0"/>
                        <a:t>cohort</a:t>
                      </a:r>
                      <a:r>
                        <a:rPr sz="1200" spc="-25" dirty="0"/>
                        <a:t> </a:t>
                      </a:r>
                      <a:r>
                        <a:rPr sz="1200" spc="-10" dirty="0"/>
                        <a:t>customers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20955" marB="0"/>
                </a:tc>
                <a:extLst>
                  <a:ext uri="{0D108BD9-81ED-4DB2-BD59-A6C34878D82A}">
                    <a16:rowId xmlns:a16="http://schemas.microsoft.com/office/drawing/2014/main" val="2022918694"/>
                  </a:ext>
                </a:extLst>
              </a:tr>
              <a:tr h="532265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80"/>
                        </a:spcBef>
                      </a:pPr>
                      <a:r>
                        <a:rPr sz="1400" dirty="0"/>
                        <a:t>Total</a:t>
                      </a:r>
                      <a:r>
                        <a:rPr sz="1400" spc="-15" dirty="0"/>
                        <a:t> </a:t>
                      </a:r>
                      <a:r>
                        <a:rPr sz="1400" dirty="0"/>
                        <a:t>Orders</a:t>
                      </a:r>
                      <a:r>
                        <a:rPr sz="1400" spc="-5" dirty="0"/>
                        <a:t> </a:t>
                      </a:r>
                      <a:r>
                        <a:rPr sz="1400" dirty="0"/>
                        <a:t>-</a:t>
                      </a:r>
                      <a:r>
                        <a:rPr sz="1400" spc="-15" dirty="0"/>
                        <a:t> </a:t>
                      </a:r>
                      <a:r>
                        <a:rPr sz="1400" dirty="0"/>
                        <a:t>Cohort</a:t>
                      </a:r>
                      <a:r>
                        <a:rPr sz="1400" spc="-10" dirty="0"/>
                        <a:t> Customers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80"/>
                        </a:spcBef>
                      </a:pPr>
                      <a:r>
                        <a:rPr sz="1200" dirty="0"/>
                        <a:t>Number</a:t>
                      </a:r>
                      <a:r>
                        <a:rPr sz="1200" spc="-10" dirty="0"/>
                        <a:t> </a:t>
                      </a:r>
                      <a:r>
                        <a:rPr sz="1200" dirty="0"/>
                        <a:t>of</a:t>
                      </a:r>
                      <a:r>
                        <a:rPr sz="1200" spc="-35" dirty="0"/>
                        <a:t> </a:t>
                      </a:r>
                      <a:r>
                        <a:rPr sz="1200" dirty="0"/>
                        <a:t>orders</a:t>
                      </a:r>
                      <a:r>
                        <a:rPr sz="1200" spc="-15" dirty="0"/>
                        <a:t> </a:t>
                      </a:r>
                      <a:r>
                        <a:rPr sz="1200" dirty="0"/>
                        <a:t>from</a:t>
                      </a:r>
                      <a:r>
                        <a:rPr sz="1200" spc="-35" dirty="0"/>
                        <a:t> </a:t>
                      </a:r>
                      <a:r>
                        <a:rPr sz="1200" dirty="0"/>
                        <a:t>cohort</a:t>
                      </a:r>
                      <a:r>
                        <a:rPr sz="1200" spc="-30" dirty="0"/>
                        <a:t> </a:t>
                      </a:r>
                      <a:r>
                        <a:rPr sz="1200" spc="-10" dirty="0"/>
                        <a:t>customers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22860" marB="0"/>
                </a:tc>
                <a:extLst>
                  <a:ext uri="{0D108BD9-81ED-4DB2-BD59-A6C34878D82A}">
                    <a16:rowId xmlns:a16="http://schemas.microsoft.com/office/drawing/2014/main" val="479433335"/>
                  </a:ext>
                </a:extLst>
              </a:tr>
              <a:tr h="532265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80"/>
                        </a:spcBef>
                      </a:pPr>
                      <a:r>
                        <a:rPr sz="1400" dirty="0"/>
                        <a:t>Total</a:t>
                      </a:r>
                      <a:r>
                        <a:rPr sz="1400" spc="-20" dirty="0"/>
                        <a:t> </a:t>
                      </a:r>
                      <a:r>
                        <a:rPr sz="1400" dirty="0"/>
                        <a:t>Revenue-</a:t>
                      </a:r>
                      <a:r>
                        <a:rPr sz="1400" spc="10" dirty="0"/>
                        <a:t> </a:t>
                      </a:r>
                      <a:r>
                        <a:rPr sz="1400" dirty="0"/>
                        <a:t>Cohort</a:t>
                      </a:r>
                      <a:r>
                        <a:rPr sz="1400" spc="-30" dirty="0"/>
                        <a:t> </a:t>
                      </a:r>
                      <a:r>
                        <a:rPr sz="1400" spc="-10" dirty="0"/>
                        <a:t>Customers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80"/>
                        </a:spcBef>
                      </a:pPr>
                      <a:r>
                        <a:rPr sz="1200" dirty="0"/>
                        <a:t>Sum</a:t>
                      </a:r>
                      <a:r>
                        <a:rPr sz="1200" spc="-20" dirty="0"/>
                        <a:t> </a:t>
                      </a:r>
                      <a:r>
                        <a:rPr sz="1200" dirty="0"/>
                        <a:t>of</a:t>
                      </a:r>
                      <a:r>
                        <a:rPr sz="1200" spc="-35" dirty="0"/>
                        <a:t> </a:t>
                      </a:r>
                      <a:r>
                        <a:rPr sz="1200" dirty="0"/>
                        <a:t>revenue from</a:t>
                      </a:r>
                      <a:r>
                        <a:rPr sz="1200" spc="-35" dirty="0"/>
                        <a:t> </a:t>
                      </a:r>
                      <a:r>
                        <a:rPr sz="1200" dirty="0"/>
                        <a:t>cohort</a:t>
                      </a:r>
                      <a:r>
                        <a:rPr sz="1200" spc="-20" dirty="0"/>
                        <a:t> </a:t>
                      </a:r>
                      <a:r>
                        <a:rPr sz="1200" spc="-10" dirty="0"/>
                        <a:t>customers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22860" marB="0"/>
                </a:tc>
                <a:extLst>
                  <a:ext uri="{0D108BD9-81ED-4DB2-BD59-A6C34878D82A}">
                    <a16:rowId xmlns:a16="http://schemas.microsoft.com/office/drawing/2014/main" val="2800651645"/>
                  </a:ext>
                </a:extLst>
              </a:tr>
              <a:tr h="532265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80"/>
                        </a:spcBef>
                      </a:pPr>
                      <a:r>
                        <a:rPr sz="1400" dirty="0"/>
                        <a:t>Total</a:t>
                      </a:r>
                      <a:r>
                        <a:rPr sz="1400" spc="-20" dirty="0"/>
                        <a:t> </a:t>
                      </a:r>
                      <a:r>
                        <a:rPr sz="1400" dirty="0"/>
                        <a:t>Orders-</a:t>
                      </a:r>
                      <a:r>
                        <a:rPr sz="1400" spc="-15" dirty="0"/>
                        <a:t> </a:t>
                      </a:r>
                      <a:r>
                        <a:rPr sz="1400" dirty="0"/>
                        <a:t>Repeat</a:t>
                      </a:r>
                      <a:r>
                        <a:rPr sz="1400" spc="10" dirty="0"/>
                        <a:t> </a:t>
                      </a:r>
                      <a:r>
                        <a:rPr sz="1400" spc="-10" dirty="0"/>
                        <a:t>Customers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L="1565275" marR="69850" indent="-1492250" algn="ctr">
                        <a:lnSpc>
                          <a:spcPct val="200000"/>
                        </a:lnSpc>
                        <a:spcBef>
                          <a:spcPts val="165"/>
                        </a:spcBef>
                      </a:pPr>
                      <a:r>
                        <a:rPr sz="1200" dirty="0"/>
                        <a:t>Number</a:t>
                      </a:r>
                      <a:r>
                        <a:rPr sz="1200" spc="-15" dirty="0"/>
                        <a:t> </a:t>
                      </a:r>
                      <a:r>
                        <a:rPr sz="1200" dirty="0"/>
                        <a:t>of</a:t>
                      </a:r>
                      <a:r>
                        <a:rPr sz="1200" spc="-40" dirty="0"/>
                        <a:t> </a:t>
                      </a:r>
                      <a:r>
                        <a:rPr sz="1200" dirty="0"/>
                        <a:t>orders</a:t>
                      </a:r>
                      <a:r>
                        <a:rPr sz="1200" spc="-15" dirty="0"/>
                        <a:t> </a:t>
                      </a:r>
                      <a:r>
                        <a:rPr sz="1200" dirty="0"/>
                        <a:t>from</a:t>
                      </a:r>
                      <a:r>
                        <a:rPr sz="1200" spc="-40" dirty="0"/>
                        <a:t> </a:t>
                      </a:r>
                      <a:r>
                        <a:rPr sz="1200" dirty="0"/>
                        <a:t>customers</a:t>
                      </a:r>
                      <a:r>
                        <a:rPr sz="1200" spc="-15" dirty="0"/>
                        <a:t> </a:t>
                      </a:r>
                      <a:r>
                        <a:rPr sz="1200" dirty="0"/>
                        <a:t>who</a:t>
                      </a:r>
                      <a:r>
                        <a:rPr sz="1200" spc="-30" dirty="0"/>
                        <a:t> </a:t>
                      </a:r>
                      <a:r>
                        <a:rPr sz="1200" dirty="0"/>
                        <a:t>made</a:t>
                      </a:r>
                      <a:r>
                        <a:rPr sz="1200" spc="-25" dirty="0"/>
                        <a:t> </a:t>
                      </a:r>
                      <a:r>
                        <a:rPr sz="1200" dirty="0"/>
                        <a:t>purchases</a:t>
                      </a:r>
                      <a:r>
                        <a:rPr sz="1200" spc="5" dirty="0"/>
                        <a:t> </a:t>
                      </a:r>
                      <a:r>
                        <a:rPr sz="1200" dirty="0"/>
                        <a:t>in</a:t>
                      </a:r>
                      <a:r>
                        <a:rPr sz="1200" spc="-20" dirty="0"/>
                        <a:t> </a:t>
                      </a:r>
                      <a:r>
                        <a:rPr sz="1200" dirty="0"/>
                        <a:t>months</a:t>
                      </a:r>
                      <a:r>
                        <a:rPr sz="1200" spc="-25" dirty="0"/>
                        <a:t> </a:t>
                      </a:r>
                      <a:r>
                        <a:rPr sz="1200" dirty="0"/>
                        <a:t>other</a:t>
                      </a:r>
                      <a:r>
                        <a:rPr sz="1200" spc="-10" dirty="0"/>
                        <a:t> </a:t>
                      </a:r>
                      <a:r>
                        <a:rPr sz="1200" spc="-20" dirty="0"/>
                        <a:t>than</a:t>
                      </a:r>
                      <a:r>
                        <a:rPr sz="1200" spc="500" dirty="0"/>
                        <a:t> </a:t>
                      </a:r>
                      <a:r>
                        <a:rPr sz="1200" dirty="0"/>
                        <a:t>cohort</a:t>
                      </a:r>
                      <a:r>
                        <a:rPr sz="1200" spc="-25" dirty="0"/>
                        <a:t> </a:t>
                      </a:r>
                      <a:r>
                        <a:rPr sz="1200" spc="-20" dirty="0"/>
                        <a:t>month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20955" marB="0"/>
                </a:tc>
                <a:extLst>
                  <a:ext uri="{0D108BD9-81ED-4DB2-BD59-A6C34878D82A}">
                    <a16:rowId xmlns:a16="http://schemas.microsoft.com/office/drawing/2014/main" val="2229950975"/>
                  </a:ext>
                </a:extLst>
              </a:tr>
              <a:tr h="532265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80"/>
                        </a:spcBef>
                      </a:pPr>
                      <a:r>
                        <a:rPr sz="1400" dirty="0"/>
                        <a:t>Total</a:t>
                      </a:r>
                      <a:r>
                        <a:rPr sz="1400" spc="-20" dirty="0"/>
                        <a:t> </a:t>
                      </a:r>
                      <a:r>
                        <a:rPr sz="1400" dirty="0"/>
                        <a:t>Revenue-</a:t>
                      </a:r>
                      <a:r>
                        <a:rPr sz="1400" spc="5" dirty="0"/>
                        <a:t> </a:t>
                      </a:r>
                      <a:r>
                        <a:rPr sz="1400" dirty="0"/>
                        <a:t>Repeat</a:t>
                      </a:r>
                      <a:r>
                        <a:rPr sz="1400" spc="-5" dirty="0"/>
                        <a:t> </a:t>
                      </a:r>
                      <a:r>
                        <a:rPr sz="1400" spc="-10" dirty="0"/>
                        <a:t>Customers</a:t>
                      </a:r>
                      <a:endParaRPr sz="1400" dirty="0">
                        <a:latin typeface="Calibri"/>
                        <a:cs typeface="Calibri"/>
                      </a:endParaRPr>
                    </a:p>
                  </a:txBody>
                  <a:tcPr marL="0" marR="0" marT="22860" marB="0"/>
                </a:tc>
                <a:tc>
                  <a:txBody>
                    <a:bodyPr/>
                    <a:lstStyle/>
                    <a:p>
                      <a:pPr marL="1565275" marR="117475" indent="-1443355" algn="ctr">
                        <a:lnSpc>
                          <a:spcPct val="200000"/>
                        </a:lnSpc>
                        <a:spcBef>
                          <a:spcPts val="170"/>
                        </a:spcBef>
                      </a:pPr>
                      <a:r>
                        <a:rPr sz="1200" dirty="0"/>
                        <a:t>Sum</a:t>
                      </a:r>
                      <a:r>
                        <a:rPr sz="1200" spc="-20" dirty="0"/>
                        <a:t> </a:t>
                      </a:r>
                      <a:r>
                        <a:rPr sz="1200" dirty="0"/>
                        <a:t>of</a:t>
                      </a:r>
                      <a:r>
                        <a:rPr sz="1200" spc="-45" dirty="0"/>
                        <a:t> </a:t>
                      </a:r>
                      <a:r>
                        <a:rPr sz="1200" dirty="0"/>
                        <a:t>revenue from</a:t>
                      </a:r>
                      <a:r>
                        <a:rPr sz="1200" spc="-40" dirty="0"/>
                        <a:t> </a:t>
                      </a:r>
                      <a:r>
                        <a:rPr sz="1200" dirty="0"/>
                        <a:t>customers</a:t>
                      </a:r>
                      <a:r>
                        <a:rPr sz="1200" spc="-15" dirty="0"/>
                        <a:t> </a:t>
                      </a:r>
                      <a:r>
                        <a:rPr sz="1200" dirty="0"/>
                        <a:t>who</a:t>
                      </a:r>
                      <a:r>
                        <a:rPr sz="1200" spc="-30" dirty="0"/>
                        <a:t> </a:t>
                      </a:r>
                      <a:r>
                        <a:rPr sz="1200" dirty="0"/>
                        <a:t>made</a:t>
                      </a:r>
                      <a:r>
                        <a:rPr sz="1200" spc="-25" dirty="0"/>
                        <a:t> </a:t>
                      </a:r>
                      <a:r>
                        <a:rPr sz="1200" dirty="0"/>
                        <a:t>purchases</a:t>
                      </a:r>
                      <a:r>
                        <a:rPr sz="1200" spc="5" dirty="0"/>
                        <a:t> </a:t>
                      </a:r>
                      <a:r>
                        <a:rPr sz="1200" dirty="0"/>
                        <a:t>in</a:t>
                      </a:r>
                      <a:r>
                        <a:rPr sz="1200" spc="-20" dirty="0"/>
                        <a:t> </a:t>
                      </a:r>
                      <a:r>
                        <a:rPr sz="1200" dirty="0"/>
                        <a:t>months</a:t>
                      </a:r>
                      <a:r>
                        <a:rPr sz="1200" spc="-25" dirty="0"/>
                        <a:t> </a:t>
                      </a:r>
                      <a:r>
                        <a:rPr sz="1200" dirty="0"/>
                        <a:t>other</a:t>
                      </a:r>
                      <a:r>
                        <a:rPr sz="1200" spc="-10" dirty="0"/>
                        <a:t> </a:t>
                      </a:r>
                      <a:r>
                        <a:rPr sz="1200" spc="-20" dirty="0"/>
                        <a:t>than</a:t>
                      </a:r>
                      <a:r>
                        <a:rPr sz="1200" spc="500" dirty="0"/>
                        <a:t> </a:t>
                      </a:r>
                      <a:r>
                        <a:rPr sz="1200" dirty="0"/>
                        <a:t>cohort</a:t>
                      </a:r>
                      <a:r>
                        <a:rPr sz="1200" spc="-15" dirty="0"/>
                        <a:t> </a:t>
                      </a:r>
                      <a:r>
                        <a:rPr sz="1200" spc="-20" dirty="0"/>
                        <a:t>month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21590" marB="0"/>
                </a:tc>
                <a:extLst>
                  <a:ext uri="{0D108BD9-81ED-4DB2-BD59-A6C34878D82A}">
                    <a16:rowId xmlns:a16="http://schemas.microsoft.com/office/drawing/2014/main" val="14958751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9827437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0A46CAA-DACA-06BF-5A38-FB476C017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B30ABD40-8453-928D-9B98-FB931418D5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84570CF-44DD-111E-96E0-C0D48D479849}"/>
              </a:ext>
            </a:extLst>
          </p:cNvPr>
          <p:cNvSpPr txBox="1"/>
          <p:nvPr/>
        </p:nvSpPr>
        <p:spPr>
          <a:xfrm>
            <a:off x="575187" y="0"/>
            <a:ext cx="11041625" cy="6463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9pPr>
          </a:lstStyle>
          <a:p>
            <a:r>
              <a:rPr lang="en-IN" dirty="0"/>
              <a:t>COHORT ANALYSIS – FIXED MONTH</a:t>
            </a:r>
          </a:p>
        </p:txBody>
      </p:sp>
      <p:graphicFrame>
        <p:nvGraphicFramePr>
          <p:cNvPr id="2" name="object 9">
            <a:extLst>
              <a:ext uri="{FF2B5EF4-FFF2-40B4-BE49-F238E27FC236}">
                <a16:creationId xmlns:a16="http://schemas.microsoft.com/office/drawing/2014/main" id="{E4831BF4-B8AF-F480-844C-5ED3B56108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6511422"/>
              </p:ext>
            </p:extLst>
          </p:nvPr>
        </p:nvGraphicFramePr>
        <p:xfrm>
          <a:off x="575187" y="646330"/>
          <a:ext cx="11041627" cy="56954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3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67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67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67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67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67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2671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2671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381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 marL="217804" marR="197485" indent="-7620" algn="ctr">
                        <a:lnSpc>
                          <a:spcPct val="100000"/>
                        </a:lnSpc>
                      </a:pPr>
                      <a:r>
                        <a:rPr sz="1050" b="1" spc="-10" dirty="0">
                          <a:latin typeface="Calibri"/>
                          <a:cs typeface="Calibri"/>
                        </a:rPr>
                        <a:t>Cohort</a:t>
                      </a:r>
                      <a:r>
                        <a:rPr sz="105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10" dirty="0">
                          <a:latin typeface="Calibri"/>
                          <a:cs typeface="Calibri"/>
                        </a:rPr>
                        <a:t>Month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D3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 marL="177800" marR="170815" indent="50165" algn="ctr">
                        <a:lnSpc>
                          <a:spcPct val="100000"/>
                        </a:lnSpc>
                      </a:pPr>
                      <a:r>
                        <a:rPr sz="1050" b="1" spc="-10" dirty="0">
                          <a:latin typeface="Calibri"/>
                          <a:cs typeface="Calibri"/>
                        </a:rPr>
                        <a:t>Cohort</a:t>
                      </a:r>
                      <a:r>
                        <a:rPr sz="105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10" dirty="0">
                          <a:latin typeface="Calibri"/>
                          <a:cs typeface="Calibri"/>
                        </a:rPr>
                        <a:t>customers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7BD3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 marL="165735" marR="157480" indent="31750" algn="ctr">
                        <a:lnSpc>
                          <a:spcPct val="100000"/>
                        </a:lnSpc>
                      </a:pPr>
                      <a:r>
                        <a:rPr sz="1050" b="1" spc="-10" dirty="0">
                          <a:latin typeface="Calibri"/>
                          <a:cs typeface="Calibri"/>
                        </a:rPr>
                        <a:t>Repeat_</a:t>
                      </a:r>
                      <a:r>
                        <a:rPr sz="105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10" dirty="0">
                          <a:latin typeface="Calibri"/>
                          <a:cs typeface="Calibri"/>
                        </a:rPr>
                        <a:t>Customers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7BD3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 marL="253365" marR="149860" indent="-96520" algn="ctr">
                        <a:lnSpc>
                          <a:spcPct val="100000"/>
                        </a:lnSpc>
                      </a:pPr>
                      <a:r>
                        <a:rPr sz="1050" b="1" spc="-10" dirty="0">
                          <a:latin typeface="Calibri"/>
                          <a:cs typeface="Calibri"/>
                        </a:rPr>
                        <a:t>Retention_</a:t>
                      </a:r>
                      <a:r>
                        <a:rPr sz="105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20" dirty="0">
                          <a:latin typeface="Calibri"/>
                          <a:cs typeface="Calibri"/>
                        </a:rPr>
                        <a:t>Rate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7BD3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 marL="167640" marR="108585" indent="-50800" algn="ctr">
                        <a:lnSpc>
                          <a:spcPct val="100000"/>
                        </a:lnSpc>
                      </a:pPr>
                      <a:r>
                        <a:rPr sz="1050" b="1" spc="-10" dirty="0">
                          <a:latin typeface="Calibri"/>
                          <a:cs typeface="Calibri"/>
                        </a:rPr>
                        <a:t>Avg_Months_</a:t>
                      </a:r>
                      <a:r>
                        <a:rPr sz="105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10" dirty="0">
                          <a:latin typeface="Calibri"/>
                          <a:cs typeface="Calibri"/>
                        </a:rPr>
                        <a:t>to_Repeat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7BD3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 marL="48895" marR="40005" indent="62230" algn="ctr">
                        <a:lnSpc>
                          <a:spcPct val="100000"/>
                        </a:lnSpc>
                      </a:pPr>
                      <a:r>
                        <a:rPr sz="1050" b="1" spc="-10" dirty="0">
                          <a:latin typeface="Calibri"/>
                          <a:cs typeface="Calibri"/>
                        </a:rPr>
                        <a:t>Total_Orders_</a:t>
                      </a:r>
                      <a:r>
                        <a:rPr sz="105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10" dirty="0">
                          <a:latin typeface="Calibri"/>
                          <a:cs typeface="Calibri"/>
                        </a:rPr>
                        <a:t>Cohort_Customers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7BD3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 marL="48895" marR="40005" indent="33020" algn="ctr">
                        <a:lnSpc>
                          <a:spcPct val="100000"/>
                        </a:lnSpc>
                      </a:pPr>
                      <a:r>
                        <a:rPr sz="1050" b="1" spc="-10" dirty="0">
                          <a:latin typeface="Calibri"/>
                          <a:cs typeface="Calibri"/>
                        </a:rPr>
                        <a:t>Total_Revenue_</a:t>
                      </a:r>
                      <a:r>
                        <a:rPr sz="105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10" dirty="0">
                          <a:latin typeface="Calibri"/>
                          <a:cs typeface="Calibri"/>
                        </a:rPr>
                        <a:t>Cohort_Customers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7BD3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 marL="45085" marR="36195" indent="66675" algn="ctr">
                        <a:lnSpc>
                          <a:spcPct val="100000"/>
                        </a:lnSpc>
                      </a:pPr>
                      <a:r>
                        <a:rPr sz="1050" b="1" spc="-10" dirty="0">
                          <a:latin typeface="Calibri"/>
                          <a:cs typeface="Calibri"/>
                        </a:rPr>
                        <a:t>Total_Orders_</a:t>
                      </a:r>
                      <a:r>
                        <a:rPr sz="105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10" dirty="0">
                          <a:latin typeface="Calibri"/>
                          <a:cs typeface="Calibri"/>
                        </a:rPr>
                        <a:t>Repeat_Customers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7BD3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 marL="45085" marR="36195" indent="38100" algn="ctr">
                        <a:lnSpc>
                          <a:spcPct val="100000"/>
                        </a:lnSpc>
                      </a:pPr>
                      <a:r>
                        <a:rPr sz="1050" b="1" spc="-10" dirty="0">
                          <a:latin typeface="Calibri"/>
                          <a:cs typeface="Calibri"/>
                        </a:rPr>
                        <a:t>Total_Revenue_</a:t>
                      </a:r>
                      <a:r>
                        <a:rPr sz="105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10" dirty="0">
                          <a:latin typeface="Calibri"/>
                          <a:cs typeface="Calibri"/>
                        </a:rPr>
                        <a:t>Repeat_Customers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7BD3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0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590"/>
                        </a:lnSpc>
                      </a:pPr>
                      <a:r>
                        <a:rPr sz="1050" b="1" spc="-10" dirty="0">
                          <a:latin typeface="Calibri"/>
                          <a:cs typeface="Calibri"/>
                        </a:rPr>
                        <a:t>2021-</a:t>
                      </a:r>
                      <a:r>
                        <a:rPr sz="1050" b="1" spc="-50" dirty="0">
                          <a:latin typeface="Calibri"/>
                          <a:cs typeface="Calibri"/>
                        </a:rPr>
                        <a:t>9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7BD3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ts val="590"/>
                        </a:lnSpc>
                      </a:pPr>
                      <a:r>
                        <a:rPr sz="1050" spc="-50" dirty="0">
                          <a:latin typeface="Calibri"/>
                          <a:cs typeface="Calibri"/>
                        </a:rPr>
                        <a:t>2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0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0.0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0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2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218.5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0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0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0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590"/>
                        </a:lnSpc>
                      </a:pPr>
                      <a:r>
                        <a:rPr sz="1050" b="1" spc="-10" dirty="0">
                          <a:latin typeface="Calibri"/>
                          <a:cs typeface="Calibri"/>
                        </a:rPr>
                        <a:t>2021-</a:t>
                      </a:r>
                      <a:r>
                        <a:rPr sz="1050" b="1" spc="-25" dirty="0">
                          <a:latin typeface="Calibri"/>
                          <a:cs typeface="Calibri"/>
                        </a:rPr>
                        <a:t>10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7BD3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Times New Roman"/>
                          <a:cs typeface="Times New Roman"/>
                        </a:rPr>
                        <a:t>309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3335" marB="0">
                    <a:lnL w="1905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0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0.0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0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309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10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59298.2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0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0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0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590"/>
                        </a:lnSpc>
                      </a:pPr>
                      <a:r>
                        <a:rPr sz="1050" b="1" spc="-10" dirty="0">
                          <a:latin typeface="Calibri"/>
                          <a:cs typeface="Calibri"/>
                        </a:rPr>
                        <a:t>2021-</a:t>
                      </a:r>
                      <a:r>
                        <a:rPr sz="1050" b="1" spc="-25" dirty="0">
                          <a:latin typeface="Calibri"/>
                          <a:cs typeface="Calibri"/>
                        </a:rPr>
                        <a:t>12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7BD3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ts val="590"/>
                        </a:lnSpc>
                      </a:pPr>
                      <a:r>
                        <a:rPr sz="1050" spc="-50" dirty="0">
                          <a:latin typeface="Calibri"/>
                          <a:cs typeface="Calibri"/>
                        </a:rPr>
                        <a:t>1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0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0.0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0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1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19.6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0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0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0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590"/>
                        </a:lnSpc>
                      </a:pPr>
                      <a:r>
                        <a:rPr sz="1050" b="1" spc="-10" dirty="0">
                          <a:latin typeface="Calibri"/>
                          <a:cs typeface="Calibri"/>
                        </a:rPr>
                        <a:t>2022-</a:t>
                      </a:r>
                      <a:r>
                        <a:rPr sz="1050" b="1" spc="-50" dirty="0">
                          <a:latin typeface="Calibri"/>
                          <a:cs typeface="Calibri"/>
                        </a:rPr>
                        <a:t>1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7BD3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590"/>
                        </a:lnSpc>
                      </a:pPr>
                      <a:r>
                        <a:rPr lang="en-IN" sz="1050" spc="-25" dirty="0">
                          <a:latin typeface="Calibri"/>
                          <a:cs typeface="Calibri"/>
                        </a:rPr>
                        <a:t>573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0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0.0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0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573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95655.4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0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0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0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590"/>
                        </a:lnSpc>
                      </a:pPr>
                      <a:r>
                        <a:rPr sz="1050" b="1" spc="-10" dirty="0">
                          <a:latin typeface="Calibri"/>
                          <a:cs typeface="Calibri"/>
                        </a:rPr>
                        <a:t>2022-</a:t>
                      </a:r>
                      <a:r>
                        <a:rPr sz="1050" b="1" spc="-50" dirty="0">
                          <a:latin typeface="Calibri"/>
                          <a:cs typeface="Calibri"/>
                        </a:rPr>
                        <a:t>2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7BD3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ts val="590"/>
                        </a:lnSpc>
                      </a:pPr>
                      <a:r>
                        <a:rPr sz="1050" spc="-50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lang="en-IN" sz="1050" spc="-50" dirty="0">
                          <a:latin typeface="Calibri"/>
                          <a:cs typeface="Calibri"/>
                        </a:rPr>
                        <a:t>650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1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0.06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11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1650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10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290581.4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1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67.5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860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590"/>
                        </a:lnSpc>
                      </a:pPr>
                      <a:r>
                        <a:rPr sz="1050" b="1" spc="-10" dirty="0">
                          <a:latin typeface="Calibri"/>
                          <a:cs typeface="Calibri"/>
                        </a:rPr>
                        <a:t>2022-</a:t>
                      </a:r>
                      <a:r>
                        <a:rPr sz="1050" b="1" spc="-50" dirty="0">
                          <a:latin typeface="Calibri"/>
                          <a:cs typeface="Calibri"/>
                        </a:rPr>
                        <a:t>3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7BD3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590"/>
                        </a:lnSpc>
                      </a:pPr>
                      <a:r>
                        <a:rPr lang="en-IN" sz="1050" spc="-25" dirty="0">
                          <a:latin typeface="Calibri"/>
                          <a:cs typeface="Calibri"/>
                        </a:rPr>
                        <a:t>2400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2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0.08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12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2400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406176.8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4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502.8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996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590"/>
                        </a:lnSpc>
                      </a:pPr>
                      <a:r>
                        <a:rPr sz="1050" b="1" spc="-10" dirty="0">
                          <a:latin typeface="Calibri"/>
                          <a:cs typeface="Calibri"/>
                        </a:rPr>
                        <a:t>2022-</a:t>
                      </a:r>
                      <a:r>
                        <a:rPr sz="1050" b="1" spc="-50" dirty="0">
                          <a:latin typeface="Calibri"/>
                          <a:cs typeface="Calibri"/>
                        </a:rPr>
                        <a:t>4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7BD3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590"/>
                        </a:lnSpc>
                      </a:pPr>
                      <a:r>
                        <a:rPr lang="en-IN" sz="1050" spc="-20" dirty="0">
                          <a:latin typeface="Calibri"/>
                          <a:cs typeface="Calibri"/>
                        </a:rPr>
                        <a:t>2111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0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0.0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0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2111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359852.9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0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0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996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590"/>
                        </a:lnSpc>
                      </a:pPr>
                      <a:r>
                        <a:rPr sz="1050" b="1" spc="-10" dirty="0">
                          <a:latin typeface="Calibri"/>
                          <a:cs typeface="Calibri"/>
                        </a:rPr>
                        <a:t>2022-</a:t>
                      </a:r>
                      <a:r>
                        <a:rPr sz="1050" b="1" spc="-50" dirty="0">
                          <a:latin typeface="Calibri"/>
                          <a:cs typeface="Calibri"/>
                        </a:rPr>
                        <a:t>5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7BD3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590"/>
                        </a:lnSpc>
                      </a:pPr>
                      <a:r>
                        <a:rPr lang="en-IN" sz="1050" spc="-20" dirty="0">
                          <a:latin typeface="Calibri"/>
                          <a:cs typeface="Calibri"/>
                        </a:rPr>
                        <a:t>3673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2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0.05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8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3674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10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600412.5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11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1477.3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860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590"/>
                        </a:lnSpc>
                      </a:pPr>
                      <a:r>
                        <a:rPr sz="1050" b="1" spc="-10" dirty="0">
                          <a:latin typeface="Calibri"/>
                          <a:cs typeface="Calibri"/>
                        </a:rPr>
                        <a:t>2022-</a:t>
                      </a:r>
                      <a:r>
                        <a:rPr sz="1050" b="1" spc="-50" dirty="0">
                          <a:latin typeface="Calibri"/>
                          <a:cs typeface="Calibri"/>
                        </a:rPr>
                        <a:t>6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7BD3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590"/>
                        </a:lnSpc>
                      </a:pPr>
                      <a:r>
                        <a:rPr lang="en-IN" sz="1050" spc="-20" dirty="0">
                          <a:latin typeface="Calibri"/>
                          <a:cs typeface="Calibri"/>
                        </a:rPr>
                        <a:t>3385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3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0.09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9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3385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10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564488.3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16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1759.4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860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590"/>
                        </a:lnSpc>
                      </a:pPr>
                      <a:r>
                        <a:rPr sz="1050" b="1" spc="-10" dirty="0">
                          <a:latin typeface="Calibri"/>
                          <a:cs typeface="Calibri"/>
                        </a:rPr>
                        <a:t>2022-</a:t>
                      </a:r>
                      <a:r>
                        <a:rPr sz="1050" b="1" spc="-50" dirty="0">
                          <a:latin typeface="Calibri"/>
                          <a:cs typeface="Calibri"/>
                        </a:rPr>
                        <a:t>7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7BD3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590"/>
                        </a:lnSpc>
                      </a:pPr>
                      <a:r>
                        <a:rPr lang="en-IN" sz="1050" spc="-20" dirty="0">
                          <a:latin typeface="Calibri"/>
                          <a:cs typeface="Calibri"/>
                        </a:rPr>
                        <a:t>3642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2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0.05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9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3642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562397.8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11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1455.7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996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590"/>
                        </a:lnSpc>
                        <a:spcBef>
                          <a:spcPts val="5"/>
                        </a:spcBef>
                      </a:pPr>
                      <a:r>
                        <a:rPr sz="1050" b="1" spc="-10" dirty="0">
                          <a:latin typeface="Calibri"/>
                          <a:cs typeface="Calibri"/>
                        </a:rPr>
                        <a:t>2022-</a:t>
                      </a:r>
                      <a:r>
                        <a:rPr sz="1050" b="1" spc="-50" dirty="0">
                          <a:latin typeface="Calibri"/>
                          <a:cs typeface="Calibri"/>
                        </a:rPr>
                        <a:t>8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7BD3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590"/>
                        </a:lnSpc>
                      </a:pPr>
                      <a:r>
                        <a:rPr lang="en-IN" sz="1050" spc="-20" dirty="0">
                          <a:latin typeface="Calibri"/>
                          <a:cs typeface="Calibri"/>
                        </a:rPr>
                        <a:t>4402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3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0.07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7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4402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677795.4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14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2399.4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8860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590"/>
                        </a:lnSpc>
                      </a:pPr>
                      <a:r>
                        <a:rPr sz="1050" b="1" spc="-10" dirty="0">
                          <a:latin typeface="Calibri"/>
                          <a:cs typeface="Calibri"/>
                        </a:rPr>
                        <a:t>2022-</a:t>
                      </a:r>
                      <a:r>
                        <a:rPr lang="en-IN" sz="1050" b="1" spc="-50" dirty="0">
                          <a:latin typeface="Calibri"/>
                          <a:cs typeface="Calibri"/>
                        </a:rPr>
                        <a:t>9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7BD3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590"/>
                        </a:lnSpc>
                      </a:pPr>
                      <a:r>
                        <a:rPr lang="en-IN" sz="1050" spc="-20" dirty="0">
                          <a:latin typeface="Calibri"/>
                          <a:cs typeface="Calibri"/>
                        </a:rPr>
                        <a:t>4162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0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0.0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0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4162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10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731103.3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0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0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8996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590"/>
                        </a:lnSpc>
                        <a:spcBef>
                          <a:spcPts val="5"/>
                        </a:spcBef>
                      </a:pPr>
                      <a:r>
                        <a:rPr sz="1050" b="1" spc="-10" dirty="0">
                          <a:latin typeface="Calibri"/>
                          <a:cs typeface="Calibri"/>
                        </a:rPr>
                        <a:t>2022-</a:t>
                      </a:r>
                      <a:r>
                        <a:rPr lang="en-IN" sz="1050" b="1" spc="-50" dirty="0">
                          <a:latin typeface="Calibri"/>
                          <a:cs typeface="Calibri"/>
                        </a:rPr>
                        <a:t>10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7BD3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590"/>
                        </a:lnSpc>
                        <a:spcBef>
                          <a:spcPts val="5"/>
                        </a:spcBef>
                      </a:pPr>
                      <a:r>
                        <a:rPr lang="en-IN" sz="1050" spc="-20" dirty="0">
                          <a:latin typeface="Calibri"/>
                          <a:cs typeface="Calibri"/>
                        </a:rPr>
                        <a:t>4489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2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0.04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4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4490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785879.8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10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914.3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2274186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1A57E9B-77E8-F609-65D5-63D37675B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36F19F6D-B380-024D-CC24-D11B4FF4D8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3589E85-1004-F1BC-0CB7-EB75594F13E6}"/>
              </a:ext>
            </a:extLst>
          </p:cNvPr>
          <p:cNvSpPr txBox="1"/>
          <p:nvPr/>
        </p:nvSpPr>
        <p:spPr>
          <a:xfrm>
            <a:off x="575187" y="0"/>
            <a:ext cx="11041625" cy="6463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9pPr>
          </a:lstStyle>
          <a:p>
            <a:r>
              <a:rPr lang="en-IN" dirty="0"/>
              <a:t>CATEGORY PENETRATION ANALYSIS</a:t>
            </a:r>
          </a:p>
        </p:txBody>
      </p:sp>
      <p:graphicFrame>
        <p:nvGraphicFramePr>
          <p:cNvPr id="2" name="object 9">
            <a:extLst>
              <a:ext uri="{FF2B5EF4-FFF2-40B4-BE49-F238E27FC236}">
                <a16:creationId xmlns:a16="http://schemas.microsoft.com/office/drawing/2014/main" id="{2D393CE6-2D87-E9C5-E024-2B470C3D50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6336864"/>
              </p:ext>
            </p:extLst>
          </p:nvPr>
        </p:nvGraphicFramePr>
        <p:xfrm>
          <a:off x="575187" y="646329"/>
          <a:ext cx="11041627" cy="57053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38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67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67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67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67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267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2671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2671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74045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 marL="217804" marR="197485" indent="-7620" algn="ctr">
                        <a:lnSpc>
                          <a:spcPct val="100000"/>
                        </a:lnSpc>
                      </a:pPr>
                      <a:r>
                        <a:rPr sz="1050" b="1" spc="-10" dirty="0">
                          <a:latin typeface="Calibri"/>
                          <a:cs typeface="Calibri"/>
                        </a:rPr>
                        <a:t>Cohort</a:t>
                      </a:r>
                      <a:r>
                        <a:rPr sz="105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10" dirty="0">
                          <a:latin typeface="Calibri"/>
                          <a:cs typeface="Calibri"/>
                        </a:rPr>
                        <a:t>Month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D3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 marL="177800" marR="170815" indent="50165" algn="ctr">
                        <a:lnSpc>
                          <a:spcPct val="100000"/>
                        </a:lnSpc>
                      </a:pPr>
                      <a:r>
                        <a:rPr sz="1050" b="1" spc="-10" dirty="0">
                          <a:latin typeface="Calibri"/>
                          <a:cs typeface="Calibri"/>
                        </a:rPr>
                        <a:t>Cohort</a:t>
                      </a:r>
                      <a:r>
                        <a:rPr sz="105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10" dirty="0">
                          <a:latin typeface="Calibri"/>
                          <a:cs typeface="Calibri"/>
                        </a:rPr>
                        <a:t>customers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7BD3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 marL="165735" marR="157480" indent="31750" algn="ctr">
                        <a:lnSpc>
                          <a:spcPct val="100000"/>
                        </a:lnSpc>
                      </a:pPr>
                      <a:r>
                        <a:rPr sz="1050" b="1" spc="-10" dirty="0">
                          <a:latin typeface="Calibri"/>
                          <a:cs typeface="Calibri"/>
                        </a:rPr>
                        <a:t>Repeat_</a:t>
                      </a:r>
                      <a:r>
                        <a:rPr sz="105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10" dirty="0">
                          <a:latin typeface="Calibri"/>
                          <a:cs typeface="Calibri"/>
                        </a:rPr>
                        <a:t>Customers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7BD3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 marL="253365" marR="149860" indent="-96520" algn="ctr">
                        <a:lnSpc>
                          <a:spcPct val="100000"/>
                        </a:lnSpc>
                      </a:pPr>
                      <a:r>
                        <a:rPr sz="1050" b="1" spc="-10" dirty="0">
                          <a:latin typeface="Calibri"/>
                          <a:cs typeface="Calibri"/>
                        </a:rPr>
                        <a:t>Retention_</a:t>
                      </a:r>
                      <a:r>
                        <a:rPr sz="105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20" dirty="0">
                          <a:latin typeface="Calibri"/>
                          <a:cs typeface="Calibri"/>
                        </a:rPr>
                        <a:t>Rate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7BD3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 marL="167640" marR="108585" indent="-50800" algn="ctr">
                        <a:lnSpc>
                          <a:spcPct val="100000"/>
                        </a:lnSpc>
                      </a:pPr>
                      <a:r>
                        <a:rPr sz="1050" b="1" spc="-10" dirty="0">
                          <a:latin typeface="Calibri"/>
                          <a:cs typeface="Calibri"/>
                        </a:rPr>
                        <a:t>Avg_Months_</a:t>
                      </a:r>
                      <a:r>
                        <a:rPr sz="105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10" dirty="0">
                          <a:latin typeface="Calibri"/>
                          <a:cs typeface="Calibri"/>
                        </a:rPr>
                        <a:t>to_Repeat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7BD3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 marL="48895" marR="40005" indent="62230" algn="ctr">
                        <a:lnSpc>
                          <a:spcPct val="100000"/>
                        </a:lnSpc>
                      </a:pPr>
                      <a:r>
                        <a:rPr sz="1050" b="1" spc="-10" dirty="0">
                          <a:latin typeface="Calibri"/>
                          <a:cs typeface="Calibri"/>
                        </a:rPr>
                        <a:t>Total_Orders_</a:t>
                      </a:r>
                      <a:r>
                        <a:rPr sz="105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10" dirty="0">
                          <a:latin typeface="Calibri"/>
                          <a:cs typeface="Calibri"/>
                        </a:rPr>
                        <a:t>Cohort_Customers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7BD3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 marL="48895" marR="40005" indent="33020" algn="ctr">
                        <a:lnSpc>
                          <a:spcPct val="100000"/>
                        </a:lnSpc>
                      </a:pPr>
                      <a:r>
                        <a:rPr sz="1050" b="1" spc="-10" dirty="0">
                          <a:latin typeface="Calibri"/>
                          <a:cs typeface="Calibri"/>
                        </a:rPr>
                        <a:t>Total_Revenue_</a:t>
                      </a:r>
                      <a:r>
                        <a:rPr sz="105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10" dirty="0">
                          <a:latin typeface="Calibri"/>
                          <a:cs typeface="Calibri"/>
                        </a:rPr>
                        <a:t>Cohort_Customers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7BD3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 marL="45085" marR="36195" indent="66675" algn="ctr">
                        <a:lnSpc>
                          <a:spcPct val="100000"/>
                        </a:lnSpc>
                      </a:pPr>
                      <a:r>
                        <a:rPr sz="1050" b="1" spc="-10" dirty="0">
                          <a:latin typeface="Calibri"/>
                          <a:cs typeface="Calibri"/>
                        </a:rPr>
                        <a:t>Total_Orders_</a:t>
                      </a:r>
                      <a:r>
                        <a:rPr sz="105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10" dirty="0">
                          <a:latin typeface="Calibri"/>
                          <a:cs typeface="Calibri"/>
                        </a:rPr>
                        <a:t>Repeat_Customers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7BD3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 marL="45085" marR="36195" indent="38100" algn="ctr">
                        <a:lnSpc>
                          <a:spcPct val="100000"/>
                        </a:lnSpc>
                      </a:pPr>
                      <a:r>
                        <a:rPr sz="1050" b="1" spc="-10" dirty="0">
                          <a:latin typeface="Calibri"/>
                          <a:cs typeface="Calibri"/>
                        </a:rPr>
                        <a:t>Total_Revenue_</a:t>
                      </a:r>
                      <a:r>
                        <a:rPr sz="1050" b="1" spc="5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10" dirty="0">
                          <a:latin typeface="Calibri"/>
                          <a:cs typeface="Calibri"/>
                        </a:rPr>
                        <a:t>Repeat_Customers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7BD3B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9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050" b="1" spc="-10" dirty="0">
                          <a:latin typeface="Calibri"/>
                          <a:cs typeface="Calibri"/>
                        </a:rPr>
                        <a:t>2022-</a:t>
                      </a:r>
                      <a:r>
                        <a:rPr lang="en-IN" sz="1050" b="1" spc="-50" dirty="0">
                          <a:latin typeface="Calibri"/>
                          <a:cs typeface="Calibri"/>
                        </a:rPr>
                        <a:t>11</a:t>
                      </a:r>
                      <a:endParaRPr lang="en-IN"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7BD3B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200000"/>
                        </a:lnSpc>
                      </a:pPr>
                      <a:r>
                        <a:rPr lang="en-IN" sz="1050" spc="-50" dirty="0">
                          <a:latin typeface="Calibri"/>
                          <a:cs typeface="Calibri"/>
                        </a:rPr>
                        <a:t>6309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5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0.08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7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6309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1072350.4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7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947.4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9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endParaRPr sz="1050" dirty="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590"/>
                        </a:lnSpc>
                      </a:pPr>
                      <a:r>
                        <a:rPr lang="en-IN" sz="1050" b="1" spc="-10" dirty="0">
                          <a:latin typeface="Calibri"/>
                          <a:cs typeface="Calibri"/>
                        </a:rPr>
                        <a:t>2022-</a:t>
                      </a:r>
                      <a:r>
                        <a:rPr lang="en-IN" sz="1050" b="1" spc="-50" dirty="0">
                          <a:latin typeface="Calibri"/>
                          <a:cs typeface="Calibri"/>
                        </a:rPr>
                        <a:t>12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7BD3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6768</a:t>
                      </a:r>
                      <a:endParaRPr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0" marR="0" marT="13335" marB="0">
                    <a:lnL w="1905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2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0.03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5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6768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10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1075228.6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2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548.3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919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1050" b="1" spc="-10" dirty="0">
                          <a:latin typeface="Calibri"/>
                          <a:cs typeface="Calibri"/>
                        </a:rPr>
                        <a:t>2023-</a:t>
                      </a:r>
                      <a:r>
                        <a:rPr lang="en-IN" sz="1050" b="1" spc="-50" dirty="0">
                          <a:latin typeface="Calibri"/>
                          <a:cs typeface="Calibri"/>
                        </a:rPr>
                        <a:t>01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7BD3B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200000"/>
                        </a:lnSpc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6650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1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0.02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6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6650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1018196.7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1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62.5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919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1050" b="1" spc="-10" dirty="0">
                          <a:latin typeface="Calibri"/>
                          <a:cs typeface="Calibri"/>
                        </a:rPr>
                        <a:t>2023-</a:t>
                      </a:r>
                      <a:r>
                        <a:rPr lang="en-IN" sz="1050" b="1" spc="-50" dirty="0">
                          <a:latin typeface="Calibri"/>
                          <a:cs typeface="Calibri"/>
                        </a:rPr>
                        <a:t>02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7BD3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6442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2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0.03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5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6442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985103.6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2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184.7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919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1050" b="1" spc="-10" dirty="0">
                          <a:latin typeface="Calibri"/>
                          <a:cs typeface="Calibri"/>
                        </a:rPr>
                        <a:t>2023-</a:t>
                      </a:r>
                      <a:r>
                        <a:rPr lang="en-IN" sz="1050" b="1" spc="-50" dirty="0">
                          <a:latin typeface="Calibri"/>
                          <a:cs typeface="Calibri"/>
                        </a:rPr>
                        <a:t>03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7BD3BB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200000"/>
                        </a:lnSpc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7629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3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0.04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4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7629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10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1238349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4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672.5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919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1050" b="1" spc="-10" dirty="0">
                          <a:latin typeface="Calibri"/>
                          <a:cs typeface="Calibri"/>
                        </a:rPr>
                        <a:t>2023-</a:t>
                      </a:r>
                      <a:r>
                        <a:rPr lang="en-IN" sz="1050" b="1" spc="-50" dirty="0">
                          <a:latin typeface="Calibri"/>
                          <a:cs typeface="Calibri"/>
                        </a:rPr>
                        <a:t>04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7BD3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6645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1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0.02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4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6646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1152725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1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55.2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250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1050" b="1" spc="-10" dirty="0">
                          <a:latin typeface="Calibri"/>
                          <a:cs typeface="Calibri"/>
                        </a:rPr>
                        <a:t>2023-</a:t>
                      </a:r>
                      <a:r>
                        <a:rPr lang="en-IN" sz="1050" b="1" spc="-50" dirty="0">
                          <a:latin typeface="Calibri"/>
                          <a:cs typeface="Calibri"/>
                        </a:rPr>
                        <a:t>05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7BD3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7556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1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0.01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1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7556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1294908.6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1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213.9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250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1050" b="1" spc="-10" dirty="0">
                          <a:latin typeface="Calibri"/>
                          <a:cs typeface="Calibri"/>
                        </a:rPr>
                        <a:t>2023-</a:t>
                      </a:r>
                      <a:r>
                        <a:rPr lang="en-IN" sz="1050" b="1" spc="-50" dirty="0">
                          <a:latin typeface="Calibri"/>
                          <a:cs typeface="Calibri"/>
                        </a:rPr>
                        <a:t>06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7BD3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6007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1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0.02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1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6008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10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1055969.7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1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203.2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0919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1050" b="1" spc="-10" dirty="0">
                          <a:latin typeface="Calibri"/>
                          <a:cs typeface="Calibri"/>
                        </a:rPr>
                        <a:t>2023-</a:t>
                      </a:r>
                      <a:r>
                        <a:rPr lang="en-IN" sz="1050" b="1" spc="-50" dirty="0">
                          <a:latin typeface="Calibri"/>
                          <a:cs typeface="Calibri"/>
                        </a:rPr>
                        <a:t>07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7BD3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5899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1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0.02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1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5899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10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990895.4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970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1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67.3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0919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1050" b="1" spc="-10" dirty="0">
                          <a:latin typeface="Calibri"/>
                          <a:cs typeface="Calibri"/>
                        </a:rPr>
                        <a:t>2023-</a:t>
                      </a:r>
                      <a:r>
                        <a:rPr lang="en-IN" sz="1050" b="1" spc="-50" dirty="0">
                          <a:latin typeface="Calibri"/>
                          <a:cs typeface="Calibri"/>
                        </a:rPr>
                        <a:t>08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7BD3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7796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2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0.03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1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7797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1308163.3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2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306.3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5250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5"/>
                        </a:spcBef>
                      </a:pPr>
                      <a:r>
                        <a:rPr lang="en-IN" sz="1050" b="1" spc="-10" dirty="0">
                          <a:latin typeface="Calibri"/>
                          <a:cs typeface="Calibri"/>
                        </a:rPr>
                        <a:t>2023-</a:t>
                      </a:r>
                      <a:r>
                        <a:rPr lang="en-IN" sz="1050" b="1" spc="-50" dirty="0">
                          <a:latin typeface="Calibri"/>
                          <a:cs typeface="Calibri"/>
                        </a:rPr>
                        <a:t>09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7BD3B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72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 cap="flat" cmpd="sng" algn="ctr">
                      <a:solidFill>
                        <a:srgbClr val="F1F1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0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0.0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0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72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14908.4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0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19050">
                      <a:solidFill>
                        <a:srgbClr val="F1F1F1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Bef>
                          <a:spcPts val="105"/>
                        </a:spcBef>
                      </a:pPr>
                      <a:r>
                        <a:rPr lang="en-IN" sz="1050" dirty="0">
                          <a:latin typeface="Calibri"/>
                          <a:cs typeface="Calibri"/>
                        </a:rPr>
                        <a:t>0</a:t>
                      </a:r>
                      <a:endParaRPr sz="1050" dirty="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9050">
                      <a:solidFill>
                        <a:srgbClr val="F1F1F1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F1F1F1"/>
                      </a:solidFill>
                      <a:prstDash val="solid"/>
                    </a:lnT>
                    <a:lnB w="19050">
                      <a:solidFill>
                        <a:srgbClr val="F1F1F1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4402919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4336111-64F7-5234-18D0-15570D954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46C0D1DF-D127-1A42-9A8A-9FFCD84BE1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6744192-F97A-6ECE-A74E-7776B0079BDD}"/>
              </a:ext>
            </a:extLst>
          </p:cNvPr>
          <p:cNvSpPr txBox="1"/>
          <p:nvPr/>
        </p:nvSpPr>
        <p:spPr>
          <a:xfrm>
            <a:off x="575187" y="0"/>
            <a:ext cx="11041625" cy="6463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9pPr>
          </a:lstStyle>
          <a:p>
            <a:r>
              <a:rPr lang="en-IN" dirty="0"/>
              <a:t>OBSERVATIONS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1982B6-8137-6ECC-E405-0C9C910F73CC}"/>
              </a:ext>
            </a:extLst>
          </p:cNvPr>
          <p:cNvSpPr txBox="1"/>
          <p:nvPr/>
        </p:nvSpPr>
        <p:spPr>
          <a:xfrm>
            <a:off x="575187" y="1129233"/>
            <a:ext cx="11041624" cy="4403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66420" indent="-220979">
              <a:lnSpc>
                <a:spcPct val="100000"/>
              </a:lnSpc>
              <a:spcBef>
                <a:spcPts val="1019"/>
              </a:spcBef>
              <a:buFont typeface="Arial"/>
              <a:buChar char="•"/>
              <a:tabLst>
                <a:tab pos="566420" algn="l"/>
              </a:tabLst>
            </a:pPr>
            <a:r>
              <a:rPr lang="en-US" sz="2400" dirty="0">
                <a:latin typeface="Calibri"/>
                <a:cs typeface="Calibri"/>
              </a:rPr>
              <a:t>There are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24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cohorts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in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lang="en-US" sz="2400" spc="-20" dirty="0">
                <a:latin typeface="Calibri"/>
                <a:cs typeface="Calibri"/>
              </a:rPr>
              <a:t>total</a:t>
            </a:r>
            <a:endParaRPr lang="en-US" sz="2400" dirty="0">
              <a:latin typeface="Calibri"/>
              <a:cs typeface="Calibri"/>
            </a:endParaRPr>
          </a:p>
          <a:p>
            <a:pPr marL="566420" indent="-220979">
              <a:lnSpc>
                <a:spcPct val="100000"/>
              </a:lnSpc>
              <a:spcBef>
                <a:spcPts val="1095"/>
              </a:spcBef>
              <a:buFont typeface="Arial"/>
              <a:buChar char="•"/>
              <a:tabLst>
                <a:tab pos="566420" algn="l"/>
              </a:tabLst>
            </a:pPr>
            <a:r>
              <a:rPr lang="en-US" sz="2400" dirty="0">
                <a:latin typeface="Calibri"/>
                <a:cs typeface="Calibri"/>
              </a:rPr>
              <a:t>Aug 2023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cohort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has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maximum number of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customers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(</a:t>
            </a:r>
            <a:r>
              <a:rPr lang="en-IN" sz="2400" dirty="0">
                <a:latin typeface="Calibri"/>
                <a:cs typeface="Calibri"/>
              </a:rPr>
              <a:t>7796</a:t>
            </a:r>
            <a:r>
              <a:rPr lang="en-US" sz="2400" spc="-50" dirty="0">
                <a:latin typeface="Calibri"/>
                <a:cs typeface="Calibri"/>
              </a:rPr>
              <a:t>)</a:t>
            </a:r>
            <a:endParaRPr lang="en-US" sz="2400" dirty="0">
              <a:latin typeface="Calibri"/>
              <a:cs typeface="Calibri"/>
            </a:endParaRPr>
          </a:p>
          <a:p>
            <a:pPr marL="566420" indent="-220979">
              <a:lnSpc>
                <a:spcPct val="100000"/>
              </a:lnSpc>
              <a:spcBef>
                <a:spcPts val="1075"/>
              </a:spcBef>
              <a:buFont typeface="Arial"/>
              <a:buChar char="•"/>
              <a:tabLst>
                <a:tab pos="566420" algn="l"/>
              </a:tabLst>
            </a:pPr>
            <a:r>
              <a:rPr lang="en-US" sz="2400" dirty="0">
                <a:latin typeface="Calibri"/>
                <a:cs typeface="Calibri"/>
              </a:rPr>
              <a:t>Dec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2021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,</a:t>
            </a:r>
            <a:r>
              <a:rPr lang="en-US" sz="2400" spc="-10" dirty="0">
                <a:latin typeface="Calibri"/>
                <a:cs typeface="Calibri"/>
              </a:rPr>
              <a:t> S</a:t>
            </a:r>
            <a:r>
              <a:rPr lang="en-US" sz="2400" dirty="0">
                <a:latin typeface="Calibri"/>
                <a:cs typeface="Calibri"/>
              </a:rPr>
              <a:t>ep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2021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and Sep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2023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have</a:t>
            </a:r>
            <a:r>
              <a:rPr lang="en-US" sz="2400" spc="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the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lowest</a:t>
            </a:r>
            <a:r>
              <a:rPr lang="en-US" sz="2400" spc="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number</a:t>
            </a:r>
            <a:r>
              <a:rPr lang="en-US" sz="2400" spc="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of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cohort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customers </a:t>
            </a:r>
            <a:r>
              <a:rPr lang="en-US" sz="2400" spc="-25" dirty="0">
                <a:latin typeface="Calibri"/>
                <a:cs typeface="Calibri"/>
              </a:rPr>
              <a:t>(1)</a:t>
            </a:r>
            <a:endParaRPr lang="en-US" sz="2400" dirty="0">
              <a:latin typeface="Calibri"/>
              <a:cs typeface="Calibri"/>
            </a:endParaRPr>
          </a:p>
          <a:p>
            <a:pPr marL="566420" indent="-220979">
              <a:lnSpc>
                <a:spcPct val="100000"/>
              </a:lnSpc>
              <a:spcBef>
                <a:spcPts val="1095"/>
              </a:spcBef>
              <a:buFont typeface="Arial"/>
              <a:buChar char="•"/>
              <a:tabLst>
                <a:tab pos="566420" algn="l"/>
              </a:tabLst>
            </a:pPr>
            <a:r>
              <a:rPr lang="en-US" sz="2400" dirty="0">
                <a:latin typeface="Calibri"/>
                <a:cs typeface="Calibri"/>
              </a:rPr>
              <a:t>June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2022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cohort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has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the highest</a:t>
            </a:r>
            <a:r>
              <a:rPr lang="en-US" sz="2400" spc="2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retention</a:t>
            </a:r>
            <a:r>
              <a:rPr lang="en-US" sz="2400" spc="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rate (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0.09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%</a:t>
            </a:r>
            <a:r>
              <a:rPr lang="en-US" sz="2400" spc="-25" dirty="0">
                <a:latin typeface="Calibri"/>
                <a:cs typeface="Calibri"/>
              </a:rPr>
              <a:t> </a:t>
            </a:r>
            <a:r>
              <a:rPr lang="en-US" sz="2400" spc="-50" dirty="0">
                <a:latin typeface="Calibri"/>
                <a:cs typeface="Calibri"/>
              </a:rPr>
              <a:t>)</a:t>
            </a:r>
            <a:endParaRPr lang="en-US" sz="2400" dirty="0">
              <a:latin typeface="Calibri"/>
              <a:cs typeface="Calibri"/>
            </a:endParaRPr>
          </a:p>
          <a:p>
            <a:pPr marL="566420" indent="-220979">
              <a:spcBef>
                <a:spcPts val="1080"/>
              </a:spcBef>
              <a:buFont typeface="Arial"/>
              <a:buChar char="•"/>
              <a:tabLst>
                <a:tab pos="566420" algn="l"/>
              </a:tabLst>
            </a:pPr>
            <a:r>
              <a:rPr lang="en-US" sz="2400" dirty="0">
                <a:latin typeface="Calibri"/>
                <a:cs typeface="Calibri"/>
              </a:rPr>
              <a:t>Total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revenue</a:t>
            </a:r>
            <a:r>
              <a:rPr lang="en-US" sz="2400" spc="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from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retained</a:t>
            </a:r>
            <a:r>
              <a:rPr lang="en-US" sz="2400" spc="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customers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was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highest</a:t>
            </a:r>
            <a:r>
              <a:rPr lang="en-US" sz="2400" spc="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in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August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2022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(INR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IN" sz="2400" dirty="0">
                <a:latin typeface="Calibri"/>
                <a:cs typeface="Calibri"/>
              </a:rPr>
              <a:t>2399.4</a:t>
            </a:r>
            <a:r>
              <a:rPr lang="en-US" sz="2400" spc="-50" dirty="0">
                <a:latin typeface="Calibri"/>
                <a:cs typeface="Calibri"/>
              </a:rPr>
              <a:t>)</a:t>
            </a:r>
            <a:endParaRPr lang="en-US" sz="2400" dirty="0">
              <a:latin typeface="Calibri"/>
              <a:cs typeface="Calibri"/>
            </a:endParaRPr>
          </a:p>
          <a:p>
            <a:pPr marL="566420" indent="-220979">
              <a:lnSpc>
                <a:spcPct val="100000"/>
              </a:lnSpc>
              <a:spcBef>
                <a:spcPts val="1090"/>
              </a:spcBef>
              <a:buFont typeface="Arial"/>
              <a:buChar char="•"/>
              <a:tabLst>
                <a:tab pos="566420" algn="l"/>
              </a:tabLst>
            </a:pPr>
            <a:r>
              <a:rPr lang="en-US" sz="2400" dirty="0">
                <a:latin typeface="Calibri"/>
                <a:cs typeface="Calibri"/>
              </a:rPr>
              <a:t>Avg.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months for</a:t>
            </a:r>
            <a:r>
              <a:rPr lang="en-US" sz="2400" spc="-3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repeat</a:t>
            </a:r>
            <a:r>
              <a:rPr lang="en-US" sz="2400" spc="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purchase</a:t>
            </a:r>
            <a:r>
              <a:rPr lang="en-US" sz="2400" spc="1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was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highest</a:t>
            </a:r>
            <a:r>
              <a:rPr lang="en-US" sz="2400" spc="2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for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cohort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March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2022</a:t>
            </a:r>
            <a:r>
              <a:rPr lang="en-US" sz="2400" spc="-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(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12</a:t>
            </a:r>
            <a:r>
              <a:rPr lang="en-US" sz="2400" spc="-20" dirty="0">
                <a:latin typeface="Calibri"/>
                <a:cs typeface="Calibri"/>
              </a:rPr>
              <a:t> </a:t>
            </a:r>
            <a:r>
              <a:rPr lang="en-US" sz="2400" spc="-60" dirty="0">
                <a:latin typeface="Calibri"/>
                <a:cs typeface="Calibri"/>
              </a:rPr>
              <a:t>)</a:t>
            </a:r>
            <a:endParaRPr lang="en-US" sz="2400" dirty="0">
              <a:latin typeface="Calibri"/>
              <a:cs typeface="Calibri"/>
            </a:endParaRPr>
          </a:p>
          <a:p>
            <a:pPr marL="566420" indent="-220979">
              <a:lnSpc>
                <a:spcPct val="100000"/>
              </a:lnSpc>
              <a:spcBef>
                <a:spcPts val="1095"/>
              </a:spcBef>
              <a:buFont typeface="Arial"/>
              <a:buChar char="•"/>
              <a:tabLst>
                <a:tab pos="566420" algn="l"/>
              </a:tabLst>
            </a:pPr>
            <a:r>
              <a:rPr lang="en-US" sz="2400" dirty="0">
                <a:latin typeface="Calibri"/>
                <a:cs typeface="Calibri"/>
              </a:rPr>
              <a:t>There are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7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cohorts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with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no</a:t>
            </a:r>
            <a:r>
              <a:rPr lang="en-US" sz="2400" spc="-15" dirty="0">
                <a:latin typeface="Calibri"/>
                <a:cs typeface="Calibri"/>
              </a:rPr>
              <a:t> </a:t>
            </a:r>
            <a:r>
              <a:rPr lang="en-US" sz="2400" dirty="0">
                <a:latin typeface="Calibri"/>
                <a:cs typeface="Calibri"/>
              </a:rPr>
              <a:t>repeat</a:t>
            </a:r>
            <a:r>
              <a:rPr lang="en-US" sz="2400" spc="20" dirty="0">
                <a:latin typeface="Calibri"/>
                <a:cs typeface="Calibri"/>
              </a:rPr>
              <a:t> </a:t>
            </a:r>
            <a:r>
              <a:rPr lang="en-US" sz="2400" spc="-10" dirty="0">
                <a:latin typeface="Calibri"/>
                <a:cs typeface="Calibri"/>
              </a:rPr>
              <a:t>customers</a:t>
            </a:r>
            <a:endParaRPr lang="en-US" sz="2400" dirty="0">
              <a:latin typeface="Calibri"/>
              <a:cs typeface="Calibri"/>
            </a:endParaRPr>
          </a:p>
          <a:p>
            <a:pPr marL="581660" indent="-236220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581660" algn="l"/>
              </a:tabLst>
            </a:pPr>
            <a:r>
              <a:rPr lang="en-US" sz="2400" b="1" dirty="0">
                <a:latin typeface="Calibri"/>
                <a:cs typeface="Calibri"/>
              </a:rPr>
              <a:t>As</a:t>
            </a:r>
            <a:r>
              <a:rPr lang="en-US" sz="2400" b="1" spc="-20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a</a:t>
            </a:r>
            <a:r>
              <a:rPr lang="en-US" sz="2400" b="1" spc="-15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general</a:t>
            </a:r>
            <a:r>
              <a:rPr lang="en-US" sz="2400" b="1" spc="-25" dirty="0">
                <a:latin typeface="Calibri"/>
                <a:cs typeface="Calibri"/>
              </a:rPr>
              <a:t> </a:t>
            </a:r>
            <a:r>
              <a:rPr lang="en-US" sz="2400" b="1" spc="-10" dirty="0">
                <a:latin typeface="Calibri"/>
                <a:cs typeface="Calibri"/>
              </a:rPr>
              <a:t>observation,</a:t>
            </a:r>
            <a:r>
              <a:rPr lang="en-US" sz="2400" b="1" spc="15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we</a:t>
            </a:r>
            <a:r>
              <a:rPr lang="en-US" sz="2400" b="1" spc="-25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can</a:t>
            </a:r>
            <a:r>
              <a:rPr lang="en-US" sz="2400" b="1" spc="-20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say</a:t>
            </a:r>
            <a:r>
              <a:rPr lang="en-US" sz="2400" b="1" spc="-10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retention</a:t>
            </a:r>
            <a:r>
              <a:rPr lang="en-US" sz="2400" b="1" spc="-15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is</a:t>
            </a:r>
            <a:r>
              <a:rPr lang="en-US" sz="2400" b="1" spc="-5" dirty="0">
                <a:latin typeface="Calibri"/>
                <a:cs typeface="Calibri"/>
              </a:rPr>
              <a:t> </a:t>
            </a:r>
            <a:r>
              <a:rPr lang="en-US" sz="2400" b="1" spc="-10" dirty="0">
                <a:latin typeface="Calibri"/>
                <a:cs typeface="Calibri"/>
              </a:rPr>
              <a:t>extremely</a:t>
            </a:r>
            <a:r>
              <a:rPr lang="en-US" sz="2400" b="1" spc="-25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low</a:t>
            </a:r>
            <a:r>
              <a:rPr lang="en-US" sz="2400" b="1" spc="-5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for</a:t>
            </a:r>
            <a:r>
              <a:rPr lang="en-US" sz="2400" b="1" spc="-15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all</a:t>
            </a:r>
            <a:r>
              <a:rPr lang="en-US" sz="2400" b="1" spc="-10" dirty="0">
                <a:latin typeface="Calibri"/>
                <a:cs typeface="Calibri"/>
              </a:rPr>
              <a:t> </a:t>
            </a:r>
            <a:r>
              <a:rPr lang="en-US" sz="2400" b="1" dirty="0">
                <a:latin typeface="Calibri"/>
                <a:cs typeface="Calibri"/>
              </a:rPr>
              <a:t>cohort</a:t>
            </a:r>
            <a:r>
              <a:rPr lang="en-US" sz="2400" b="1" spc="-10" dirty="0">
                <a:latin typeface="Calibri"/>
                <a:cs typeface="Calibri"/>
              </a:rPr>
              <a:t> months</a:t>
            </a:r>
            <a:endParaRPr lang="en-US" sz="2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38785811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237B6C5-9E1C-9158-C9C2-4A1561F86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1C66B601-6256-4C89-E46F-224274C575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744887C-E12D-8D19-3783-D1B3C0411197}"/>
              </a:ext>
            </a:extLst>
          </p:cNvPr>
          <p:cNvSpPr txBox="1"/>
          <p:nvPr/>
        </p:nvSpPr>
        <p:spPr>
          <a:xfrm>
            <a:off x="575187" y="0"/>
            <a:ext cx="11041625" cy="584775"/>
          </a:xfrm>
          <a:prstGeom prst="rect">
            <a:avLst/>
          </a:prstGeom>
          <a:solidFill>
            <a:srgbClr val="348E90"/>
          </a:solidFill>
        </p:spPr>
        <p:txBody>
          <a:bodyPr wrap="square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sz="3200" b="1" spc="70" dirty="0">
                <a:solidFill>
                  <a:schemeClr val="bg1"/>
                </a:solidFill>
                <a:latin typeface="Trebuchet MS"/>
                <a:cs typeface="Trebuchet MS"/>
              </a:rPr>
              <a:t>COHORT</a:t>
            </a:r>
            <a:r>
              <a:rPr lang="en-US" sz="3200" b="1" spc="-100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lang="en-US" sz="3200" b="1" spc="85" dirty="0">
                <a:solidFill>
                  <a:schemeClr val="bg1"/>
                </a:solidFill>
                <a:latin typeface="Trebuchet MS"/>
                <a:cs typeface="Trebuchet MS"/>
              </a:rPr>
              <a:t>ANALYSIS</a:t>
            </a:r>
            <a:r>
              <a:rPr lang="en-US" sz="3200" b="1" spc="-80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lang="en-US" sz="3200" b="1" spc="355" dirty="0">
                <a:solidFill>
                  <a:schemeClr val="bg1"/>
                </a:solidFill>
                <a:latin typeface="Trebuchet MS"/>
                <a:cs typeface="Trebuchet MS"/>
              </a:rPr>
              <a:t>–</a:t>
            </a:r>
            <a:r>
              <a:rPr lang="en-US" sz="3200" b="1" spc="-90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lang="en-US" sz="3200" b="1" spc="90" dirty="0">
                <a:solidFill>
                  <a:schemeClr val="bg1"/>
                </a:solidFill>
                <a:latin typeface="Trebuchet MS"/>
                <a:cs typeface="Trebuchet MS"/>
              </a:rPr>
              <a:t>MONTH</a:t>
            </a:r>
            <a:r>
              <a:rPr lang="en-US" sz="3200" b="1" spc="-100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lang="en-US" sz="3200" b="1" spc="90" dirty="0">
                <a:solidFill>
                  <a:schemeClr val="bg1"/>
                </a:solidFill>
                <a:latin typeface="Trebuchet MS"/>
                <a:cs typeface="Trebuchet MS"/>
              </a:rPr>
              <a:t>BY</a:t>
            </a:r>
            <a:r>
              <a:rPr lang="en-US" sz="3200" b="1" spc="-95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lang="en-US" sz="3200" b="1" spc="95" dirty="0">
                <a:solidFill>
                  <a:schemeClr val="bg1"/>
                </a:solidFill>
                <a:latin typeface="Trebuchet MS"/>
                <a:cs typeface="Trebuchet MS"/>
              </a:rPr>
              <a:t>MONTH</a:t>
            </a:r>
            <a:r>
              <a:rPr lang="en-US" sz="3200" b="1" spc="-105" dirty="0">
                <a:solidFill>
                  <a:schemeClr val="bg1"/>
                </a:solidFill>
                <a:latin typeface="Trebuchet MS"/>
                <a:cs typeface="Trebuchet MS"/>
              </a:rPr>
              <a:t> </a:t>
            </a:r>
            <a:r>
              <a:rPr lang="en-US" sz="3200" b="1" spc="45" dirty="0">
                <a:solidFill>
                  <a:schemeClr val="bg1"/>
                </a:solidFill>
                <a:latin typeface="Trebuchet MS"/>
                <a:cs typeface="Trebuchet MS"/>
              </a:rPr>
              <a:t>RETENTION</a:t>
            </a:r>
            <a:endParaRPr lang="en-US" sz="3200" dirty="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  <p:grpSp>
        <p:nvGrpSpPr>
          <p:cNvPr id="5" name="object 3">
            <a:extLst>
              <a:ext uri="{FF2B5EF4-FFF2-40B4-BE49-F238E27FC236}">
                <a16:creationId xmlns:a16="http://schemas.microsoft.com/office/drawing/2014/main" id="{CC3CC986-C6DD-4FEE-9BAE-5ECE5B9EA5DB}"/>
              </a:ext>
            </a:extLst>
          </p:cNvPr>
          <p:cNvGrpSpPr/>
          <p:nvPr/>
        </p:nvGrpSpPr>
        <p:grpSpPr>
          <a:xfrm>
            <a:off x="-1" y="0"/>
            <a:ext cx="12192000" cy="6331974"/>
            <a:chOff x="480058" y="923544"/>
            <a:chExt cx="8275565" cy="5498078"/>
          </a:xfrm>
        </p:grpSpPr>
        <p:pic>
          <p:nvPicPr>
            <p:cNvPr id="6" name="object 4">
              <a:extLst>
                <a:ext uri="{FF2B5EF4-FFF2-40B4-BE49-F238E27FC236}">
                  <a16:creationId xmlns:a16="http://schemas.microsoft.com/office/drawing/2014/main" id="{B012FF26-84D9-CEC2-86AC-BF052E140805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34977" y="1186199"/>
              <a:ext cx="2792277" cy="2953717"/>
            </a:xfrm>
            <a:prstGeom prst="rect">
              <a:avLst/>
            </a:prstGeom>
          </p:spPr>
        </p:pic>
        <p:sp>
          <p:nvSpPr>
            <p:cNvPr id="7" name="object 5">
              <a:extLst>
                <a:ext uri="{FF2B5EF4-FFF2-40B4-BE49-F238E27FC236}">
                  <a16:creationId xmlns:a16="http://schemas.microsoft.com/office/drawing/2014/main" id="{55F9F529-E500-8E7D-18E7-4EB9C21EDFC6}"/>
                </a:ext>
              </a:extLst>
            </p:cNvPr>
            <p:cNvSpPr/>
            <p:nvPr/>
          </p:nvSpPr>
          <p:spPr>
            <a:xfrm>
              <a:off x="480059" y="3986631"/>
              <a:ext cx="5897880" cy="254000"/>
            </a:xfrm>
            <a:custGeom>
              <a:avLst/>
              <a:gdLst/>
              <a:ahLst/>
              <a:cxnLst/>
              <a:rect l="l" t="t" r="r" b="b"/>
              <a:pathLst>
                <a:path w="5897880" h="254000">
                  <a:moveTo>
                    <a:pt x="5897880" y="0"/>
                  </a:moveTo>
                  <a:lnTo>
                    <a:pt x="0" y="0"/>
                  </a:lnTo>
                  <a:lnTo>
                    <a:pt x="0" y="253898"/>
                  </a:lnTo>
                  <a:lnTo>
                    <a:pt x="5897880" y="253898"/>
                  </a:lnTo>
                  <a:lnTo>
                    <a:pt x="5897880" y="0"/>
                  </a:lnTo>
                  <a:close/>
                </a:path>
              </a:pathLst>
            </a:custGeom>
            <a:solidFill>
              <a:srgbClr val="348E9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6">
              <a:extLst>
                <a:ext uri="{FF2B5EF4-FFF2-40B4-BE49-F238E27FC236}">
                  <a16:creationId xmlns:a16="http://schemas.microsoft.com/office/drawing/2014/main" id="{5CA3D1FA-2357-C425-F306-ADF9769C766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0059" y="4005884"/>
              <a:ext cx="1044511" cy="235407"/>
            </a:xfrm>
            <a:prstGeom prst="rect">
              <a:avLst/>
            </a:prstGeom>
          </p:spPr>
        </p:pic>
        <p:pic>
          <p:nvPicPr>
            <p:cNvPr id="9" name="object 7">
              <a:extLst>
                <a:ext uri="{FF2B5EF4-FFF2-40B4-BE49-F238E27FC236}">
                  <a16:creationId xmlns:a16="http://schemas.microsoft.com/office/drawing/2014/main" id="{89A614C9-7442-D716-EAF9-506E61282D24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0058" y="923544"/>
              <a:ext cx="8275565" cy="5498078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1E906472-3A56-2228-D902-6B1E0D3944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999" cy="6329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630076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D9E1419-B772-37AD-2606-7C02F9C68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9C1F74DD-AD94-63C9-2F18-3810CE31FA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FDF26FE-7E94-921D-5204-1CDB0347B99A}"/>
              </a:ext>
            </a:extLst>
          </p:cNvPr>
          <p:cNvSpPr txBox="1"/>
          <p:nvPr/>
        </p:nvSpPr>
        <p:spPr>
          <a:xfrm>
            <a:off x="575187" y="0"/>
            <a:ext cx="11041625" cy="6463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9pPr>
          </a:lstStyle>
          <a:p>
            <a:r>
              <a:rPr lang="en-IN" dirty="0"/>
              <a:t>SALES TRENDS, PATTERNS &amp; SEASONALITY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F0ECCC-2C0F-27A7-E7F2-83CC0AF780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87" y="820620"/>
            <a:ext cx="11041625" cy="533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824632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CA82385-15E7-9474-1C3D-B3F52FEEF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70760B9B-9996-3C28-930D-997F15FC6B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8103C1A-288A-11A7-EC6F-7E25F50C5AA3}"/>
              </a:ext>
            </a:extLst>
          </p:cNvPr>
          <p:cNvSpPr txBox="1"/>
          <p:nvPr/>
        </p:nvSpPr>
        <p:spPr>
          <a:xfrm>
            <a:off x="575187" y="0"/>
            <a:ext cx="11041625" cy="6463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9pPr>
          </a:lstStyle>
          <a:p>
            <a:r>
              <a:rPr lang="en-IN" dirty="0"/>
              <a:t>SALES TRENDS, PATTERNS &amp; SEASONALITY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EFA19F-16E3-09B9-021E-8E26AD5CEF60}"/>
              </a:ext>
            </a:extLst>
          </p:cNvPr>
          <p:cNvSpPr txBox="1"/>
          <p:nvPr/>
        </p:nvSpPr>
        <p:spPr>
          <a:xfrm>
            <a:off x="1246238" y="2163097"/>
            <a:ext cx="969952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libri"/>
                <a:cs typeface="Calibri"/>
              </a:rPr>
              <a:t>Trend:</a:t>
            </a:r>
            <a:r>
              <a:rPr lang="en-US" sz="2000" b="1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upward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trend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suggests</a:t>
            </a:r>
            <a:r>
              <a:rPr lang="en-US" sz="2000" spc="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that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business</a:t>
            </a:r>
            <a:r>
              <a:rPr lang="en-US" sz="2000" spc="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is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growing</a:t>
            </a:r>
            <a:r>
              <a:rPr lang="en-US" sz="2000" spc="-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or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expanding</a:t>
            </a:r>
            <a:endParaRPr lang="en-US" sz="2000" dirty="0">
              <a:latin typeface="Calibri"/>
              <a:cs typeface="Calibri"/>
            </a:endParaRPr>
          </a:p>
          <a:p>
            <a:endParaRPr lang="en-IN" sz="2000" dirty="0"/>
          </a:p>
          <a:p>
            <a:r>
              <a:rPr lang="en-US" sz="2000" b="1" dirty="0">
                <a:latin typeface="Calibri"/>
                <a:cs typeface="Calibri"/>
              </a:rPr>
              <a:t>Seasonality: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recurring</a:t>
            </a:r>
            <a:r>
              <a:rPr lang="en-US" sz="2000" spc="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peaks</a:t>
            </a:r>
            <a:r>
              <a:rPr lang="en-US" sz="2000" spc="-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troughs</a:t>
            </a:r>
            <a:r>
              <a:rPr lang="en-US" sz="2000" spc="-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suggest</a:t>
            </a:r>
            <a:r>
              <a:rPr lang="en-US" sz="2000" spc="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that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there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are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factors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influencing</a:t>
            </a:r>
            <a:r>
              <a:rPr lang="en-US" sz="2000" spc="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sales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that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are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cyclical</a:t>
            </a:r>
            <a:r>
              <a:rPr lang="en-US" sz="2000" spc="-1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or</a:t>
            </a:r>
            <a:r>
              <a:rPr lang="en-US" sz="2000" spc="50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seasonal.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These</a:t>
            </a:r>
            <a:r>
              <a:rPr lang="en-US" sz="2000" spc="-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could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be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related to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factors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like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holidays,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weather,</a:t>
            </a:r>
            <a:r>
              <a:rPr lang="en-US" sz="2000" spc="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or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economic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conditions</a:t>
            </a:r>
            <a:endParaRPr lang="en-US" sz="2000" dirty="0">
              <a:latin typeface="Calibri"/>
              <a:cs typeface="Calibri"/>
            </a:endParaRPr>
          </a:p>
          <a:p>
            <a:endParaRPr lang="en-IN" sz="2000" dirty="0"/>
          </a:p>
          <a:p>
            <a:r>
              <a:rPr lang="en-US" sz="2000" b="1" spc="-10" dirty="0">
                <a:latin typeface="Calibri"/>
                <a:cs typeface="Calibri"/>
              </a:rPr>
              <a:t>Correlation:</a:t>
            </a:r>
            <a:r>
              <a:rPr lang="en-US" sz="2000" b="1" spc="-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“Percentage</a:t>
            </a:r>
            <a:r>
              <a:rPr lang="en-US" sz="2000" spc="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contribution”</a:t>
            </a:r>
            <a:r>
              <a:rPr lang="en-US" sz="2000" spc="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line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seems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follow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same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seasonal pattern as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“Total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Sales”</a:t>
            </a:r>
            <a:r>
              <a:rPr lang="en-US" sz="2000" spc="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line , </a:t>
            </a:r>
            <a:r>
              <a:rPr lang="en-US" sz="2000" dirty="0">
                <a:latin typeface="Calibri"/>
                <a:cs typeface="Calibri"/>
              </a:rPr>
              <a:t>indicating</a:t>
            </a:r>
            <a:r>
              <a:rPr lang="en-US" sz="2000" spc="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that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percentage</a:t>
            </a:r>
            <a:r>
              <a:rPr lang="en-US" sz="2000" spc="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is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influenced</a:t>
            </a:r>
            <a:r>
              <a:rPr lang="en-US" sz="2000" spc="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by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overall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sales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volume.</a:t>
            </a:r>
            <a:endParaRPr lang="en-US" sz="2000" dirty="0">
              <a:latin typeface="Calibri"/>
              <a:cs typeface="Calibri"/>
            </a:endParaRP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DCC271-0313-41B3-80BC-62B23E8F051C}"/>
              </a:ext>
            </a:extLst>
          </p:cNvPr>
          <p:cNvSpPr txBox="1"/>
          <p:nvPr/>
        </p:nvSpPr>
        <p:spPr>
          <a:xfrm>
            <a:off x="4213121" y="1123439"/>
            <a:ext cx="37657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spc="-10" dirty="0">
                <a:latin typeface="Calibri"/>
                <a:cs typeface="Calibri"/>
              </a:rPr>
              <a:t>Observations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245507300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C9B6110-EAC2-A923-694A-FAAACDC97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E8A6492F-5C7F-0958-20F6-4BAB2D7687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CE7FB6E-4FD2-4887-7591-6904D9E9D417}"/>
              </a:ext>
            </a:extLst>
          </p:cNvPr>
          <p:cNvSpPr txBox="1"/>
          <p:nvPr/>
        </p:nvSpPr>
        <p:spPr>
          <a:xfrm>
            <a:off x="575187" y="0"/>
            <a:ext cx="11041625" cy="6463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9pPr>
          </a:lstStyle>
          <a:p>
            <a:r>
              <a:rPr lang="en-IN" dirty="0"/>
              <a:t>SALES TRENDS, PATTERNS &amp; SEASONALITY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A2DAAF-A7A6-2461-0D59-DDC51AF0C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87" y="810481"/>
            <a:ext cx="11041625" cy="536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154208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C8F5FAE-94BA-D620-DA21-DBBA16442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E482EEBF-1217-AE2B-EB71-843F87F5E2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F9703D9-8BCD-FF38-4DFD-3ABF6F1DDFBE}"/>
              </a:ext>
            </a:extLst>
          </p:cNvPr>
          <p:cNvSpPr txBox="1"/>
          <p:nvPr/>
        </p:nvSpPr>
        <p:spPr>
          <a:xfrm>
            <a:off x="575187" y="0"/>
            <a:ext cx="11041625" cy="6463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9pPr>
          </a:lstStyle>
          <a:p>
            <a:r>
              <a:rPr lang="en-IN" dirty="0"/>
              <a:t>SALES TRENDS, PATTERNS &amp; SEASONALITY</a:t>
            </a:r>
          </a:p>
        </p:txBody>
      </p:sp>
      <p:pic>
        <p:nvPicPr>
          <p:cNvPr id="3" name="Picture 2" descr="A graph with numbers and a line&#10;&#10;AI-generated content may be incorrect.">
            <a:extLst>
              <a:ext uri="{FF2B5EF4-FFF2-40B4-BE49-F238E27FC236}">
                <a16:creationId xmlns:a16="http://schemas.microsoft.com/office/drawing/2014/main" id="{DCFB4BC4-44DD-B6EB-C6BB-A60889ECD9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1750" y="830455"/>
            <a:ext cx="6535062" cy="5334744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99E36F1-C060-C85E-7747-E11DC04AF4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4224803"/>
              </p:ext>
            </p:extLst>
          </p:nvPr>
        </p:nvGraphicFramePr>
        <p:xfrm>
          <a:off x="575187" y="1142452"/>
          <a:ext cx="4370439" cy="3665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56813">
                  <a:extLst>
                    <a:ext uri="{9D8B030D-6E8A-4147-A177-3AD203B41FA5}">
                      <a16:colId xmlns:a16="http://schemas.microsoft.com/office/drawing/2014/main" val="709491895"/>
                    </a:ext>
                  </a:extLst>
                </a:gridCol>
                <a:gridCol w="1456813">
                  <a:extLst>
                    <a:ext uri="{9D8B030D-6E8A-4147-A177-3AD203B41FA5}">
                      <a16:colId xmlns:a16="http://schemas.microsoft.com/office/drawing/2014/main" val="3330976717"/>
                    </a:ext>
                  </a:extLst>
                </a:gridCol>
                <a:gridCol w="1456813">
                  <a:extLst>
                    <a:ext uri="{9D8B030D-6E8A-4147-A177-3AD203B41FA5}">
                      <a16:colId xmlns:a16="http://schemas.microsoft.com/office/drawing/2014/main" val="825637277"/>
                    </a:ext>
                  </a:extLst>
                </a:gridCol>
              </a:tblGrid>
              <a:tr h="458190">
                <a:tc>
                  <a:txBody>
                    <a:bodyPr/>
                    <a:lstStyle/>
                    <a:p>
                      <a:pPr algn="ctr"/>
                      <a:r>
                        <a:rPr lang="en-IN" sz="1867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Week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67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Type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67" b="1" i="0" u="none" strike="noStrike" cap="none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Total Sales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3851424"/>
                  </a:ext>
                </a:extLst>
              </a:tr>
              <a:tr h="45819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Sunday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Weekend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2974K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1414488"/>
                  </a:ext>
                </a:extLst>
              </a:tr>
              <a:tr h="45819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Monday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Weekday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2884K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5418999"/>
                  </a:ext>
                </a:extLst>
              </a:tr>
              <a:tr h="45819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Tuesday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Weekday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2997K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428814"/>
                  </a:ext>
                </a:extLst>
              </a:tr>
              <a:tr h="45819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Wednesday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Weekday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4458K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8195890"/>
                  </a:ext>
                </a:extLst>
              </a:tr>
              <a:tr h="45819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Thursday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Weekday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2538K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4655655"/>
                  </a:ext>
                </a:extLst>
              </a:tr>
              <a:tr h="45819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Friday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Weekday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74K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5637753"/>
                  </a:ext>
                </a:extLst>
              </a:tr>
              <a:tr h="458190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Saturday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Weekend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dirty="0"/>
                        <a:t>428K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3889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4895385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01F0F1D-7BE8-E7B7-7231-D77C62E31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with a line and orange line&#10;&#10;AI-generated content may be incorrect.">
            <a:extLst>
              <a:ext uri="{FF2B5EF4-FFF2-40B4-BE49-F238E27FC236}">
                <a16:creationId xmlns:a16="http://schemas.microsoft.com/office/drawing/2014/main" id="{F7576C42-E477-9565-4491-D774FF649D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/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AB27EB5-E269-B7A9-54D9-7422D80806E3}"/>
              </a:ext>
            </a:extLst>
          </p:cNvPr>
          <p:cNvSpPr txBox="1"/>
          <p:nvPr/>
        </p:nvSpPr>
        <p:spPr>
          <a:xfrm>
            <a:off x="575187" y="0"/>
            <a:ext cx="11041625" cy="6463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bg1"/>
                </a:solidFill>
                <a:ea typeface="PT Sans Narrow"/>
                <a:cs typeface="PT Sans Narrow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</a:defRPr>
            </a:lvl9pPr>
          </a:lstStyle>
          <a:p>
            <a:r>
              <a:rPr lang="en-IN" dirty="0"/>
              <a:t>CATEGORY PENETRATION ANALYSIS</a:t>
            </a:r>
          </a:p>
        </p:txBody>
      </p:sp>
    </p:spTree>
    <p:extLst>
      <p:ext uri="{BB962C8B-B14F-4D97-AF65-F5344CB8AC3E}">
        <p14:creationId xmlns:p14="http://schemas.microsoft.com/office/powerpoint/2010/main" val="841803610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46"/>
          <p:cNvSpPr txBox="1">
            <a:spLocks noGrp="1"/>
          </p:cNvSpPr>
          <p:nvPr>
            <p:ph type="subTitle" idx="1"/>
          </p:nvPr>
        </p:nvSpPr>
        <p:spPr>
          <a:xfrm>
            <a:off x="2849000" y="2488624"/>
            <a:ext cx="64940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 fontScale="92500" lnSpcReduction="10000"/>
          </a:bodyPr>
          <a:lstStyle/>
          <a:p>
            <a:pPr marL="609585" indent="-457189"/>
            <a:r>
              <a:rPr lang="en-US" sz="6400" b="1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656772840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ayscale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DDDDDD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ppt/theme/themeOverride2.xml><?xml version="1.0" encoding="utf-8"?>
<a:themeOverride xmlns:a="http://schemas.openxmlformats.org/drawingml/2006/main">
  <a:clrScheme name="Grayscale">
    <a:dk1>
      <a:sysClr val="windowText" lastClr="000000"/>
    </a:dk1>
    <a:lt1>
      <a:sysClr val="window" lastClr="FFFFFF"/>
    </a:lt1>
    <a:dk2>
      <a:srgbClr val="000000"/>
    </a:dk2>
    <a:lt2>
      <a:srgbClr val="F8F8F8"/>
    </a:lt2>
    <a:accent1>
      <a:srgbClr val="DDDDDD"/>
    </a:accent1>
    <a:accent2>
      <a:srgbClr val="B2B2B2"/>
    </a:accent2>
    <a:accent3>
      <a:srgbClr val="969696"/>
    </a:accent3>
    <a:accent4>
      <a:srgbClr val="808080"/>
    </a:accent4>
    <a:accent5>
      <a:srgbClr val="5F5F5F"/>
    </a:accent5>
    <a:accent6>
      <a:srgbClr val="4D4D4D"/>
    </a:accent6>
    <a:hlink>
      <a:srgbClr val="5F5F5F"/>
    </a:hlink>
    <a:folHlink>
      <a:srgbClr val="919191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16509</TotalTime>
  <Words>8126</Words>
  <Application>Microsoft Office PowerPoint</Application>
  <PresentationFormat>Widescreen</PresentationFormat>
  <Paragraphs>1810</Paragraphs>
  <Slides>133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133</vt:i4>
      </vt:variant>
    </vt:vector>
  </HeadingPairs>
  <TitlesOfParts>
    <vt:vector size="144" baseType="lpstr">
      <vt:lpstr>Arial</vt:lpstr>
      <vt:lpstr>Calibri</vt:lpstr>
      <vt:lpstr>Courier New</vt:lpstr>
      <vt:lpstr>Google Sans Text</vt:lpstr>
      <vt:lpstr>Open Sans</vt:lpstr>
      <vt:lpstr>PT Sans Narrow</vt:lpstr>
      <vt:lpstr>Raleway</vt:lpstr>
      <vt:lpstr>Times New Roman</vt:lpstr>
      <vt:lpstr>Trebuchet MS</vt:lpstr>
      <vt:lpstr>Wingdings</vt:lpstr>
      <vt:lpstr>Tropic</vt:lpstr>
      <vt:lpstr>PowerPoint Presentation</vt:lpstr>
      <vt:lpstr>Retail Industry Overview</vt:lpstr>
      <vt:lpstr>Business Context</vt:lpstr>
      <vt:lpstr>Problem Statement</vt:lpstr>
      <vt:lpstr>Project Objective</vt:lpstr>
      <vt:lpstr>System and tools</vt:lpstr>
      <vt:lpstr>Technology Stack</vt:lpstr>
      <vt:lpstr>Available Data Table</vt:lpstr>
      <vt:lpstr>PowerPoint Presentation</vt:lpstr>
      <vt:lpstr>Tables Detail  (Part-01)</vt:lpstr>
      <vt:lpstr>Tables Detail  (Part-02)</vt:lpstr>
      <vt:lpstr>Relationship Diagram</vt:lpstr>
      <vt:lpstr>PowerPoint Presentation</vt:lpstr>
      <vt:lpstr>PowerPoint Presentation</vt:lpstr>
      <vt:lpstr>Data Quality Issues (Part 01)</vt:lpstr>
      <vt:lpstr>Data Quality Issues (Part 02)</vt:lpstr>
      <vt:lpstr>PowerPoint Presentation</vt:lpstr>
      <vt:lpstr>Data Quality Issues In Store-Info</vt:lpstr>
      <vt:lpstr>PowerPoint Presentation</vt:lpstr>
      <vt:lpstr>Data Quality Issues In Order-payments</vt:lpstr>
      <vt:lpstr>PowerPoint Presentation</vt:lpstr>
      <vt:lpstr>Data Quality Issues In Order-Review-Rating</vt:lpstr>
      <vt:lpstr>PowerPoint Presentation</vt:lpstr>
      <vt:lpstr>Orders Data Quality Issues (Part 01)</vt:lpstr>
      <vt:lpstr>Orders Data Quality Issues (Part 02)</vt:lpstr>
      <vt:lpstr>Orders Data Quality Issues (Part 03)</vt:lpstr>
      <vt:lpstr>Data Quality Issues (Part 04)</vt:lpstr>
      <vt:lpstr>Data Cleaning Guidelines</vt:lpstr>
      <vt:lpstr>PowerPoint Presentation</vt:lpstr>
      <vt:lpstr>Observations for the 360 Store Table</vt:lpstr>
      <vt:lpstr>Detail About Store 360</vt:lpstr>
      <vt:lpstr>PowerPoint Presentation</vt:lpstr>
      <vt:lpstr>Observations 360 Customer Table</vt:lpstr>
      <vt:lpstr>Detail About Customer 360 (1/2)</vt:lpstr>
      <vt:lpstr>Detail About Customer 360(2/2)</vt:lpstr>
      <vt:lpstr>PowerPoint Presentation</vt:lpstr>
      <vt:lpstr>Observations 360 Orders Table</vt:lpstr>
      <vt:lpstr>Detail About Orders 360 (1/2)</vt:lpstr>
      <vt:lpstr>Detail About Orders 360 (2/2)</vt:lpstr>
      <vt:lpstr>PowerPoint Presentation</vt:lpstr>
      <vt:lpstr>Order 360 Data Quality Final Summary (1/9)</vt:lpstr>
      <vt:lpstr>360° Data Quality Final Summary (2/9)</vt:lpstr>
      <vt:lpstr>360° Data Quality Final Summary (3/9)</vt:lpstr>
      <vt:lpstr>360° Data Quality Final Summary (4/9)</vt:lpstr>
      <vt:lpstr>360° Data Quality Final Summary (5/9)</vt:lpstr>
      <vt:lpstr>360° Data Quality Final Summary (6/9)</vt:lpstr>
      <vt:lpstr>360° Data Quality Final Summary (7/9)</vt:lpstr>
      <vt:lpstr>360° Data Quality Final Summary (8/9)</vt:lpstr>
      <vt:lpstr>360° Data Quality Final Summary (8/9)</vt:lpstr>
      <vt:lpstr>PowerPoint Presentation</vt:lpstr>
      <vt:lpstr>360° Data Quality Final Summary (1/3)</vt:lpstr>
      <vt:lpstr>360° Data Quality Final Summary (2/3)</vt:lpstr>
      <vt:lpstr>360° Data Quality Final Summary (3/3)</vt:lpstr>
      <vt:lpstr>PowerPoint Presentation</vt:lpstr>
      <vt:lpstr>360° Data Quality Final Summary (3/3)</vt:lpstr>
      <vt:lpstr>360° Data Quality Final Summary (3/3)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saurabh  bisht</dc:creator>
  <cp:lastModifiedBy>saurabh bisht</cp:lastModifiedBy>
  <cp:revision>122</cp:revision>
  <dcterms:created xsi:type="dcterms:W3CDTF">2025-04-04T02:52:34Z</dcterms:created>
  <dcterms:modified xsi:type="dcterms:W3CDTF">2025-11-13T08:02:08Z</dcterms:modified>
</cp:coreProperties>
</file>